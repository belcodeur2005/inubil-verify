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76" r:id="rId4"/>
    <p:sldId id="258" r:id="rId5"/>
    <p:sldId id="277" r:id="rId6"/>
    <p:sldId id="259" r:id="rId7"/>
    <p:sldId id="260" r:id="rId8"/>
    <p:sldId id="261" r:id="rId9"/>
    <p:sldId id="262" r:id="rId10"/>
    <p:sldId id="263" r:id="rId11"/>
    <p:sldId id="264" r:id="rId12"/>
    <p:sldId id="265" r:id="rId13"/>
    <p:sldId id="266" r:id="rId14"/>
    <p:sldId id="267" r:id="rId15"/>
    <p:sldId id="268" r:id="rId16"/>
    <p:sldId id="278" r:id="rId17"/>
    <p:sldId id="279" r:id="rId18"/>
    <p:sldId id="269" r:id="rId19"/>
    <p:sldId id="270" r:id="rId20"/>
    <p:sldId id="271" r:id="rId21"/>
    <p:sldId id="272" r:id="rId22"/>
    <p:sldId id="273" r:id="rId23"/>
    <p:sldId id="274" r:id="rId24"/>
    <p:sldId id="275" r:id="rId2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A84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649" autoAdjust="0"/>
  </p:normalViewPr>
  <p:slideViewPr>
    <p:cSldViewPr snapToGrid="0" snapToObjects="1">
      <p:cViewPr varScale="1">
        <p:scale>
          <a:sx n="57" d="100"/>
          <a:sy n="57" d="100"/>
        </p:scale>
        <p:origin x="107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98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Bonjour a tous. Je suis TCHENTCHEU JIAGAM FLANC BEL et voici NGANGUE TSAFACK BELVIE SCINDIE. Nous vous presentons INUBIL Verify, notre projet de fin d'etudes developpe pour ISTAMA INUBIL. INUBIL Verify est une plateforme web qui permet d'emettre des diplomes certifies sur la blockchain et de les verifier en quelques secondes, depuis n'importe ou dans le monde. Je vais vous presenter la partie backend et architecture, puis NGANGUE vous montrera le frontend lors de la demonstration.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Notre presentation se deroulera en 7 parties. Nous commencerons par le probleme concret que nous avons identifie au Cameroun, puis nous presenterons notre solution, l'architecture, les choix technologiques, les fonctionnalites cles, l'infrastructure de deploiement, et nous terminerons par une demonstration en direct et un bilan du projet. Comptez environ 25 a 30 minutes.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2AF65-8BB9-70C6-79EC-649DC0DBD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B0A21E-4C20-A583-CFC7-82F7B88C729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82180D-B297-AEAC-C368-29CC06B1C058}"/>
              </a:ext>
            </a:extLst>
          </p:cNvPr>
          <p:cNvSpPr>
            <a:spLocks noGrp="1"/>
          </p:cNvSpPr>
          <p:nvPr>
            <p:ph type="body" sz="quarter" idx="3"/>
          </p:nvPr>
        </p:nvSpPr>
        <p:spPr/>
        <p:txBody>
          <a:bodyPr/>
          <a:lstStyle/>
          <a:p>
            <a:r>
              <a:rPr dirty="0"/>
              <a:t>INUBIL, </a:t>
            </a:r>
            <a:r>
              <a:rPr dirty="0" err="1"/>
              <a:t>notre</a:t>
            </a:r>
            <a:r>
              <a:rPr dirty="0"/>
              <a:t> commanditaire, </a:t>
            </a:r>
            <a:r>
              <a:rPr dirty="0" err="1"/>
              <a:t>c'est</a:t>
            </a:r>
            <a:r>
              <a:rPr dirty="0"/>
              <a:t> </a:t>
            </a:r>
            <a:r>
              <a:rPr dirty="0" err="1"/>
              <a:t>l'Institut</a:t>
            </a:r>
            <a:r>
              <a:rPr dirty="0"/>
              <a:t> Universitaire Bilingue du Littoral. Cree </a:t>
            </a:r>
            <a:r>
              <a:rPr dirty="0" err="1"/>
              <a:t>en</a:t>
            </a:r>
            <a:r>
              <a:rPr dirty="0"/>
              <a:t> 2006 sous </a:t>
            </a:r>
            <a:r>
              <a:rPr dirty="0" err="1"/>
              <a:t>l'arrete</a:t>
            </a:r>
            <a:r>
              <a:rPr dirty="0"/>
              <a:t> </a:t>
            </a:r>
            <a:r>
              <a:rPr dirty="0" err="1"/>
              <a:t>ministeriel</a:t>
            </a:r>
            <a:r>
              <a:rPr dirty="0"/>
              <a:t> N 06/0119/MINESUP, </a:t>
            </a:r>
            <a:r>
              <a:rPr dirty="0" err="1"/>
              <a:t>anciennement</a:t>
            </a:r>
            <a:r>
              <a:rPr dirty="0"/>
              <a:t> </a:t>
            </a:r>
            <a:r>
              <a:rPr dirty="0" err="1"/>
              <a:t>connu</a:t>
            </a:r>
            <a:r>
              <a:rPr dirty="0"/>
              <a:t> sous le nom ISTAMA, INUBIL est </a:t>
            </a:r>
            <a:r>
              <a:rPr dirty="0" err="1"/>
              <a:t>situe</a:t>
            </a:r>
            <a:r>
              <a:rPr dirty="0"/>
              <a:t> a </a:t>
            </a:r>
            <a:r>
              <a:rPr dirty="0" err="1"/>
              <a:t>Bonamoussadi</a:t>
            </a:r>
            <a:r>
              <a:rPr dirty="0"/>
              <a:t>, a Douala. </a:t>
            </a:r>
            <a:r>
              <a:rPr dirty="0" err="1"/>
              <a:t>L'universite</a:t>
            </a:r>
            <a:r>
              <a:rPr dirty="0"/>
              <a:t> propose des </a:t>
            </a:r>
            <a:r>
              <a:rPr dirty="0" err="1"/>
              <a:t>filieres</a:t>
            </a:r>
            <a:r>
              <a:rPr dirty="0"/>
              <a:t> </a:t>
            </a:r>
            <a:r>
              <a:rPr dirty="0" err="1"/>
              <a:t>en</a:t>
            </a:r>
            <a:r>
              <a:rPr dirty="0"/>
              <a:t> genie </a:t>
            </a:r>
            <a:r>
              <a:rPr dirty="0" err="1"/>
              <a:t>informatique</a:t>
            </a:r>
            <a:r>
              <a:rPr dirty="0"/>
              <a:t>, genie civil, telecommunications, genie </a:t>
            </a:r>
            <a:r>
              <a:rPr dirty="0" err="1"/>
              <a:t>industriel</a:t>
            </a:r>
            <a:r>
              <a:rPr dirty="0"/>
              <a:t> et genie </a:t>
            </a:r>
            <a:r>
              <a:rPr dirty="0" err="1"/>
              <a:t>mecanique</a:t>
            </a:r>
            <a:r>
              <a:rPr dirty="0"/>
              <a:t>. </a:t>
            </a:r>
            <a:r>
              <a:rPr dirty="0" err="1"/>
              <a:t>C'est</a:t>
            </a:r>
            <a:r>
              <a:rPr dirty="0"/>
              <a:t> dans </a:t>
            </a:r>
            <a:r>
              <a:rPr dirty="0" err="1"/>
              <a:t>ce</a:t>
            </a:r>
            <a:r>
              <a:rPr dirty="0"/>
              <a:t> </a:t>
            </a:r>
            <a:r>
              <a:rPr dirty="0" err="1"/>
              <a:t>contexte</a:t>
            </a:r>
            <a:r>
              <a:rPr dirty="0"/>
              <a:t> </a:t>
            </a:r>
            <a:r>
              <a:rPr dirty="0" err="1"/>
              <a:t>que</a:t>
            </a:r>
            <a:r>
              <a:rPr dirty="0"/>
              <a:t> le </a:t>
            </a:r>
            <a:r>
              <a:rPr dirty="0" err="1"/>
              <a:t>projet</a:t>
            </a:r>
            <a:r>
              <a:rPr dirty="0"/>
              <a:t> INUBIL Verify a </a:t>
            </a:r>
            <a:r>
              <a:rPr dirty="0" err="1"/>
              <a:t>ete</a:t>
            </a:r>
            <a:r>
              <a:rPr dirty="0"/>
              <a:t> </a:t>
            </a:r>
            <a:r>
              <a:rPr dirty="0" err="1"/>
              <a:t>commande</a:t>
            </a:r>
            <a:r>
              <a:rPr dirty="0"/>
              <a:t> : INUBIL </a:t>
            </a:r>
            <a:r>
              <a:rPr dirty="0" err="1"/>
              <a:t>avait</a:t>
            </a:r>
            <a:r>
              <a:rPr dirty="0"/>
              <a:t> </a:t>
            </a:r>
            <a:r>
              <a:rPr dirty="0" err="1"/>
              <a:t>besoin</a:t>
            </a:r>
            <a:r>
              <a:rPr dirty="0"/>
              <a:t> </a:t>
            </a:r>
            <a:r>
              <a:rPr dirty="0" err="1"/>
              <a:t>d'une</a:t>
            </a:r>
            <a:r>
              <a:rPr dirty="0"/>
              <a:t> solution </a:t>
            </a:r>
            <a:r>
              <a:rPr dirty="0" err="1"/>
              <a:t>moderne</a:t>
            </a:r>
            <a:r>
              <a:rPr dirty="0"/>
              <a:t> pour </a:t>
            </a:r>
            <a:r>
              <a:rPr dirty="0" err="1"/>
              <a:t>emettre</a:t>
            </a:r>
            <a:r>
              <a:rPr dirty="0"/>
              <a:t> et certifier </a:t>
            </a:r>
            <a:r>
              <a:rPr dirty="0" err="1"/>
              <a:t>ses</a:t>
            </a:r>
            <a:r>
              <a:rPr dirty="0"/>
              <a:t> </a:t>
            </a:r>
            <a:r>
              <a:rPr dirty="0" err="1"/>
              <a:t>diplomes</a:t>
            </a:r>
            <a:r>
              <a:rPr dirty="0"/>
              <a:t> de </a:t>
            </a:r>
            <a:r>
              <a:rPr dirty="0" err="1"/>
              <a:t>facon</a:t>
            </a:r>
            <a:r>
              <a:rPr dirty="0"/>
              <a:t> </a:t>
            </a:r>
            <a:r>
              <a:rPr dirty="0" err="1"/>
              <a:t>securisee</a:t>
            </a:r>
            <a:r>
              <a:rPr dirty="0"/>
              <a:t> et verifiable par </a:t>
            </a:r>
            <a:r>
              <a:rPr dirty="0" err="1"/>
              <a:t>n'importe</a:t>
            </a:r>
            <a:r>
              <a:rPr dirty="0"/>
              <a:t> quelle institution dans le monde. Nous </a:t>
            </a:r>
            <a:r>
              <a:rPr dirty="0" err="1"/>
              <a:t>sommes</a:t>
            </a:r>
            <a:r>
              <a:rPr dirty="0"/>
              <a:t> </a:t>
            </a:r>
            <a:r>
              <a:rPr dirty="0" err="1"/>
              <a:t>donc</a:t>
            </a:r>
            <a:r>
              <a:rPr dirty="0"/>
              <a:t> a la </a:t>
            </a:r>
            <a:r>
              <a:rPr dirty="0" err="1"/>
              <a:t>fois</a:t>
            </a:r>
            <a:r>
              <a:rPr dirty="0"/>
              <a:t> les </a:t>
            </a:r>
            <a:r>
              <a:rPr dirty="0" err="1"/>
              <a:t>developpeurs</a:t>
            </a:r>
            <a:r>
              <a:rPr dirty="0"/>
              <a:t> du </a:t>
            </a:r>
            <a:r>
              <a:rPr dirty="0" err="1"/>
              <a:t>projet</a:t>
            </a:r>
            <a:r>
              <a:rPr dirty="0"/>
              <a:t> et les </a:t>
            </a:r>
            <a:r>
              <a:rPr dirty="0" err="1"/>
              <a:t>etudiants</a:t>
            </a:r>
            <a:r>
              <a:rPr dirty="0"/>
              <a:t> de </a:t>
            </a:r>
            <a:r>
              <a:rPr dirty="0" err="1"/>
              <a:t>l'etablissement</a:t>
            </a:r>
            <a:r>
              <a:rPr dirty="0"/>
              <a:t> commanditaire, </a:t>
            </a:r>
            <a:r>
              <a:rPr dirty="0" err="1"/>
              <a:t>ce</a:t>
            </a:r>
            <a:r>
              <a:rPr dirty="0"/>
              <a:t> qui nous a </a:t>
            </a:r>
            <a:r>
              <a:rPr dirty="0" err="1"/>
              <a:t>donne</a:t>
            </a:r>
            <a:r>
              <a:rPr dirty="0"/>
              <a:t> un </a:t>
            </a:r>
            <a:r>
              <a:rPr dirty="0" err="1"/>
              <a:t>acces</a:t>
            </a:r>
            <a:r>
              <a:rPr dirty="0"/>
              <a:t> direct aux </a:t>
            </a:r>
            <a:r>
              <a:rPr dirty="0" err="1"/>
              <a:t>besoins</a:t>
            </a:r>
            <a:r>
              <a:rPr dirty="0"/>
              <a:t> reels du terrain.</a:t>
            </a:r>
          </a:p>
        </p:txBody>
      </p:sp>
      <p:sp>
        <p:nvSpPr>
          <p:cNvPr id="4" name="Slide Number Placeholder 3">
            <a:extLst>
              <a:ext uri="{FF2B5EF4-FFF2-40B4-BE49-F238E27FC236}">
                <a16:creationId xmlns:a16="http://schemas.microsoft.com/office/drawing/2014/main" id="{13683502-72C3-189D-ACEE-DB1B9D66C4E7}"/>
              </a:ext>
            </a:extLst>
          </p:cNvPr>
          <p:cNvSpPr>
            <a:spLocks noGrp="1"/>
          </p:cNvSpPr>
          <p:nvPr>
            <p:ph type="sldNum" sz="quarter" idx="5"/>
          </p:nvPr>
        </p:nvSpPr>
        <p:spPr/>
      </p:sp>
    </p:spTree>
    <p:extLst>
      <p:ext uri="{BB962C8B-B14F-4D97-AF65-F5344CB8AC3E}">
        <p14:creationId xmlns:p14="http://schemas.microsoft.com/office/powerpoint/2010/main" val="2852945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problematique est plus large que la simple fraude a l'embauche. La verification de diplome concerne de nombreux contextes : le recrutement, l'admission en master ou en doctorat, les bourses d'etudes, les demandes de visa, les ordres professionnels comme les medecins ou les ingenieurs, et les concours de la fonction publique. Dans tous ces cas, le probleme est le meme : le processus est manuel, lent, et sans tracabilite. On appelle le secretariat de l'universite — qui peut ne pas repondre. On envoie un courrier — qui prend plusieurs semaines. Et a la fin, on n'a aucune preuve horodatee de la verification effectuee.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7F3DE-7BD5-55AB-6080-4066583747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74D5BF-7720-96D0-DC53-1BD41CC2029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E930F2D-7FA2-1950-BFFE-4BD13664833A}"/>
              </a:ext>
            </a:extLst>
          </p:cNvPr>
          <p:cNvSpPr>
            <a:spLocks noGrp="1"/>
          </p:cNvSpPr>
          <p:nvPr>
            <p:ph type="body" sz="quarter" idx="3"/>
          </p:nvPr>
        </p:nvSpPr>
        <p:spPr/>
        <p:txBody>
          <a:bodyPr/>
          <a:lstStyle/>
          <a:p>
            <a:r>
              <a:t>Ces six objectifs sont la reponse directe aux problemes identifies a la slide precedente. Premier objectif : permettre une verification en temps reel. Aujourd'hui ca prend des semaines, demain ca doit prendre quelques secondes. Deuxieme et troisieme objectifs : l'emission et l'infalsifiabilite. Emettre un diplome numerique ne suffit pas - il faut garantir que personne ne peut le modifier apres emission. C'est exactement ce que la blockchain apporte : une empreinte immuable. Quatrieme objectif : l'acces autonome pour les etudiants. Ils doivent pouvoir telecharger et partager leur diplome sans passer par l'administration a chaque fois. Cinquieme objectif : un tableau de bord pour l'administration. La direction d'INUBIL a besoin de visibilite sur tous les diplomes emis, valides, rejetes ou revoques. Sixieme objectif, le plus souvent oublie : la perennite. Si nos serveurs tombent dans dix ans, la preuve doit rester. C'est le role de la blockchain - stocker cette preuve de facon permanente et independante de notre infrastructure.</a:t>
            </a:r>
            <a:endParaRPr dirty="0"/>
          </a:p>
        </p:txBody>
      </p:sp>
      <p:sp>
        <p:nvSpPr>
          <p:cNvPr id="4" name="Slide Number Placeholder 3">
            <a:extLst>
              <a:ext uri="{FF2B5EF4-FFF2-40B4-BE49-F238E27FC236}">
                <a16:creationId xmlns:a16="http://schemas.microsoft.com/office/drawing/2014/main" id="{A90480FC-1078-4A1D-3FD6-7B9226ABE3D3}"/>
              </a:ext>
            </a:extLst>
          </p:cNvPr>
          <p:cNvSpPr>
            <a:spLocks noGrp="1"/>
          </p:cNvSpPr>
          <p:nvPr>
            <p:ph type="sldNum" sz="quarter" idx="5"/>
          </p:nvPr>
        </p:nvSpPr>
        <p:spPr/>
      </p:sp>
    </p:spTree>
    <p:extLst>
      <p:ext uri="{BB962C8B-B14F-4D97-AF65-F5344CB8AC3E}">
        <p14:creationId xmlns:p14="http://schemas.microsoft.com/office/powerpoint/2010/main" val="5364086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Notre reponse a ce probleme est INUBIL Verify. L'idee centrale est simple : quand un diplome est valide par le directeur, son empreinte numerique est immediatement ancree sur la blockchain Polygon. A partir de ce moment, n'importe qui — recruteur, institution partenaire, ambassade — peut verifier son authenticite en quelques secondes, depuis n'importe ou, sans avoir besoin de contacter l'universite. La plateforme repose sur 3 piliers : une emission securisee avec separation des roles, une certification blockchain immuable, et une verification publique instantanee.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L'architecture repose sur 3 couches. Un frontend Angular pour les interfaces utilisateurs, qui n'est pas encore developpe. Un backend NestJS qui est le coeur du systeme — il gere toute la logique metier. Et 3 services externes : PostgreSQL pour les donnees, Cloudflare R2 pour les PDFs, et Polygon pour la blockchain. Tout est orchestre avec Docker Compose, ce qui garantit que l'environnement est identique en developpement et en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choix technologique a une raison precise. NestJS pour sa structure modulaire qui force la separation des responsabilites. PostgreSQL pour sa robustesse et ses garanties ACID. Polygon pour ses couts quasi-nuls par rapport a Ethereum mainnet. Cloudflare R2 pour le stockage des PDFs — gratuit jusqu'a 10 gigaoctets et compatible avec l'API AWS S3, ce qui rend la migration triviale en production. Et Docker pour que l'environnement soit identique du developpement a la production.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comment un diplome est emis dans INUBIL Verify. L'agent de saisie cree le dossier et uploade le PDF du diplome. Le systeme calcule automatiquement le hash SHA-256 du fichier — une empreinte numerique unique. Le directeur examine et valide le dossier. C'est ce moment qui declenche l'ancrage blockchain. La separation entre agent et directeur est un controle qualite voulu : aucune personne seule ne peut emettre un diplome sans verification. Si le meme PDF est uploade deux fois, le systeme le detecte et refuse.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securite est construite en 5 couches independantes, selon le principe de defense en profondeur. Si une couche est contournee, les suivantes protegent toujours. La couche la plus importante pour ce projet est la couche 4 : l'isolation multi-tenant. Chaque universite ne peut voir que ses propres donnees. Cette isolation est verifiee sur chaque requete, pas seulement au moment de la connexion. La couche 5 garantit que toutes les actions sont auditees : on sait qui a fait quoi et quand.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L'integration blockchain fonctionne de facon transparente pour l'utilisateur. Quand le directeur valide un diplome, le backend appelle notre contrat intelligent deploye sur Polygon. Ce contrat stocke le hash SHA-256 du diplome et l'identifiant de l'universite. Le pattern utilise est 'fire and forget' : l'API repond immediatement au directeur sans attendre la confirmation blockchain, qui arrive quelques secondes plus tard. Cette transaction est publique et immuable. Si la plateforme disparaissait demain, la preuve resterait sur la blockchain pour toujours.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verification est la fonctionnalite publique phare de la plateforme. Elle est accessible sans compte, sans inscription, sans friction. Le recruteur qui recoit un diplome a 3 options : scanner le QR code imprime sur le document, soumettre le hash SHA-256 s'il dispose d'un outil technique, ou simplement uploader le fichier PDF. Dans les 3 cas, le systeme calcule ou compare le hash et retourne un resultat immediatement. Si le diplome a ete revoqu e, le PDF n'est plus accessible — c'est une protection ajoutee.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backend est decompose en 12 modules qui correspondent aux 3 zones de l'application. La zone publique est accessible sans connexion — c'est la que se fait la verification de diplomes. La zone staff necessite une authentification avec les droits appropries. La zone admin est reservee aux super administrateurs qui gerent les universites elles-memes. Toute l'API est documentee de facon interactive sur Swagger OpenAPI. Le developpeur frontend peut tester chaque endpoint directement depuis le navigateur.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le stockage des fichiers PDF, nous avons fait un choix delibere : Cloudflare R2. En developpement et en phase initiale, R2 est parfait — gratuit jusqu'a 10 gigaoctets et sans aucun frais de sortie de donnees. Si le projet monte en charge et necessite l'ecosysteme AWS, la migration est triviale. Les deux services utilisent exactement la meme API S3 : il suffit de changer 3 variables d'environnement dans le fichier .env. Aucune ligne de code a modifier. C'est pourquoi nous appelons ca une decision de configuration.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Comment garantit-on la qualite ? D'abord par les tests automatiques : 60 tests qui verifient les comportements critiques du systeme. Mais surtout par les contraintes architecturales. Certaines erreurs sont rendues impossibles par conception : on ne peut pas creer deux fois le meme diplome, on ne peut pas valider sans PDF. Ces garanties ne dependent pas du comportement des utilisateurs. Elles sont enforced par le code.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7B38E-406F-976A-1217-4178D81616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87ABA-620A-5F4C-7FBE-0FC6E876E39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56F3B2D-B037-15AC-BC66-8C953DD43945}"/>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7F892AF9-B842-76BB-B2D4-E5D77A977F39}"/>
              </a:ext>
            </a:extLst>
          </p:cNvPr>
          <p:cNvSpPr>
            <a:spLocks noGrp="1"/>
          </p:cNvSpPr>
          <p:nvPr>
            <p:ph type="sldNum" sz="quarter" idx="5"/>
          </p:nvPr>
        </p:nvSpPr>
        <p:spPr/>
      </p:sp>
    </p:spTree>
    <p:extLst>
      <p:ext uri="{BB962C8B-B14F-4D97-AF65-F5344CB8AC3E}">
        <p14:creationId xmlns:p14="http://schemas.microsoft.com/office/powerpoint/2010/main" val="560253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536EE-FCAA-8A00-755D-C8FE4B827A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F57A8F-F5CF-3CB1-2FD1-AB2791F24B2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703A4DA-E5EF-FFA1-9F9C-F90D6194031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C772C8B-EF77-C46D-DC58-25F730BC8B6F}"/>
              </a:ext>
            </a:extLst>
          </p:cNvPr>
          <p:cNvSpPr>
            <a:spLocks noGrp="1"/>
          </p:cNvSpPr>
          <p:nvPr>
            <p:ph type="sldNum" sz="quarter" idx="5"/>
          </p:nvPr>
        </p:nvSpPr>
        <p:spPr/>
      </p:sp>
    </p:spTree>
    <p:extLst>
      <p:ext uri="{BB962C8B-B14F-4D97-AF65-F5344CB8AC3E}">
        <p14:creationId xmlns:p14="http://schemas.microsoft.com/office/powerpoint/2010/main" val="13121367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Passons a la demonstration. Nous allons parcourir le flux complet en 4 etapes. D'abord la connexion en tant qu'administrateur avec les identifiants du seed. Ensuite la creation d'un diplome pour un etudiant fictif. Puis la validation par le directeur apres upload du PDF — c'est ce moment qui declenche la blockchain. Et enfin la verification depuis la page publique en scannant le QR code genere. Ceci montre le systeme en condition reelle, de bout en bout.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la preuve concrete que la blockchain fonctionne. Cette transaction est reelle, elle est sur le reseau Polygon Amoy. Elle contient le hash SHA-256 d'un diplome de test. Cette preuve est publique, permanente, et ne peut pas etre modifiee. N'importe qui peut la verifier en cherchant l'adresse de notre contrat sur amoy.polygonscan.com. C'est la garantie ultime : meme si notre serveur tombe, la preuve reste sur la blockchain.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 vais vous citer les defis techniques les plus significatifs. Le plus inattendu a ete le probleme de cache Docker : ethers.js n'etait pas charge car un volume Docker conservait d'anciens node_modules sans la nouvelle dependance. La solution : forcer la recreation du volume avec --renew-anon-volumes. Un autre defi etait l'acces au reseau de test Polygon : les faucets classiques demandent des prerequisites. Nous avons trouve Triangle Platform qui n'en demande pas. Chaque obstacle nous a appris quelque chose sur l'integration de technologie blockchain en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termes de livrable, le backend est complet et fonctionnel. 50 endpoints documentes, 25 droits d'acces granulaires, 60 tests automatiques, une integration blockchain reelle sur Polygon. Le frontend Angular est la prochaine etape, en cours de developpement. 39 ecrans ont ete identifies et documentes pour guider NGANGUE TSAFACK BELVIE SCINDIE dans le developpement des interfaces utilisateurs.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prochaine etape immediate est le developpement du frontend Angular. Ensuite viendra le deploiement en production sur un VPS avec Nginx, SSL, et la migration du contrat vers le reseau principal Polygon. A plus long terme, nous prevoyons d'ajouter des notifications email — la configuration SMTP est deja en place — des exports de donnees pour l'administration, et une extension potentielle a d'autres universites partenaires d'INUBIL.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conclure, INUBIL Verify resout un probleme concret : la verification des diplomes au Cameroun est longue, couteuse et peu fiable. Notre solution est robuste, securisee, et basee sur une technologie immuable. Le backend est complet et livre aujourd'hui avec une infrastructure prete pour la production. Le frontend va permettre a l'equipe d'ISTAMA INUBIL de commencer a utiliser la plateforme et aux etudiants d'acceder a leurs diplomes certifies.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Merci de votre attention. Nous sommes disponibles pour repondre a vos questions sur n'importe quel aspect du projet. Vous pouvez nous interroger sur l'architecture, les choix technologiques, la securite, la blockchain, ou les prochaines etapes du developpement. La documentation Swagger est accessible en direct si vous souhaitez voir les endpoints. Nous avons egalement le code source disponible si vous voulez l'explorer.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image" Target="../media/image19.png"/><Relationship Id="rId12"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9.png"/><Relationship Id="rId10"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31.png"/><Relationship Id="rId10" Type="http://schemas.openxmlformats.org/officeDocument/2006/relationships/image" Target="../media/image35.jfif"/><Relationship Id="rId4" Type="http://schemas.openxmlformats.org/officeDocument/2006/relationships/image" Target="../media/image30.png"/><Relationship Id="rId9"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6.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9.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7.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24.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40.png"/><Relationship Id="rId4" Type="http://schemas.openxmlformats.org/officeDocument/2006/relationships/image" Target="../media/image24.pn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8.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3.jpg"/><Relationship Id="rId4" Type="http://schemas.openxmlformats.org/officeDocument/2006/relationships/image" Target="../media/image31.png"/><Relationship Id="rId9"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39.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5.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7.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6.png"/><Relationship Id="rId7"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8.png"/><Relationship Id="rId10"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10.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0" y="4754880"/>
            <a:ext cx="3776472" cy="21031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412480" y="4754880"/>
            <a:ext cx="3776472"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nubil-logo.png"/>
          <p:cNvPicPr>
            <a:picLocks noChangeAspect="1"/>
          </p:cNvPicPr>
          <p:nvPr/>
        </p:nvPicPr>
        <p:blipFill>
          <a:blip r:embed="rId3"/>
          <a:stretch>
            <a:fillRect/>
          </a:stretch>
        </p:blipFill>
        <p:spPr>
          <a:xfrm>
            <a:off x="502920" y="228600"/>
            <a:ext cx="2610629" cy="1371600"/>
          </a:xfrm>
          <a:prstGeom prst="rect">
            <a:avLst/>
          </a:prstGeom>
        </p:spPr>
      </p:pic>
      <p:sp>
        <p:nvSpPr>
          <p:cNvPr id="6" name="Rectangle 5"/>
          <p:cNvSpPr/>
          <p:nvPr/>
        </p:nvSpPr>
        <p:spPr>
          <a:xfrm>
            <a:off x="2331720" y="320040"/>
            <a:ext cx="36576" cy="10058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828800"/>
            <a:ext cx="4114800" cy="347472"/>
          </a:xfrm>
          <a:prstGeom prst="rect">
            <a:avLst/>
          </a:prstGeom>
          <a:solidFill>
            <a:srgbClr val="9A7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847088"/>
            <a:ext cx="3931920" cy="320040"/>
          </a:xfrm>
          <a:prstGeom prst="rect">
            <a:avLst/>
          </a:prstGeom>
          <a:noFill/>
        </p:spPr>
        <p:txBody>
          <a:bodyPr wrap="square">
            <a:spAutoFit/>
          </a:bodyPr>
          <a:lstStyle/>
          <a:p>
            <a:pPr algn="l"/>
            <a:r>
              <a:rPr sz="1000" b="1" i="0">
                <a:solidFill>
                  <a:srgbClr val="FFFFFF"/>
                </a:solidFill>
              </a:rPr>
              <a:t>SOUTENANCE DE FIN D'ETUDES  -  JUIN 2026</a:t>
            </a:r>
          </a:p>
        </p:txBody>
      </p:sp>
      <p:sp>
        <p:nvSpPr>
          <p:cNvPr id="10" name="TextBox 9"/>
          <p:cNvSpPr txBox="1"/>
          <p:nvPr/>
        </p:nvSpPr>
        <p:spPr>
          <a:xfrm>
            <a:off x="502920" y="2331720"/>
            <a:ext cx="10058400" cy="1051560"/>
          </a:xfrm>
          <a:prstGeom prst="rect">
            <a:avLst/>
          </a:prstGeom>
          <a:noFill/>
        </p:spPr>
        <p:txBody>
          <a:bodyPr wrap="square">
            <a:spAutoFit/>
          </a:bodyPr>
          <a:lstStyle/>
          <a:p>
            <a:pPr algn="l"/>
            <a:r>
              <a:rPr sz="5600" b="1" i="0">
                <a:solidFill>
                  <a:srgbClr val="C9A84C"/>
                </a:solidFill>
              </a:rPr>
              <a:t>INUBIL VERIFY</a:t>
            </a:r>
          </a:p>
        </p:txBody>
      </p:sp>
      <p:sp>
        <p:nvSpPr>
          <p:cNvPr id="11" name="TextBox 10"/>
          <p:cNvSpPr txBox="1"/>
          <p:nvPr/>
        </p:nvSpPr>
        <p:spPr>
          <a:xfrm>
            <a:off x="502920" y="3429000"/>
            <a:ext cx="8229600" cy="1005840"/>
          </a:xfrm>
          <a:prstGeom prst="rect">
            <a:avLst/>
          </a:prstGeom>
          <a:noFill/>
        </p:spPr>
        <p:txBody>
          <a:bodyPr wrap="square">
            <a:spAutoFit/>
          </a:bodyPr>
          <a:lstStyle/>
          <a:p>
            <a:pPr algn="l"/>
            <a:r>
              <a:rPr sz="2100" b="0" i="0">
                <a:solidFill>
                  <a:srgbClr val="FFFFFF"/>
                </a:solidFill>
              </a:rPr>
              <a:t>Plateforme Blockchain de Certification
et d'Authentification de Diplomes</a:t>
            </a:r>
          </a:p>
        </p:txBody>
      </p:sp>
      <p:sp>
        <p:nvSpPr>
          <p:cNvPr id="12" name="Rectangle 11"/>
          <p:cNvSpPr/>
          <p:nvPr/>
        </p:nvSpPr>
        <p:spPr>
          <a:xfrm>
            <a:off x="502920" y="4526280"/>
            <a:ext cx="1133856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4663440"/>
            <a:ext cx="5394960" cy="1143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4663440"/>
            <a:ext cx="54864" cy="1143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4736592"/>
            <a:ext cx="5120640" cy="384048"/>
          </a:xfrm>
          <a:prstGeom prst="rect">
            <a:avLst/>
          </a:prstGeom>
          <a:noFill/>
        </p:spPr>
        <p:txBody>
          <a:bodyPr wrap="square">
            <a:spAutoFit/>
          </a:bodyPr>
          <a:lstStyle/>
          <a:p>
            <a:pPr algn="l"/>
            <a:r>
              <a:rPr sz="1400" b="1" i="0">
                <a:solidFill>
                  <a:srgbClr val="FFFFFF"/>
                </a:solidFill>
              </a:rPr>
              <a:t>TCHENTCHEU JIAGAM FLANC BEL</a:t>
            </a:r>
          </a:p>
        </p:txBody>
      </p:sp>
      <p:sp>
        <p:nvSpPr>
          <p:cNvPr id="16" name="TextBox 15"/>
          <p:cNvSpPr txBox="1"/>
          <p:nvPr/>
        </p:nvSpPr>
        <p:spPr>
          <a:xfrm>
            <a:off x="713232" y="5120640"/>
            <a:ext cx="5120640" cy="320040"/>
          </a:xfrm>
          <a:prstGeom prst="rect">
            <a:avLst/>
          </a:prstGeom>
          <a:noFill/>
        </p:spPr>
        <p:txBody>
          <a:bodyPr wrap="square">
            <a:spAutoFit/>
          </a:bodyPr>
          <a:lstStyle/>
          <a:p>
            <a:pPr algn="l"/>
            <a:r>
              <a:rPr sz="1200" b="0" i="0">
                <a:solidFill>
                  <a:srgbClr val="C9A84C"/>
                </a:solidFill>
              </a:rPr>
              <a:t>Developpeur Backend</a:t>
            </a:r>
          </a:p>
        </p:txBody>
      </p:sp>
      <p:sp>
        <p:nvSpPr>
          <p:cNvPr id="17" name="TextBox 16"/>
          <p:cNvSpPr txBox="1"/>
          <p:nvPr/>
        </p:nvSpPr>
        <p:spPr>
          <a:xfrm>
            <a:off x="713232" y="5440680"/>
            <a:ext cx="5120640" cy="292608"/>
          </a:xfrm>
          <a:prstGeom prst="rect">
            <a:avLst/>
          </a:prstGeom>
          <a:noFill/>
        </p:spPr>
        <p:txBody>
          <a:bodyPr wrap="square">
            <a:spAutoFit/>
          </a:bodyPr>
          <a:lstStyle/>
          <a:p>
            <a:pPr algn="l"/>
            <a:r>
              <a:rPr sz="1000" b="0" i="1">
                <a:solidFill>
                  <a:srgbClr val="F4F4F8"/>
                </a:solidFill>
              </a:rPr>
              <a:t>NestJS  -  PostgreSQL  -  Blockchain Polygon</a:t>
            </a:r>
          </a:p>
        </p:txBody>
      </p:sp>
      <p:sp>
        <p:nvSpPr>
          <p:cNvPr id="18" name="Rectangle 17"/>
          <p:cNvSpPr/>
          <p:nvPr/>
        </p:nvSpPr>
        <p:spPr>
          <a:xfrm>
            <a:off x="6126480" y="4663440"/>
            <a:ext cx="5715000" cy="1143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26480" y="4663440"/>
            <a:ext cx="54864" cy="1143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36792" y="4736592"/>
            <a:ext cx="5440680" cy="384048"/>
          </a:xfrm>
          <a:prstGeom prst="rect">
            <a:avLst/>
          </a:prstGeom>
          <a:noFill/>
        </p:spPr>
        <p:txBody>
          <a:bodyPr wrap="square">
            <a:spAutoFit/>
          </a:bodyPr>
          <a:lstStyle/>
          <a:p>
            <a:pPr algn="l"/>
            <a:r>
              <a:rPr sz="1400" b="1" i="0">
                <a:solidFill>
                  <a:srgbClr val="FFFFFF"/>
                </a:solidFill>
              </a:rPr>
              <a:t>NGANGUE TSAFACK BELVIE SCINDIE</a:t>
            </a:r>
          </a:p>
        </p:txBody>
      </p:sp>
      <p:sp>
        <p:nvSpPr>
          <p:cNvPr id="21" name="TextBox 20"/>
          <p:cNvSpPr txBox="1"/>
          <p:nvPr/>
        </p:nvSpPr>
        <p:spPr>
          <a:xfrm>
            <a:off x="6336792" y="5120640"/>
            <a:ext cx="5440680" cy="320040"/>
          </a:xfrm>
          <a:prstGeom prst="rect">
            <a:avLst/>
          </a:prstGeom>
          <a:noFill/>
        </p:spPr>
        <p:txBody>
          <a:bodyPr wrap="square">
            <a:spAutoFit/>
          </a:bodyPr>
          <a:lstStyle/>
          <a:p>
            <a:pPr algn="l"/>
            <a:r>
              <a:rPr sz="1200" b="0" i="0">
                <a:solidFill>
                  <a:srgbClr val="C9A84C"/>
                </a:solidFill>
              </a:rPr>
              <a:t>Developpeuse Frontend &amp; Maquettes</a:t>
            </a:r>
          </a:p>
        </p:txBody>
      </p:sp>
      <p:sp>
        <p:nvSpPr>
          <p:cNvPr id="22" name="TextBox 21"/>
          <p:cNvSpPr txBox="1"/>
          <p:nvPr/>
        </p:nvSpPr>
        <p:spPr>
          <a:xfrm>
            <a:off x="6336792" y="5440680"/>
            <a:ext cx="5440680" cy="246221"/>
          </a:xfrm>
          <a:prstGeom prst="rect">
            <a:avLst/>
          </a:prstGeom>
          <a:noFill/>
        </p:spPr>
        <p:txBody>
          <a:bodyPr wrap="square">
            <a:spAutoFit/>
          </a:bodyPr>
          <a:lstStyle/>
          <a:p>
            <a:pPr algn="l"/>
            <a:r>
              <a:rPr lang="fr-FR" sz="1000" i="1" dirty="0">
                <a:solidFill>
                  <a:srgbClr val="F4F4F8"/>
                </a:solidFill>
              </a:rPr>
              <a:t>React</a:t>
            </a:r>
            <a:r>
              <a:rPr sz="1000" b="0" i="1" dirty="0">
                <a:solidFill>
                  <a:srgbClr val="F4F4F8"/>
                </a:solidFill>
              </a:rPr>
              <a:t>  -  UI/UX  -  </a:t>
            </a:r>
            <a:r>
              <a:rPr lang="fr-FR" sz="1000" b="0" i="1" dirty="0">
                <a:solidFill>
                  <a:srgbClr val="F4F4F8"/>
                </a:solidFill>
              </a:rPr>
              <a:t>Stich</a:t>
            </a:r>
            <a:endParaRPr sz="1000" b="0" i="1" dirty="0">
              <a:solidFill>
                <a:srgbClr val="F4F4F8"/>
              </a:solidFill>
            </a:endParaRPr>
          </a:p>
        </p:txBody>
      </p:sp>
      <p:sp>
        <p:nvSpPr>
          <p:cNvPr id="23" name="TextBox 22"/>
          <p:cNvSpPr txBox="1"/>
          <p:nvPr/>
        </p:nvSpPr>
        <p:spPr>
          <a:xfrm>
            <a:off x="2331720" y="4152153"/>
            <a:ext cx="11338560" cy="261610"/>
          </a:xfrm>
          <a:prstGeom prst="rect">
            <a:avLst/>
          </a:prstGeom>
          <a:noFill/>
        </p:spPr>
        <p:txBody>
          <a:bodyPr wrap="square">
            <a:spAutoFit/>
          </a:bodyPr>
          <a:lstStyle/>
          <a:p>
            <a:pPr algn="ctr"/>
            <a:r>
              <a:rPr sz="1100" b="0" i="0" dirty="0">
                <a:solidFill>
                  <a:srgbClr val="F4F4F8"/>
                </a:solidFill>
              </a:rPr>
              <a:t>Douala, Cameroun</a:t>
            </a:r>
          </a:p>
        </p:txBody>
      </p:sp>
      <p:pic>
        <p:nvPicPr>
          <p:cNvPr id="28" name="Image 27">
            <a:extLst>
              <a:ext uri="{FF2B5EF4-FFF2-40B4-BE49-F238E27FC236}">
                <a16:creationId xmlns:a16="http://schemas.microsoft.com/office/drawing/2014/main" id="{8B357BE7-18DE-DE79-F998-218A5722542F}"/>
              </a:ext>
            </a:extLst>
          </p:cNvPr>
          <p:cNvPicPr>
            <a:picLocks noChangeAspect="1"/>
          </p:cNvPicPr>
          <p:nvPr/>
        </p:nvPicPr>
        <p:blipFill>
          <a:blip r:embed="rId4"/>
          <a:stretch>
            <a:fillRect/>
          </a:stretch>
        </p:blipFill>
        <p:spPr>
          <a:xfrm>
            <a:off x="9150581" y="0"/>
            <a:ext cx="3115266" cy="2101659"/>
          </a:xfrm>
          <a:prstGeom prst="rect">
            <a:avLst/>
          </a:prstGeom>
        </p:spPr>
      </p:pic>
      <p:sp>
        <p:nvSpPr>
          <p:cNvPr id="31" name="ZoneTexte 30">
            <a:extLst>
              <a:ext uri="{FF2B5EF4-FFF2-40B4-BE49-F238E27FC236}">
                <a16:creationId xmlns:a16="http://schemas.microsoft.com/office/drawing/2014/main" id="{2914FF80-597A-D08F-429F-6AE0A0E562E0}"/>
              </a:ext>
            </a:extLst>
          </p:cNvPr>
          <p:cNvSpPr txBox="1"/>
          <p:nvPr/>
        </p:nvSpPr>
        <p:spPr>
          <a:xfrm>
            <a:off x="3837253" y="5782042"/>
            <a:ext cx="3825957" cy="369332"/>
          </a:xfrm>
          <a:prstGeom prst="rect">
            <a:avLst/>
          </a:prstGeom>
          <a:noFill/>
        </p:spPr>
        <p:txBody>
          <a:bodyPr wrap="square" rtlCol="0">
            <a:spAutoFit/>
          </a:bodyPr>
          <a:lstStyle/>
          <a:p>
            <a:r>
              <a:rPr lang="fr-FR" b="1" dirty="0">
                <a:solidFill>
                  <a:schemeClr val="bg1"/>
                </a:solidFill>
              </a:rPr>
              <a:t>Sous l’encadrement académique de:</a:t>
            </a:r>
            <a:endParaRPr lang="fr-CM" b="1" dirty="0">
              <a:solidFill>
                <a:schemeClr val="bg1"/>
              </a:solidFill>
            </a:endParaRPr>
          </a:p>
        </p:txBody>
      </p:sp>
      <p:sp>
        <p:nvSpPr>
          <p:cNvPr id="32" name="ZoneTexte 31">
            <a:extLst>
              <a:ext uri="{FF2B5EF4-FFF2-40B4-BE49-F238E27FC236}">
                <a16:creationId xmlns:a16="http://schemas.microsoft.com/office/drawing/2014/main" id="{E766C26A-AB7F-60EB-C121-0732A821CA36}"/>
              </a:ext>
            </a:extLst>
          </p:cNvPr>
          <p:cNvSpPr txBox="1"/>
          <p:nvPr/>
        </p:nvSpPr>
        <p:spPr>
          <a:xfrm>
            <a:off x="502920" y="6085946"/>
            <a:ext cx="3059475" cy="369332"/>
          </a:xfrm>
          <a:prstGeom prst="rect">
            <a:avLst/>
          </a:prstGeom>
          <a:noFill/>
        </p:spPr>
        <p:txBody>
          <a:bodyPr wrap="square" rtlCol="0">
            <a:spAutoFit/>
          </a:bodyPr>
          <a:lstStyle/>
          <a:p>
            <a:r>
              <a:rPr lang="fr-FR" dirty="0">
                <a:solidFill>
                  <a:schemeClr val="bg1"/>
                </a:solidFill>
              </a:rPr>
              <a:t>Mr HENDRIGUE NKOLO</a:t>
            </a:r>
            <a:endParaRPr lang="fr-CM" dirty="0">
              <a:solidFill>
                <a:schemeClr val="bg1"/>
              </a:solidFill>
            </a:endParaRPr>
          </a:p>
        </p:txBody>
      </p:sp>
      <p:sp>
        <p:nvSpPr>
          <p:cNvPr id="33" name="ZoneTexte 32">
            <a:extLst>
              <a:ext uri="{FF2B5EF4-FFF2-40B4-BE49-F238E27FC236}">
                <a16:creationId xmlns:a16="http://schemas.microsoft.com/office/drawing/2014/main" id="{41BC420C-1391-C35E-4D87-2A7B8F05E179}"/>
              </a:ext>
            </a:extLst>
          </p:cNvPr>
          <p:cNvSpPr txBox="1"/>
          <p:nvPr/>
        </p:nvSpPr>
        <p:spPr>
          <a:xfrm>
            <a:off x="8412480" y="6116002"/>
            <a:ext cx="3059475" cy="369332"/>
          </a:xfrm>
          <a:prstGeom prst="rect">
            <a:avLst/>
          </a:prstGeom>
          <a:noFill/>
        </p:spPr>
        <p:txBody>
          <a:bodyPr wrap="square" rtlCol="0">
            <a:spAutoFit/>
          </a:bodyPr>
          <a:lstStyle/>
          <a:p>
            <a:r>
              <a:rPr lang="fr-FR" dirty="0">
                <a:solidFill>
                  <a:schemeClr val="bg1"/>
                </a:solidFill>
              </a:rPr>
              <a:t>Pr </a:t>
            </a:r>
            <a:r>
              <a:rPr lang="fr-CM" dirty="0">
                <a:solidFill>
                  <a:schemeClr val="bg1"/>
                </a:solidFill>
              </a:rPr>
              <a:t> KHALIFA DJEMAL</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685800"/>
          </a:xfrm>
          <a:prstGeom prst="rect">
            <a:avLst/>
          </a:prstGeom>
          <a:noFill/>
        </p:spPr>
        <p:txBody>
          <a:bodyPr wrap="square">
            <a:spAutoFit/>
          </a:bodyPr>
          <a:lstStyle/>
          <a:p>
            <a:pPr algn="l"/>
            <a:r>
              <a:rPr sz="2800" b="1" i="0">
                <a:solidFill>
                  <a:srgbClr val="FFFFFF"/>
                </a:solidFill>
              </a:rPr>
              <a:t>Plan de la presentation</a:t>
            </a:r>
          </a:p>
        </p:txBody>
      </p:sp>
      <p:sp>
        <p:nvSpPr>
          <p:cNvPr id="5" name="Rectangle 4"/>
          <p:cNvSpPr/>
          <p:nvPr/>
        </p:nvSpPr>
        <p:spPr>
          <a:xfrm>
            <a:off x="384048" y="2238110"/>
            <a:ext cx="5577840" cy="87942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84048" y="2238110"/>
            <a:ext cx="54864" cy="879427"/>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4048" y="2238110"/>
            <a:ext cx="5577840" cy="33357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8" y="2320406"/>
            <a:ext cx="457200" cy="347472"/>
          </a:xfrm>
          <a:prstGeom prst="rect">
            <a:avLst/>
          </a:prstGeom>
          <a:noFill/>
        </p:spPr>
        <p:txBody>
          <a:bodyPr wrap="square">
            <a:spAutoFit/>
          </a:bodyPr>
          <a:lstStyle/>
          <a:p>
            <a:pPr algn="l"/>
            <a:r>
              <a:rPr sz="1600" b="1" i="0" dirty="0">
                <a:solidFill>
                  <a:srgbClr val="C9A84C"/>
                </a:solidFill>
              </a:rPr>
              <a:t>0</a:t>
            </a:r>
            <a:r>
              <a:rPr lang="fr-FR" sz="1600" b="1" i="0" dirty="0">
                <a:solidFill>
                  <a:srgbClr val="C9A84C"/>
                </a:solidFill>
              </a:rPr>
              <a:t>2</a:t>
            </a:r>
            <a:endParaRPr sz="1600" b="1" i="0" dirty="0">
              <a:solidFill>
                <a:srgbClr val="C9A84C"/>
              </a:solidFill>
            </a:endParaRPr>
          </a:p>
        </p:txBody>
      </p:sp>
      <p:sp>
        <p:nvSpPr>
          <p:cNvPr id="9" name="TextBox 8"/>
          <p:cNvSpPr txBox="1"/>
          <p:nvPr/>
        </p:nvSpPr>
        <p:spPr>
          <a:xfrm>
            <a:off x="1042416" y="2329550"/>
            <a:ext cx="4754880" cy="307777"/>
          </a:xfrm>
          <a:prstGeom prst="rect">
            <a:avLst/>
          </a:prstGeom>
          <a:noFill/>
        </p:spPr>
        <p:txBody>
          <a:bodyPr wrap="square">
            <a:spAutoFit/>
          </a:bodyPr>
          <a:lstStyle/>
          <a:p>
            <a:r>
              <a:rPr lang="fr-CM" sz="1400" b="1" dirty="0">
                <a:solidFill>
                  <a:schemeClr val="bg1"/>
                </a:solidFill>
              </a:rPr>
              <a:t>Problématique &amp; Objectifs du projet</a:t>
            </a:r>
            <a:endParaRPr sz="1400" b="1" i="0" dirty="0">
              <a:solidFill>
                <a:schemeClr val="bg1"/>
              </a:solidFill>
            </a:endParaRPr>
          </a:p>
        </p:txBody>
      </p:sp>
      <p:pic>
        <p:nvPicPr>
          <p:cNvPr id="10" name="Picture 9" descr="alert.png"/>
          <p:cNvPicPr>
            <a:picLocks noChangeAspect="1"/>
          </p:cNvPicPr>
          <p:nvPr/>
        </p:nvPicPr>
        <p:blipFill>
          <a:blip r:embed="rId3"/>
          <a:stretch>
            <a:fillRect/>
          </a:stretch>
        </p:blipFill>
        <p:spPr>
          <a:xfrm>
            <a:off x="521208" y="2685986"/>
            <a:ext cx="594360" cy="394226"/>
          </a:xfrm>
          <a:prstGeom prst="rect">
            <a:avLst/>
          </a:prstGeom>
        </p:spPr>
      </p:pic>
      <p:sp>
        <p:nvSpPr>
          <p:cNvPr id="11" name="TextBox 10"/>
          <p:cNvSpPr txBox="1"/>
          <p:nvPr/>
        </p:nvSpPr>
        <p:spPr>
          <a:xfrm>
            <a:off x="1252728" y="2731456"/>
            <a:ext cx="4480560" cy="594360"/>
          </a:xfrm>
          <a:prstGeom prst="rect">
            <a:avLst/>
          </a:prstGeom>
          <a:noFill/>
        </p:spPr>
        <p:txBody>
          <a:bodyPr wrap="square">
            <a:spAutoFit/>
          </a:bodyPr>
          <a:lstStyle/>
          <a:p>
            <a:pPr algn="l"/>
            <a:r>
              <a:rPr sz="1200" b="0" i="1" dirty="0">
                <a:solidFill>
                  <a:srgbClr val="444455"/>
                </a:solidFill>
              </a:rPr>
              <a:t>Verification de </a:t>
            </a:r>
            <a:r>
              <a:rPr sz="1200" b="0" i="1" dirty="0" err="1">
                <a:solidFill>
                  <a:srgbClr val="444455"/>
                </a:solidFill>
              </a:rPr>
              <a:t>diplomes</a:t>
            </a:r>
            <a:r>
              <a:rPr sz="1200" b="0" i="1" dirty="0">
                <a:solidFill>
                  <a:srgbClr val="444455"/>
                </a:solidFill>
              </a:rPr>
              <a:t> : un processus sans solution</a:t>
            </a:r>
          </a:p>
        </p:txBody>
      </p:sp>
      <p:sp>
        <p:nvSpPr>
          <p:cNvPr id="12" name="Rectangle 11"/>
          <p:cNvSpPr/>
          <p:nvPr/>
        </p:nvSpPr>
        <p:spPr>
          <a:xfrm>
            <a:off x="384048" y="3225594"/>
            <a:ext cx="5577840" cy="1061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84048" y="3225594"/>
            <a:ext cx="54864" cy="10617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4048" y="3225594"/>
            <a:ext cx="5577840" cy="40274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1208" y="3307890"/>
            <a:ext cx="457200" cy="347472"/>
          </a:xfrm>
          <a:prstGeom prst="rect">
            <a:avLst/>
          </a:prstGeom>
          <a:noFill/>
        </p:spPr>
        <p:txBody>
          <a:bodyPr wrap="square">
            <a:spAutoFit/>
          </a:bodyPr>
          <a:lstStyle/>
          <a:p>
            <a:pPr algn="l"/>
            <a:r>
              <a:rPr sz="1600" b="1" i="0" dirty="0">
                <a:solidFill>
                  <a:srgbClr val="C9A84C"/>
                </a:solidFill>
              </a:rPr>
              <a:t>0</a:t>
            </a:r>
            <a:r>
              <a:rPr lang="fr-FR" sz="1600" b="1" i="0" dirty="0">
                <a:solidFill>
                  <a:srgbClr val="C9A84C"/>
                </a:solidFill>
              </a:rPr>
              <a:t>3</a:t>
            </a:r>
            <a:endParaRPr sz="1600" b="1" i="0" dirty="0">
              <a:solidFill>
                <a:srgbClr val="C9A84C"/>
              </a:solidFill>
            </a:endParaRPr>
          </a:p>
        </p:txBody>
      </p:sp>
      <p:sp>
        <p:nvSpPr>
          <p:cNvPr id="16" name="TextBox 15"/>
          <p:cNvSpPr txBox="1"/>
          <p:nvPr/>
        </p:nvSpPr>
        <p:spPr>
          <a:xfrm>
            <a:off x="1042416" y="3317034"/>
            <a:ext cx="4754880" cy="347472"/>
          </a:xfrm>
          <a:prstGeom prst="rect">
            <a:avLst/>
          </a:prstGeom>
          <a:noFill/>
        </p:spPr>
        <p:txBody>
          <a:bodyPr wrap="square">
            <a:spAutoFit/>
          </a:bodyPr>
          <a:lstStyle/>
          <a:p>
            <a:pPr algn="l"/>
            <a:r>
              <a:rPr sz="1400" b="1" i="0">
                <a:solidFill>
                  <a:srgbClr val="FFFFFF"/>
                </a:solidFill>
              </a:rPr>
              <a:t>Solution</a:t>
            </a:r>
          </a:p>
        </p:txBody>
      </p:sp>
      <p:pic>
        <p:nvPicPr>
          <p:cNvPr id="17" name="Picture 16" descr="zap.png"/>
          <p:cNvPicPr>
            <a:picLocks noChangeAspect="1"/>
          </p:cNvPicPr>
          <p:nvPr/>
        </p:nvPicPr>
        <p:blipFill>
          <a:blip r:embed="rId4"/>
          <a:stretch>
            <a:fillRect/>
          </a:stretch>
        </p:blipFill>
        <p:spPr>
          <a:xfrm>
            <a:off x="521208" y="3712999"/>
            <a:ext cx="594360" cy="475970"/>
          </a:xfrm>
          <a:prstGeom prst="rect">
            <a:avLst/>
          </a:prstGeom>
        </p:spPr>
      </p:pic>
      <p:sp>
        <p:nvSpPr>
          <p:cNvPr id="18" name="TextBox 17"/>
          <p:cNvSpPr txBox="1"/>
          <p:nvPr/>
        </p:nvSpPr>
        <p:spPr>
          <a:xfrm>
            <a:off x="1298448" y="3865674"/>
            <a:ext cx="4480560" cy="594360"/>
          </a:xfrm>
          <a:prstGeom prst="rect">
            <a:avLst/>
          </a:prstGeom>
          <a:noFill/>
        </p:spPr>
        <p:txBody>
          <a:bodyPr wrap="square">
            <a:spAutoFit/>
          </a:bodyPr>
          <a:lstStyle/>
          <a:p>
            <a:pPr algn="l"/>
            <a:r>
              <a:rPr sz="1200" b="0" i="1">
                <a:solidFill>
                  <a:srgbClr val="444455"/>
                </a:solidFill>
              </a:rPr>
              <a:t>INUBIL Verify en un coup d'oeil</a:t>
            </a:r>
          </a:p>
        </p:txBody>
      </p:sp>
      <p:sp>
        <p:nvSpPr>
          <p:cNvPr id="19" name="Rectangle 18"/>
          <p:cNvSpPr/>
          <p:nvPr/>
        </p:nvSpPr>
        <p:spPr>
          <a:xfrm>
            <a:off x="416194" y="4443853"/>
            <a:ext cx="5577840" cy="86599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16194" y="4443853"/>
            <a:ext cx="54864" cy="865991"/>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16194" y="4443853"/>
            <a:ext cx="5577840" cy="328479"/>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3354" y="4526149"/>
            <a:ext cx="457200" cy="347472"/>
          </a:xfrm>
          <a:prstGeom prst="rect">
            <a:avLst/>
          </a:prstGeom>
          <a:noFill/>
        </p:spPr>
        <p:txBody>
          <a:bodyPr wrap="square">
            <a:spAutoFit/>
          </a:bodyPr>
          <a:lstStyle/>
          <a:p>
            <a:pPr algn="l"/>
            <a:r>
              <a:rPr sz="1600" b="1" i="0" dirty="0">
                <a:solidFill>
                  <a:srgbClr val="C9A84C"/>
                </a:solidFill>
              </a:rPr>
              <a:t>0</a:t>
            </a:r>
            <a:r>
              <a:rPr lang="fr-FR" sz="1600" b="1" dirty="0">
                <a:solidFill>
                  <a:srgbClr val="C9A84C"/>
                </a:solidFill>
              </a:rPr>
              <a:t>4</a:t>
            </a:r>
            <a:endParaRPr sz="1600" b="1" i="0" dirty="0">
              <a:solidFill>
                <a:srgbClr val="C9A84C"/>
              </a:solidFill>
            </a:endParaRPr>
          </a:p>
        </p:txBody>
      </p:sp>
      <p:sp>
        <p:nvSpPr>
          <p:cNvPr id="23" name="TextBox 22"/>
          <p:cNvSpPr txBox="1"/>
          <p:nvPr/>
        </p:nvSpPr>
        <p:spPr>
          <a:xfrm>
            <a:off x="1074562" y="4535293"/>
            <a:ext cx="4754880" cy="347472"/>
          </a:xfrm>
          <a:prstGeom prst="rect">
            <a:avLst/>
          </a:prstGeom>
          <a:noFill/>
        </p:spPr>
        <p:txBody>
          <a:bodyPr wrap="square">
            <a:spAutoFit/>
          </a:bodyPr>
          <a:lstStyle/>
          <a:p>
            <a:pPr algn="l"/>
            <a:r>
              <a:rPr sz="1400" b="1" i="0">
                <a:solidFill>
                  <a:srgbClr val="FFFFFF"/>
                </a:solidFill>
              </a:rPr>
              <a:t>Architecture</a:t>
            </a:r>
          </a:p>
        </p:txBody>
      </p:sp>
      <p:pic>
        <p:nvPicPr>
          <p:cNvPr id="24" name="Picture 23" descr="layers.png"/>
          <p:cNvPicPr>
            <a:picLocks noChangeAspect="1"/>
          </p:cNvPicPr>
          <p:nvPr/>
        </p:nvPicPr>
        <p:blipFill>
          <a:blip r:embed="rId5"/>
          <a:stretch>
            <a:fillRect/>
          </a:stretch>
        </p:blipFill>
        <p:spPr>
          <a:xfrm>
            <a:off x="516240" y="4874606"/>
            <a:ext cx="594360" cy="388203"/>
          </a:xfrm>
          <a:prstGeom prst="rect">
            <a:avLst/>
          </a:prstGeom>
        </p:spPr>
      </p:pic>
      <p:sp>
        <p:nvSpPr>
          <p:cNvPr id="25" name="TextBox 24"/>
          <p:cNvSpPr txBox="1"/>
          <p:nvPr/>
        </p:nvSpPr>
        <p:spPr>
          <a:xfrm>
            <a:off x="1312037" y="4941926"/>
            <a:ext cx="4480560" cy="594360"/>
          </a:xfrm>
          <a:prstGeom prst="rect">
            <a:avLst/>
          </a:prstGeom>
          <a:noFill/>
        </p:spPr>
        <p:txBody>
          <a:bodyPr wrap="square">
            <a:spAutoFit/>
          </a:bodyPr>
          <a:lstStyle/>
          <a:p>
            <a:pPr algn="l"/>
            <a:r>
              <a:rPr sz="1200" b="0" i="1" dirty="0">
                <a:solidFill>
                  <a:srgbClr val="444455"/>
                </a:solidFill>
              </a:rPr>
              <a:t>Comment les </a:t>
            </a:r>
            <a:r>
              <a:rPr sz="1200" b="0" i="1" dirty="0" err="1">
                <a:solidFill>
                  <a:srgbClr val="444455"/>
                </a:solidFill>
              </a:rPr>
              <a:t>composants</a:t>
            </a:r>
            <a:r>
              <a:rPr sz="1200" b="0" i="1" dirty="0">
                <a:solidFill>
                  <a:srgbClr val="444455"/>
                </a:solidFill>
              </a:rPr>
              <a:t> </a:t>
            </a:r>
            <a:r>
              <a:rPr sz="1200" b="0" i="1" dirty="0" err="1">
                <a:solidFill>
                  <a:srgbClr val="444455"/>
                </a:solidFill>
              </a:rPr>
              <a:t>s'articulent</a:t>
            </a:r>
            <a:endParaRPr sz="1200" b="0" i="1" dirty="0">
              <a:solidFill>
                <a:srgbClr val="444455"/>
              </a:solidFill>
            </a:endParaRPr>
          </a:p>
        </p:txBody>
      </p:sp>
      <p:sp>
        <p:nvSpPr>
          <p:cNvPr id="26" name="Rectangle 25"/>
          <p:cNvSpPr/>
          <p:nvPr/>
        </p:nvSpPr>
        <p:spPr>
          <a:xfrm>
            <a:off x="416194" y="5545801"/>
            <a:ext cx="5577840" cy="91391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16194" y="5545801"/>
            <a:ext cx="54864" cy="91391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16194" y="5545801"/>
            <a:ext cx="5577840" cy="346659"/>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3354" y="5628097"/>
            <a:ext cx="457200" cy="347472"/>
          </a:xfrm>
          <a:prstGeom prst="rect">
            <a:avLst/>
          </a:prstGeom>
          <a:noFill/>
        </p:spPr>
        <p:txBody>
          <a:bodyPr wrap="square">
            <a:spAutoFit/>
          </a:bodyPr>
          <a:lstStyle/>
          <a:p>
            <a:pPr algn="l"/>
            <a:r>
              <a:rPr sz="1600" b="1" i="0" dirty="0">
                <a:solidFill>
                  <a:srgbClr val="C9A84C"/>
                </a:solidFill>
              </a:rPr>
              <a:t>0</a:t>
            </a:r>
            <a:r>
              <a:rPr lang="fr-FR" sz="1600" b="1" dirty="0">
                <a:solidFill>
                  <a:srgbClr val="C9A84C"/>
                </a:solidFill>
              </a:rPr>
              <a:t>5</a:t>
            </a:r>
            <a:endParaRPr sz="1600" b="1" i="0" dirty="0">
              <a:solidFill>
                <a:srgbClr val="C9A84C"/>
              </a:solidFill>
            </a:endParaRPr>
          </a:p>
        </p:txBody>
      </p:sp>
      <p:sp>
        <p:nvSpPr>
          <p:cNvPr id="30" name="TextBox 29"/>
          <p:cNvSpPr txBox="1"/>
          <p:nvPr/>
        </p:nvSpPr>
        <p:spPr>
          <a:xfrm>
            <a:off x="1074562" y="5637241"/>
            <a:ext cx="4754880" cy="347472"/>
          </a:xfrm>
          <a:prstGeom prst="rect">
            <a:avLst/>
          </a:prstGeom>
          <a:noFill/>
        </p:spPr>
        <p:txBody>
          <a:bodyPr wrap="square">
            <a:spAutoFit/>
          </a:bodyPr>
          <a:lstStyle/>
          <a:p>
            <a:pPr algn="l"/>
            <a:r>
              <a:rPr sz="1400" b="1" i="0" dirty="0">
                <a:solidFill>
                  <a:srgbClr val="FFFFFF"/>
                </a:solidFill>
              </a:rPr>
              <a:t>Stack </a:t>
            </a:r>
            <a:r>
              <a:rPr sz="1400" b="1" i="0" dirty="0" err="1">
                <a:solidFill>
                  <a:srgbClr val="FFFFFF"/>
                </a:solidFill>
              </a:rPr>
              <a:t>technologique</a:t>
            </a:r>
            <a:endParaRPr sz="1400" b="1" i="0" dirty="0">
              <a:solidFill>
                <a:srgbClr val="FFFFFF"/>
              </a:solidFill>
            </a:endParaRPr>
          </a:p>
        </p:txBody>
      </p:sp>
      <p:pic>
        <p:nvPicPr>
          <p:cNvPr id="31" name="Picture 30" descr="cpu.png"/>
          <p:cNvPicPr>
            <a:picLocks noChangeAspect="1"/>
          </p:cNvPicPr>
          <p:nvPr/>
        </p:nvPicPr>
        <p:blipFill>
          <a:blip r:embed="rId6"/>
          <a:stretch>
            <a:fillRect/>
          </a:stretch>
        </p:blipFill>
        <p:spPr>
          <a:xfrm>
            <a:off x="539907" y="5991891"/>
            <a:ext cx="594360" cy="409687"/>
          </a:xfrm>
          <a:prstGeom prst="rect">
            <a:avLst/>
          </a:prstGeom>
        </p:spPr>
      </p:pic>
      <p:sp>
        <p:nvSpPr>
          <p:cNvPr id="32" name="TextBox 31"/>
          <p:cNvSpPr txBox="1"/>
          <p:nvPr/>
        </p:nvSpPr>
        <p:spPr>
          <a:xfrm>
            <a:off x="1330594" y="6185881"/>
            <a:ext cx="4480560" cy="594360"/>
          </a:xfrm>
          <a:prstGeom prst="rect">
            <a:avLst/>
          </a:prstGeom>
          <a:noFill/>
        </p:spPr>
        <p:txBody>
          <a:bodyPr wrap="square">
            <a:spAutoFit/>
          </a:bodyPr>
          <a:lstStyle/>
          <a:p>
            <a:pPr algn="l"/>
            <a:r>
              <a:rPr sz="1200" b="0" i="1">
                <a:solidFill>
                  <a:srgbClr val="444455"/>
                </a:solidFill>
              </a:rPr>
              <a:t>Choix techniques et justifications</a:t>
            </a:r>
          </a:p>
        </p:txBody>
      </p:sp>
      <p:sp>
        <p:nvSpPr>
          <p:cNvPr id="33" name="Rectangle 32"/>
          <p:cNvSpPr/>
          <p:nvPr/>
        </p:nvSpPr>
        <p:spPr>
          <a:xfrm>
            <a:off x="6281801" y="1253911"/>
            <a:ext cx="5577840" cy="8625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281801" y="1253911"/>
            <a:ext cx="54864" cy="86258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81801" y="1253911"/>
            <a:ext cx="5577840" cy="327187"/>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18961" y="1336207"/>
            <a:ext cx="457200" cy="347472"/>
          </a:xfrm>
          <a:prstGeom prst="rect">
            <a:avLst/>
          </a:prstGeom>
          <a:noFill/>
        </p:spPr>
        <p:txBody>
          <a:bodyPr wrap="square">
            <a:spAutoFit/>
          </a:bodyPr>
          <a:lstStyle/>
          <a:p>
            <a:pPr algn="l"/>
            <a:r>
              <a:rPr sz="1600" b="1" i="0" dirty="0">
                <a:solidFill>
                  <a:srgbClr val="C9A84C"/>
                </a:solidFill>
              </a:rPr>
              <a:t>0</a:t>
            </a:r>
            <a:r>
              <a:rPr lang="fr-CM" sz="1600" b="1" i="0" dirty="0">
                <a:solidFill>
                  <a:srgbClr val="C9A84C"/>
                </a:solidFill>
              </a:rPr>
              <a:t>6</a:t>
            </a:r>
            <a:endParaRPr sz="1600" b="1" i="0" dirty="0">
              <a:solidFill>
                <a:srgbClr val="C9A84C"/>
              </a:solidFill>
            </a:endParaRPr>
          </a:p>
        </p:txBody>
      </p:sp>
      <p:sp>
        <p:nvSpPr>
          <p:cNvPr id="37" name="TextBox 36"/>
          <p:cNvSpPr txBox="1"/>
          <p:nvPr/>
        </p:nvSpPr>
        <p:spPr>
          <a:xfrm>
            <a:off x="6940169" y="1345351"/>
            <a:ext cx="4754880" cy="347472"/>
          </a:xfrm>
          <a:prstGeom prst="rect">
            <a:avLst/>
          </a:prstGeom>
          <a:noFill/>
        </p:spPr>
        <p:txBody>
          <a:bodyPr wrap="square">
            <a:spAutoFit/>
          </a:bodyPr>
          <a:lstStyle/>
          <a:p>
            <a:pPr algn="l"/>
            <a:r>
              <a:rPr sz="1400" b="1" i="0">
                <a:solidFill>
                  <a:srgbClr val="FFFFFF"/>
                </a:solidFill>
              </a:rPr>
              <a:t>Fonctionnalites</a:t>
            </a:r>
          </a:p>
        </p:txBody>
      </p:sp>
      <p:pic>
        <p:nvPicPr>
          <p:cNvPr id="38" name="Picture 37" descr="award.png"/>
          <p:cNvPicPr>
            <a:picLocks noChangeAspect="1"/>
          </p:cNvPicPr>
          <p:nvPr/>
        </p:nvPicPr>
        <p:blipFill>
          <a:blip r:embed="rId7"/>
          <a:stretch>
            <a:fillRect/>
          </a:stretch>
        </p:blipFill>
        <p:spPr>
          <a:xfrm>
            <a:off x="6364161" y="1663394"/>
            <a:ext cx="594360" cy="386676"/>
          </a:xfrm>
          <a:prstGeom prst="rect">
            <a:avLst/>
          </a:prstGeom>
        </p:spPr>
      </p:pic>
      <p:sp>
        <p:nvSpPr>
          <p:cNvPr id="39" name="TextBox 38"/>
          <p:cNvSpPr txBox="1"/>
          <p:nvPr/>
        </p:nvSpPr>
        <p:spPr>
          <a:xfrm>
            <a:off x="7196201" y="1733971"/>
            <a:ext cx="4480560" cy="594360"/>
          </a:xfrm>
          <a:prstGeom prst="rect">
            <a:avLst/>
          </a:prstGeom>
          <a:noFill/>
        </p:spPr>
        <p:txBody>
          <a:bodyPr wrap="square">
            <a:spAutoFit/>
          </a:bodyPr>
          <a:lstStyle/>
          <a:p>
            <a:pPr algn="l"/>
            <a:r>
              <a:rPr sz="1200" b="0" i="1" dirty="0">
                <a:solidFill>
                  <a:srgbClr val="444455"/>
                </a:solidFill>
              </a:rPr>
              <a:t>Emission, verification, </a:t>
            </a:r>
            <a:r>
              <a:rPr sz="1200" b="0" i="1" dirty="0" err="1">
                <a:solidFill>
                  <a:srgbClr val="444455"/>
                </a:solidFill>
              </a:rPr>
              <a:t>securite</a:t>
            </a:r>
            <a:endParaRPr sz="1200" b="0" i="1" dirty="0">
              <a:solidFill>
                <a:srgbClr val="444455"/>
              </a:solidFill>
            </a:endParaRPr>
          </a:p>
        </p:txBody>
      </p:sp>
      <p:sp>
        <p:nvSpPr>
          <p:cNvPr id="40" name="Rectangle 39"/>
          <p:cNvSpPr/>
          <p:nvPr/>
        </p:nvSpPr>
        <p:spPr>
          <a:xfrm>
            <a:off x="6309233" y="2238290"/>
            <a:ext cx="557784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309233" y="2238290"/>
            <a:ext cx="54864" cy="9601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309233" y="2238290"/>
            <a:ext cx="5577840" cy="364183"/>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46393" y="2320586"/>
            <a:ext cx="457200" cy="347472"/>
          </a:xfrm>
          <a:prstGeom prst="rect">
            <a:avLst/>
          </a:prstGeom>
          <a:noFill/>
        </p:spPr>
        <p:txBody>
          <a:bodyPr wrap="square">
            <a:spAutoFit/>
          </a:bodyPr>
          <a:lstStyle/>
          <a:p>
            <a:pPr algn="l"/>
            <a:r>
              <a:rPr sz="1600" b="1" i="0" dirty="0">
                <a:solidFill>
                  <a:srgbClr val="C9A84C"/>
                </a:solidFill>
              </a:rPr>
              <a:t>0</a:t>
            </a:r>
            <a:r>
              <a:rPr lang="fr-FR" sz="1600" b="1" i="0" dirty="0">
                <a:solidFill>
                  <a:srgbClr val="C9A84C"/>
                </a:solidFill>
              </a:rPr>
              <a:t>7</a:t>
            </a:r>
            <a:endParaRPr sz="1600" b="1" i="0" dirty="0">
              <a:solidFill>
                <a:srgbClr val="C9A84C"/>
              </a:solidFill>
            </a:endParaRPr>
          </a:p>
        </p:txBody>
      </p:sp>
      <p:sp>
        <p:nvSpPr>
          <p:cNvPr id="44" name="TextBox 43"/>
          <p:cNvSpPr txBox="1"/>
          <p:nvPr/>
        </p:nvSpPr>
        <p:spPr>
          <a:xfrm>
            <a:off x="6967601" y="2329730"/>
            <a:ext cx="4754880" cy="347472"/>
          </a:xfrm>
          <a:prstGeom prst="rect">
            <a:avLst/>
          </a:prstGeom>
          <a:noFill/>
        </p:spPr>
        <p:txBody>
          <a:bodyPr wrap="square">
            <a:spAutoFit/>
          </a:bodyPr>
          <a:lstStyle/>
          <a:p>
            <a:pPr algn="l"/>
            <a:r>
              <a:rPr sz="1400" b="1" i="0" dirty="0">
                <a:solidFill>
                  <a:srgbClr val="FFFFFF"/>
                </a:solidFill>
              </a:rPr>
              <a:t>Infrastructure</a:t>
            </a:r>
          </a:p>
        </p:txBody>
      </p:sp>
      <p:pic>
        <p:nvPicPr>
          <p:cNvPr id="45" name="Picture 44" descr="server.png"/>
          <p:cNvPicPr>
            <a:picLocks noChangeAspect="1"/>
          </p:cNvPicPr>
          <p:nvPr/>
        </p:nvPicPr>
        <p:blipFill>
          <a:blip r:embed="rId8"/>
          <a:stretch>
            <a:fillRect/>
          </a:stretch>
        </p:blipFill>
        <p:spPr>
          <a:xfrm>
            <a:off x="6410497" y="2684769"/>
            <a:ext cx="594360" cy="430399"/>
          </a:xfrm>
          <a:prstGeom prst="rect">
            <a:avLst/>
          </a:prstGeom>
        </p:spPr>
      </p:pic>
      <p:sp>
        <p:nvSpPr>
          <p:cNvPr id="46" name="TextBox 45"/>
          <p:cNvSpPr txBox="1"/>
          <p:nvPr/>
        </p:nvSpPr>
        <p:spPr>
          <a:xfrm>
            <a:off x="7223633" y="2878370"/>
            <a:ext cx="4480560" cy="594360"/>
          </a:xfrm>
          <a:prstGeom prst="rect">
            <a:avLst/>
          </a:prstGeom>
          <a:noFill/>
        </p:spPr>
        <p:txBody>
          <a:bodyPr wrap="square">
            <a:spAutoFit/>
          </a:bodyPr>
          <a:lstStyle/>
          <a:p>
            <a:pPr algn="l"/>
            <a:r>
              <a:rPr sz="1200" b="0" i="1">
                <a:solidFill>
                  <a:srgbClr val="444455"/>
                </a:solidFill>
              </a:rPr>
              <a:t>Docker, Cloudflare R2, Polygon Amoy</a:t>
            </a:r>
          </a:p>
        </p:txBody>
      </p:sp>
      <p:sp>
        <p:nvSpPr>
          <p:cNvPr id="47" name="Rectangle 46"/>
          <p:cNvSpPr/>
          <p:nvPr/>
        </p:nvSpPr>
        <p:spPr>
          <a:xfrm>
            <a:off x="6313790" y="4529987"/>
            <a:ext cx="5577840" cy="795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313790" y="4529987"/>
            <a:ext cx="54864" cy="79552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313790" y="4529987"/>
            <a:ext cx="5577840" cy="30175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50950" y="4507127"/>
            <a:ext cx="457200" cy="347472"/>
          </a:xfrm>
          <a:prstGeom prst="rect">
            <a:avLst/>
          </a:prstGeom>
          <a:noFill/>
        </p:spPr>
        <p:txBody>
          <a:bodyPr wrap="square">
            <a:spAutoFit/>
          </a:bodyPr>
          <a:lstStyle/>
          <a:p>
            <a:pPr algn="l"/>
            <a:r>
              <a:rPr sz="1600" b="1" i="0" dirty="0">
                <a:solidFill>
                  <a:srgbClr val="C9A84C"/>
                </a:solidFill>
              </a:rPr>
              <a:t>0</a:t>
            </a:r>
            <a:r>
              <a:rPr lang="fr-FR" sz="1600" b="1" dirty="0">
                <a:solidFill>
                  <a:srgbClr val="C9A84C"/>
                </a:solidFill>
              </a:rPr>
              <a:t>9</a:t>
            </a:r>
            <a:endParaRPr sz="1600" b="1" i="0" dirty="0">
              <a:solidFill>
                <a:srgbClr val="C9A84C"/>
              </a:solidFill>
            </a:endParaRPr>
          </a:p>
        </p:txBody>
      </p:sp>
      <p:sp>
        <p:nvSpPr>
          <p:cNvPr id="51" name="TextBox 50"/>
          <p:cNvSpPr txBox="1"/>
          <p:nvPr/>
        </p:nvSpPr>
        <p:spPr>
          <a:xfrm>
            <a:off x="6999463" y="4581041"/>
            <a:ext cx="4754880" cy="347472"/>
          </a:xfrm>
          <a:prstGeom prst="rect">
            <a:avLst/>
          </a:prstGeom>
          <a:noFill/>
        </p:spPr>
        <p:txBody>
          <a:bodyPr wrap="square">
            <a:spAutoFit/>
          </a:bodyPr>
          <a:lstStyle/>
          <a:p>
            <a:pPr algn="l"/>
            <a:r>
              <a:rPr sz="1400" b="1" i="0" dirty="0">
                <a:solidFill>
                  <a:srgbClr val="FFFFFF"/>
                </a:solidFill>
              </a:rPr>
              <a:t>Demo &amp; Bilan</a:t>
            </a:r>
          </a:p>
        </p:txBody>
      </p:sp>
      <p:pic>
        <p:nvPicPr>
          <p:cNvPr id="52" name="Picture 51" descr="trending-up.png"/>
          <p:cNvPicPr>
            <a:picLocks noChangeAspect="1"/>
          </p:cNvPicPr>
          <p:nvPr/>
        </p:nvPicPr>
        <p:blipFill>
          <a:blip r:embed="rId9"/>
          <a:stretch>
            <a:fillRect/>
          </a:stretch>
        </p:blipFill>
        <p:spPr>
          <a:xfrm>
            <a:off x="6450950" y="4946039"/>
            <a:ext cx="594360" cy="356616"/>
          </a:xfrm>
          <a:prstGeom prst="rect">
            <a:avLst/>
          </a:prstGeom>
        </p:spPr>
      </p:pic>
      <p:sp>
        <p:nvSpPr>
          <p:cNvPr id="53" name="TextBox 52"/>
          <p:cNvSpPr txBox="1"/>
          <p:nvPr/>
        </p:nvSpPr>
        <p:spPr>
          <a:xfrm>
            <a:off x="7209775" y="4970638"/>
            <a:ext cx="4480560" cy="594360"/>
          </a:xfrm>
          <a:prstGeom prst="rect">
            <a:avLst/>
          </a:prstGeom>
          <a:noFill/>
        </p:spPr>
        <p:txBody>
          <a:bodyPr wrap="square">
            <a:spAutoFit/>
          </a:bodyPr>
          <a:lstStyle/>
          <a:p>
            <a:pPr algn="l"/>
            <a:r>
              <a:rPr sz="1200" b="0" i="1" dirty="0" err="1">
                <a:solidFill>
                  <a:srgbClr val="444455"/>
                </a:solidFill>
              </a:rPr>
              <a:t>Resultats</a:t>
            </a:r>
            <a:r>
              <a:rPr sz="1200" b="0" i="1" dirty="0">
                <a:solidFill>
                  <a:srgbClr val="444455"/>
                </a:solidFill>
              </a:rPr>
              <a:t>, defis, perspectives</a:t>
            </a:r>
          </a:p>
        </p:txBody>
      </p:sp>
      <p:sp>
        <p:nvSpPr>
          <p:cNvPr id="54" name="TextBox 53"/>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2 / 2</a:t>
            </a:r>
            <a:r>
              <a:rPr lang="fr-FR" sz="900" b="0" i="0" dirty="0">
                <a:solidFill>
                  <a:srgbClr val="C9A84C"/>
                </a:solidFill>
              </a:rPr>
              <a:t>4</a:t>
            </a:r>
            <a:endParaRPr sz="900" b="0" i="0" dirty="0">
              <a:solidFill>
                <a:srgbClr val="C9A84C"/>
              </a:solidFill>
            </a:endParaRPr>
          </a:p>
        </p:txBody>
      </p:sp>
      <p:sp>
        <p:nvSpPr>
          <p:cNvPr id="55" name="Rectangle 54">
            <a:extLst>
              <a:ext uri="{FF2B5EF4-FFF2-40B4-BE49-F238E27FC236}">
                <a16:creationId xmlns:a16="http://schemas.microsoft.com/office/drawing/2014/main" id="{B5602E9F-D09A-3AEC-218A-876ABE9D1CBC}"/>
              </a:ext>
            </a:extLst>
          </p:cNvPr>
          <p:cNvSpPr/>
          <p:nvPr/>
        </p:nvSpPr>
        <p:spPr>
          <a:xfrm>
            <a:off x="6327521" y="3386247"/>
            <a:ext cx="5577840" cy="98715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a:extLst>
              <a:ext uri="{FF2B5EF4-FFF2-40B4-BE49-F238E27FC236}">
                <a16:creationId xmlns:a16="http://schemas.microsoft.com/office/drawing/2014/main" id="{AD79FE32-DDE4-3F69-0311-7A7E462C08F6}"/>
              </a:ext>
            </a:extLst>
          </p:cNvPr>
          <p:cNvSpPr/>
          <p:nvPr/>
        </p:nvSpPr>
        <p:spPr>
          <a:xfrm>
            <a:off x="6327521" y="3386247"/>
            <a:ext cx="54864" cy="98715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a:extLst>
              <a:ext uri="{FF2B5EF4-FFF2-40B4-BE49-F238E27FC236}">
                <a16:creationId xmlns:a16="http://schemas.microsoft.com/office/drawing/2014/main" id="{23717501-0350-D342-9677-4BE083B1190F}"/>
              </a:ext>
            </a:extLst>
          </p:cNvPr>
          <p:cNvSpPr/>
          <p:nvPr/>
        </p:nvSpPr>
        <p:spPr>
          <a:xfrm>
            <a:off x="6327521" y="3386247"/>
            <a:ext cx="5577840" cy="374439"/>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49">
            <a:extLst>
              <a:ext uri="{FF2B5EF4-FFF2-40B4-BE49-F238E27FC236}">
                <a16:creationId xmlns:a16="http://schemas.microsoft.com/office/drawing/2014/main" id="{B5AEA1AD-213C-C746-42E7-A7E346A61FCA}"/>
              </a:ext>
            </a:extLst>
          </p:cNvPr>
          <p:cNvSpPr txBox="1"/>
          <p:nvPr/>
        </p:nvSpPr>
        <p:spPr>
          <a:xfrm>
            <a:off x="6464681" y="3468543"/>
            <a:ext cx="457200" cy="347472"/>
          </a:xfrm>
          <a:prstGeom prst="rect">
            <a:avLst/>
          </a:prstGeom>
          <a:noFill/>
        </p:spPr>
        <p:txBody>
          <a:bodyPr wrap="square">
            <a:spAutoFit/>
          </a:bodyPr>
          <a:lstStyle/>
          <a:p>
            <a:pPr algn="l"/>
            <a:r>
              <a:rPr sz="1600" b="1" i="0" dirty="0">
                <a:solidFill>
                  <a:srgbClr val="C9A84C"/>
                </a:solidFill>
              </a:rPr>
              <a:t>0</a:t>
            </a:r>
            <a:r>
              <a:rPr lang="fr-FR" sz="1600" b="1" i="0" dirty="0">
                <a:solidFill>
                  <a:srgbClr val="C9A84C"/>
                </a:solidFill>
              </a:rPr>
              <a:t>8</a:t>
            </a:r>
            <a:endParaRPr sz="1600" b="1" i="0" dirty="0">
              <a:solidFill>
                <a:srgbClr val="C9A84C"/>
              </a:solidFill>
            </a:endParaRPr>
          </a:p>
        </p:txBody>
      </p:sp>
      <p:sp>
        <p:nvSpPr>
          <p:cNvPr id="59" name="TextBox 50">
            <a:extLst>
              <a:ext uri="{FF2B5EF4-FFF2-40B4-BE49-F238E27FC236}">
                <a16:creationId xmlns:a16="http://schemas.microsoft.com/office/drawing/2014/main" id="{20C1BBB3-7E6D-B4CD-9759-AA91B7BA746A}"/>
              </a:ext>
            </a:extLst>
          </p:cNvPr>
          <p:cNvSpPr txBox="1"/>
          <p:nvPr/>
        </p:nvSpPr>
        <p:spPr>
          <a:xfrm>
            <a:off x="6985889" y="3477687"/>
            <a:ext cx="4754880" cy="307777"/>
          </a:xfrm>
          <a:prstGeom prst="rect">
            <a:avLst/>
          </a:prstGeom>
          <a:noFill/>
        </p:spPr>
        <p:txBody>
          <a:bodyPr wrap="square">
            <a:spAutoFit/>
          </a:bodyPr>
          <a:lstStyle/>
          <a:p>
            <a:r>
              <a:rPr lang="fr-CM" sz="1400" b="1" dirty="0">
                <a:solidFill>
                  <a:schemeClr val="bg1"/>
                </a:solidFill>
              </a:rPr>
              <a:t>Planification</a:t>
            </a:r>
            <a:endParaRPr sz="1400" b="1" i="0" dirty="0">
              <a:solidFill>
                <a:schemeClr val="bg1"/>
              </a:solidFill>
            </a:endParaRPr>
          </a:p>
        </p:txBody>
      </p:sp>
      <p:pic>
        <p:nvPicPr>
          <p:cNvPr id="60" name="Picture 51" descr="trending-up.png">
            <a:extLst>
              <a:ext uri="{FF2B5EF4-FFF2-40B4-BE49-F238E27FC236}">
                <a16:creationId xmlns:a16="http://schemas.microsoft.com/office/drawing/2014/main" id="{0976F7A6-71D8-2B2D-971D-F20E91E076C6}"/>
              </a:ext>
            </a:extLst>
          </p:cNvPr>
          <p:cNvPicPr>
            <a:picLocks noChangeAspect="1"/>
          </p:cNvPicPr>
          <p:nvPr/>
        </p:nvPicPr>
        <p:blipFill>
          <a:blip r:embed="rId9"/>
          <a:stretch>
            <a:fillRect/>
          </a:stretch>
        </p:blipFill>
        <p:spPr>
          <a:xfrm>
            <a:off x="6418961" y="3860647"/>
            <a:ext cx="594360" cy="442519"/>
          </a:xfrm>
          <a:prstGeom prst="rect">
            <a:avLst/>
          </a:prstGeom>
        </p:spPr>
      </p:pic>
      <p:sp>
        <p:nvSpPr>
          <p:cNvPr id="61" name="TextBox 52">
            <a:extLst>
              <a:ext uri="{FF2B5EF4-FFF2-40B4-BE49-F238E27FC236}">
                <a16:creationId xmlns:a16="http://schemas.microsoft.com/office/drawing/2014/main" id="{9F24EB26-22A5-9AE4-BBE6-E0F31468A1A5}"/>
              </a:ext>
            </a:extLst>
          </p:cNvPr>
          <p:cNvSpPr txBox="1"/>
          <p:nvPr/>
        </p:nvSpPr>
        <p:spPr>
          <a:xfrm>
            <a:off x="7241921" y="4026327"/>
            <a:ext cx="4480560" cy="276999"/>
          </a:xfrm>
          <a:prstGeom prst="rect">
            <a:avLst/>
          </a:prstGeom>
          <a:noFill/>
        </p:spPr>
        <p:txBody>
          <a:bodyPr wrap="square">
            <a:spAutoFit/>
          </a:bodyPr>
          <a:lstStyle/>
          <a:p>
            <a:r>
              <a:rPr lang="fr-CM" sz="1200" dirty="0"/>
              <a:t>GANTT, avancement</a:t>
            </a:r>
            <a:endParaRPr sz="1200" b="0" i="1" dirty="0">
              <a:solidFill>
                <a:srgbClr val="444455"/>
              </a:solidFill>
            </a:endParaRPr>
          </a:p>
        </p:txBody>
      </p:sp>
      <p:sp>
        <p:nvSpPr>
          <p:cNvPr id="62" name="Rectangle 61">
            <a:extLst>
              <a:ext uri="{FF2B5EF4-FFF2-40B4-BE49-F238E27FC236}">
                <a16:creationId xmlns:a16="http://schemas.microsoft.com/office/drawing/2014/main" id="{BFBCE25F-63CB-115C-8F21-B927871A3C8C}"/>
              </a:ext>
            </a:extLst>
          </p:cNvPr>
          <p:cNvSpPr/>
          <p:nvPr/>
        </p:nvSpPr>
        <p:spPr>
          <a:xfrm>
            <a:off x="356616" y="1248155"/>
            <a:ext cx="5577840" cy="87942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a:extLst>
              <a:ext uri="{FF2B5EF4-FFF2-40B4-BE49-F238E27FC236}">
                <a16:creationId xmlns:a16="http://schemas.microsoft.com/office/drawing/2014/main" id="{E06AAE87-CDA1-9438-7A61-94A91D32D265}"/>
              </a:ext>
            </a:extLst>
          </p:cNvPr>
          <p:cNvSpPr/>
          <p:nvPr/>
        </p:nvSpPr>
        <p:spPr>
          <a:xfrm>
            <a:off x="356616" y="1248155"/>
            <a:ext cx="54864" cy="879427"/>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a:extLst>
              <a:ext uri="{FF2B5EF4-FFF2-40B4-BE49-F238E27FC236}">
                <a16:creationId xmlns:a16="http://schemas.microsoft.com/office/drawing/2014/main" id="{BBC1D804-475F-6316-B715-18E6DDAC249C}"/>
              </a:ext>
            </a:extLst>
          </p:cNvPr>
          <p:cNvSpPr/>
          <p:nvPr/>
        </p:nvSpPr>
        <p:spPr>
          <a:xfrm>
            <a:off x="356616" y="1248155"/>
            <a:ext cx="5577840" cy="33357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7">
            <a:extLst>
              <a:ext uri="{FF2B5EF4-FFF2-40B4-BE49-F238E27FC236}">
                <a16:creationId xmlns:a16="http://schemas.microsoft.com/office/drawing/2014/main" id="{85897536-A2BD-1AE9-B73F-CFFE984C6C62}"/>
              </a:ext>
            </a:extLst>
          </p:cNvPr>
          <p:cNvSpPr txBox="1"/>
          <p:nvPr/>
        </p:nvSpPr>
        <p:spPr>
          <a:xfrm>
            <a:off x="493776" y="1330451"/>
            <a:ext cx="457200" cy="347472"/>
          </a:xfrm>
          <a:prstGeom prst="rect">
            <a:avLst/>
          </a:prstGeom>
          <a:noFill/>
        </p:spPr>
        <p:txBody>
          <a:bodyPr wrap="square">
            <a:spAutoFit/>
          </a:bodyPr>
          <a:lstStyle/>
          <a:p>
            <a:pPr algn="l"/>
            <a:r>
              <a:rPr sz="1600" b="1" i="0" dirty="0">
                <a:solidFill>
                  <a:srgbClr val="C9A84C"/>
                </a:solidFill>
              </a:rPr>
              <a:t>01</a:t>
            </a:r>
          </a:p>
        </p:txBody>
      </p:sp>
      <p:sp>
        <p:nvSpPr>
          <p:cNvPr id="66" name="TextBox 8">
            <a:extLst>
              <a:ext uri="{FF2B5EF4-FFF2-40B4-BE49-F238E27FC236}">
                <a16:creationId xmlns:a16="http://schemas.microsoft.com/office/drawing/2014/main" id="{65EDEF82-40A5-1727-DFB4-88A268DF888A}"/>
              </a:ext>
            </a:extLst>
          </p:cNvPr>
          <p:cNvSpPr txBox="1"/>
          <p:nvPr/>
        </p:nvSpPr>
        <p:spPr>
          <a:xfrm>
            <a:off x="1014984" y="1339595"/>
            <a:ext cx="4754880" cy="307777"/>
          </a:xfrm>
          <a:prstGeom prst="rect">
            <a:avLst/>
          </a:prstGeom>
          <a:noFill/>
        </p:spPr>
        <p:txBody>
          <a:bodyPr wrap="square">
            <a:spAutoFit/>
          </a:bodyPr>
          <a:lstStyle/>
          <a:p>
            <a:r>
              <a:rPr lang="fr-CM" sz="1400" b="1" dirty="0">
                <a:solidFill>
                  <a:schemeClr val="bg1"/>
                </a:solidFill>
              </a:rPr>
              <a:t>Commanditaire</a:t>
            </a:r>
            <a:endParaRPr sz="1400" b="1" i="0" dirty="0">
              <a:solidFill>
                <a:schemeClr val="bg1"/>
              </a:solidFill>
            </a:endParaRPr>
          </a:p>
        </p:txBody>
      </p:sp>
      <p:sp>
        <p:nvSpPr>
          <p:cNvPr id="68" name="TextBox 10">
            <a:extLst>
              <a:ext uri="{FF2B5EF4-FFF2-40B4-BE49-F238E27FC236}">
                <a16:creationId xmlns:a16="http://schemas.microsoft.com/office/drawing/2014/main" id="{543F2FED-006F-39C8-F1CF-A7729BDC2FDB}"/>
              </a:ext>
            </a:extLst>
          </p:cNvPr>
          <p:cNvSpPr txBox="1"/>
          <p:nvPr/>
        </p:nvSpPr>
        <p:spPr>
          <a:xfrm>
            <a:off x="1225296" y="1741501"/>
            <a:ext cx="4480560" cy="276999"/>
          </a:xfrm>
          <a:prstGeom prst="rect">
            <a:avLst/>
          </a:prstGeom>
          <a:noFill/>
        </p:spPr>
        <p:txBody>
          <a:bodyPr wrap="square">
            <a:spAutoFit/>
          </a:bodyPr>
          <a:lstStyle/>
          <a:p>
            <a:r>
              <a:rPr lang="fr-CM" sz="1200" dirty="0"/>
              <a:t>INUBIL - contexte et enjeux </a:t>
            </a:r>
            <a:endParaRPr sz="1200" b="0" i="1" dirty="0">
              <a:solidFill>
                <a:srgbClr val="444455"/>
              </a:solidFill>
            </a:endParaRPr>
          </a:p>
        </p:txBody>
      </p:sp>
      <p:pic>
        <p:nvPicPr>
          <p:cNvPr id="69" name="Picture 16" descr="link.png">
            <a:extLst>
              <a:ext uri="{FF2B5EF4-FFF2-40B4-BE49-F238E27FC236}">
                <a16:creationId xmlns:a16="http://schemas.microsoft.com/office/drawing/2014/main" id="{E1633B94-2FFC-182B-BF1A-19D40F3F5D27}"/>
              </a:ext>
            </a:extLst>
          </p:cNvPr>
          <p:cNvPicPr>
            <a:picLocks noChangeAspect="1"/>
          </p:cNvPicPr>
          <p:nvPr/>
        </p:nvPicPr>
        <p:blipFill>
          <a:blip r:embed="rId10"/>
          <a:stretch>
            <a:fillRect/>
          </a:stretch>
        </p:blipFill>
        <p:spPr>
          <a:xfrm>
            <a:off x="419145" y="1588342"/>
            <a:ext cx="550119" cy="528154"/>
          </a:xfrm>
          <a:prstGeom prst="rect">
            <a:avLst/>
          </a:prstGeom>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11457A3-5498-DA08-42C7-9A82FE6DEA5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CBF9E4F-25AA-94D7-6DB1-4CCACB3ECE2B}"/>
              </a:ext>
            </a:extLst>
          </p:cNvPr>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90304B86-FA1A-57AA-ABE7-7897726E30ED}"/>
              </a:ext>
            </a:extLst>
          </p:cNvPr>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D87F6DD0-339F-6C4E-069C-D9191D9A6589}"/>
              </a:ext>
            </a:extLst>
          </p:cNvPr>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5A34CA1-FE5C-FA17-636A-FFEBEC353CA0}"/>
              </a:ext>
            </a:extLst>
          </p:cNvPr>
          <p:cNvSpPr txBox="1"/>
          <p:nvPr/>
        </p:nvSpPr>
        <p:spPr>
          <a:xfrm>
            <a:off x="393192" y="210312"/>
            <a:ext cx="2286000" cy="230832"/>
          </a:xfrm>
          <a:prstGeom prst="rect">
            <a:avLst/>
          </a:prstGeom>
          <a:noFill/>
        </p:spPr>
        <p:txBody>
          <a:bodyPr wrap="square">
            <a:spAutoFit/>
          </a:bodyPr>
          <a:lstStyle/>
          <a:p>
            <a:r>
              <a:rPr sz="900" b="1" i="0" dirty="0">
                <a:solidFill>
                  <a:srgbClr val="1A1A2E"/>
                </a:solidFill>
              </a:rPr>
              <a:t>02 </a:t>
            </a:r>
            <a:r>
              <a:rPr lang="fr-FR" sz="900" b="1" i="0" dirty="0">
                <a:solidFill>
                  <a:srgbClr val="1A1A2E"/>
                </a:solidFill>
              </a:rPr>
              <a:t>-</a:t>
            </a:r>
            <a:r>
              <a:rPr sz="900" b="1" i="0" dirty="0">
                <a:solidFill>
                  <a:srgbClr val="1A1A2E"/>
                </a:solidFill>
              </a:rPr>
              <a:t> </a:t>
            </a:r>
            <a:r>
              <a:rPr lang="fr-CM" sz="900" b="1" dirty="0"/>
              <a:t>COMMANDITAIRE</a:t>
            </a:r>
            <a:r>
              <a:rPr lang="fr-CM" sz="900" dirty="0"/>
              <a:t> </a:t>
            </a:r>
            <a:endParaRPr sz="900" b="1" i="0" dirty="0">
              <a:solidFill>
                <a:srgbClr val="1A1A2E"/>
              </a:solidFill>
            </a:endParaRPr>
          </a:p>
        </p:txBody>
      </p:sp>
      <p:sp>
        <p:nvSpPr>
          <p:cNvPr id="6" name="TextBox 5">
            <a:extLst>
              <a:ext uri="{FF2B5EF4-FFF2-40B4-BE49-F238E27FC236}">
                <a16:creationId xmlns:a16="http://schemas.microsoft.com/office/drawing/2014/main" id="{6977F666-1176-DFA1-E4CD-A8A016C2AD5F}"/>
              </a:ext>
            </a:extLst>
          </p:cNvPr>
          <p:cNvSpPr txBox="1"/>
          <p:nvPr/>
        </p:nvSpPr>
        <p:spPr>
          <a:xfrm>
            <a:off x="374904" y="535053"/>
            <a:ext cx="9144000" cy="523220"/>
          </a:xfrm>
          <a:prstGeom prst="rect">
            <a:avLst/>
          </a:prstGeom>
          <a:noFill/>
        </p:spPr>
        <p:txBody>
          <a:bodyPr wrap="square">
            <a:spAutoFit/>
          </a:bodyPr>
          <a:lstStyle/>
          <a:p>
            <a:r>
              <a:rPr lang="fr-FR" sz="2800" b="1" dirty="0">
                <a:solidFill>
                  <a:schemeClr val="bg1"/>
                </a:solidFill>
                <a:latin typeface="Aptos" panose="020B0004020202020204" pitchFamily="34" charset="0"/>
              </a:rPr>
              <a:t>Présentation du Maitre d'Ouvrage : INUBIL </a:t>
            </a:r>
          </a:p>
        </p:txBody>
      </p:sp>
      <p:sp>
        <p:nvSpPr>
          <p:cNvPr id="7" name="Rectangle 6">
            <a:extLst>
              <a:ext uri="{FF2B5EF4-FFF2-40B4-BE49-F238E27FC236}">
                <a16:creationId xmlns:a16="http://schemas.microsoft.com/office/drawing/2014/main" id="{5F00F400-1C79-9C60-848A-006968D5F99F}"/>
              </a:ext>
            </a:extLst>
          </p:cNvPr>
          <p:cNvSpPr/>
          <p:nvPr/>
        </p:nvSpPr>
        <p:spPr>
          <a:xfrm>
            <a:off x="347472" y="1371600"/>
            <a:ext cx="11475720" cy="86868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FB92693C-8405-2A86-0C41-AC42C576F08E}"/>
              </a:ext>
            </a:extLst>
          </p:cNvPr>
          <p:cNvSpPr/>
          <p:nvPr/>
        </p:nvSpPr>
        <p:spPr>
          <a:xfrm>
            <a:off x="347472" y="1371600"/>
            <a:ext cx="54864" cy="8686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34AB0FD2-9028-EC95-4484-5CBB37C45B60}"/>
              </a:ext>
            </a:extLst>
          </p:cNvPr>
          <p:cNvSpPr txBox="1"/>
          <p:nvPr/>
        </p:nvSpPr>
        <p:spPr>
          <a:xfrm>
            <a:off x="530352" y="1481328"/>
            <a:ext cx="11064240" cy="307777"/>
          </a:xfrm>
          <a:prstGeom prst="rect">
            <a:avLst/>
          </a:prstGeom>
          <a:noFill/>
        </p:spPr>
        <p:txBody>
          <a:bodyPr wrap="square">
            <a:spAutoFit/>
          </a:bodyPr>
          <a:lstStyle/>
          <a:p>
            <a:r>
              <a:rPr lang="fr-CM" sz="1400" dirty="0"/>
              <a:t>Qui est INUBIL ? : Institut Universitaire Bilingue du Littoral</a:t>
            </a:r>
            <a:endParaRPr sz="1400" b="0" i="0" dirty="0">
              <a:solidFill>
                <a:srgbClr val="1A1A2E"/>
              </a:solidFill>
            </a:endParaRPr>
          </a:p>
        </p:txBody>
      </p:sp>
      <p:sp>
        <p:nvSpPr>
          <p:cNvPr id="10" name="Rectangle 9">
            <a:extLst>
              <a:ext uri="{FF2B5EF4-FFF2-40B4-BE49-F238E27FC236}">
                <a16:creationId xmlns:a16="http://schemas.microsoft.com/office/drawing/2014/main" id="{B7D0036E-BAC8-407C-6D78-8AFEA16B6662}"/>
              </a:ext>
            </a:extLst>
          </p:cNvPr>
          <p:cNvSpPr/>
          <p:nvPr/>
        </p:nvSpPr>
        <p:spPr>
          <a:xfrm>
            <a:off x="347472" y="2423160"/>
            <a:ext cx="3749039" cy="43616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B6D4F4DE-6BC3-6255-04C5-720D53705366}"/>
              </a:ext>
            </a:extLst>
          </p:cNvPr>
          <p:cNvSpPr/>
          <p:nvPr/>
        </p:nvSpPr>
        <p:spPr>
          <a:xfrm>
            <a:off x="347472" y="2423160"/>
            <a:ext cx="3749039" cy="54864"/>
          </a:xfrm>
          <a:prstGeom prst="rect">
            <a:avLst/>
          </a:prstGeom>
          <a:solidFill>
            <a:srgbClr val="22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770E1A46-D41C-9DC7-AE17-1F7A68BD9ABA}"/>
              </a:ext>
            </a:extLst>
          </p:cNvPr>
          <p:cNvSpPr txBox="1"/>
          <p:nvPr/>
        </p:nvSpPr>
        <p:spPr>
          <a:xfrm>
            <a:off x="1474336" y="2699266"/>
            <a:ext cx="2286000" cy="369332"/>
          </a:xfrm>
          <a:prstGeom prst="rect">
            <a:avLst/>
          </a:prstGeom>
          <a:noFill/>
        </p:spPr>
        <p:txBody>
          <a:bodyPr wrap="square">
            <a:spAutoFit/>
          </a:bodyPr>
          <a:lstStyle/>
          <a:p>
            <a:r>
              <a:rPr lang="fr-FR" b="1" dirty="0">
                <a:solidFill>
                  <a:srgbClr val="C9A84C"/>
                </a:solidFill>
                <a:latin typeface="Aptos" panose="020B0004020202020204" pitchFamily="34" charset="0"/>
              </a:rPr>
              <a:t>Fiche d’</a:t>
            </a:r>
            <a:r>
              <a:rPr lang="fr-FR" b="1" dirty="0" err="1">
                <a:solidFill>
                  <a:srgbClr val="C9A84C"/>
                </a:solidFill>
                <a:latin typeface="Aptos" panose="020B0004020202020204" pitchFamily="34" charset="0"/>
              </a:rPr>
              <a:t>identite</a:t>
            </a:r>
            <a:r>
              <a:rPr lang="fr-FR" b="1" dirty="0">
                <a:solidFill>
                  <a:srgbClr val="C9A84C"/>
                </a:solidFill>
                <a:latin typeface="Aptos" panose="020B0004020202020204" pitchFamily="34" charset="0"/>
              </a:rPr>
              <a:t> </a:t>
            </a:r>
          </a:p>
        </p:txBody>
      </p:sp>
      <p:sp>
        <p:nvSpPr>
          <p:cNvPr id="14" name="TextBox 13">
            <a:extLst>
              <a:ext uri="{FF2B5EF4-FFF2-40B4-BE49-F238E27FC236}">
                <a16:creationId xmlns:a16="http://schemas.microsoft.com/office/drawing/2014/main" id="{8C2A8419-5F25-83DF-C60F-D2EB12091375}"/>
              </a:ext>
            </a:extLst>
          </p:cNvPr>
          <p:cNvSpPr txBox="1"/>
          <p:nvPr/>
        </p:nvSpPr>
        <p:spPr>
          <a:xfrm>
            <a:off x="525780" y="3249499"/>
            <a:ext cx="3383280" cy="2969787"/>
          </a:xfrm>
          <a:prstGeom prst="rect">
            <a:avLst/>
          </a:prstGeom>
          <a:noFill/>
        </p:spPr>
        <p:txBody>
          <a:bodyPr wrap="square">
            <a:spAutoFit/>
          </a:bodyPr>
          <a:lstStyle/>
          <a:p>
            <a:pPr algn="just">
              <a:lnSpc>
                <a:spcPct val="150000"/>
              </a:lnSpc>
            </a:pPr>
            <a:endParaRPr lang="fr-FR" sz="1400" dirty="0">
              <a:solidFill>
                <a:schemeClr val="bg1"/>
              </a:solidFill>
              <a:latin typeface="Aptos" panose="020B0004020202020204" pitchFamily="34" charset="0"/>
            </a:endParaRPr>
          </a:p>
          <a:p>
            <a:pPr algn="just">
              <a:lnSpc>
                <a:spcPct val="150000"/>
              </a:lnSpc>
            </a:pPr>
            <a:r>
              <a:rPr lang="fr-FR" sz="1400" dirty="0">
                <a:solidFill>
                  <a:schemeClr val="bg1"/>
                </a:solidFill>
                <a:latin typeface="Aptos" panose="020B0004020202020204" pitchFamily="34" charset="0"/>
              </a:rPr>
              <a:t>Localisation : Bonamoussadi, Douala (Cameroun)</a:t>
            </a:r>
          </a:p>
          <a:p>
            <a:pPr algn="just">
              <a:lnSpc>
                <a:spcPct val="150000"/>
              </a:lnSpc>
            </a:pPr>
            <a:r>
              <a:rPr lang="fr-FR" sz="1400" dirty="0">
                <a:solidFill>
                  <a:schemeClr val="bg1"/>
                </a:solidFill>
                <a:latin typeface="Aptos" panose="020B0004020202020204" pitchFamily="34" charset="0"/>
              </a:rPr>
              <a:t>Création : 2006 </a:t>
            </a:r>
            <a:r>
              <a:rPr lang="fr-FR" sz="1400" dirty="0">
                <a:solidFill>
                  <a:schemeClr val="bg1"/>
                </a:solidFill>
              </a:rPr>
              <a:t>Arrêté ministériel N°06/0119/MINESUP</a:t>
            </a:r>
            <a:r>
              <a:rPr lang="fr-FR" sz="1400" dirty="0">
                <a:solidFill>
                  <a:schemeClr val="bg1"/>
                </a:solidFill>
                <a:latin typeface="Aptos" panose="020B0004020202020204" pitchFamily="34" charset="0"/>
              </a:rPr>
              <a:t>(Anciennement ISTAMA)</a:t>
            </a:r>
          </a:p>
          <a:p>
            <a:pPr algn="just">
              <a:lnSpc>
                <a:spcPct val="150000"/>
              </a:lnSpc>
            </a:pPr>
            <a:r>
              <a:rPr lang="fr-FR" sz="1400" dirty="0">
                <a:solidFill>
                  <a:schemeClr val="bg1"/>
                </a:solidFill>
                <a:latin typeface="Aptos" panose="020B0004020202020204" pitchFamily="34" charset="0"/>
              </a:rPr>
              <a:t>Filières : </a:t>
            </a:r>
            <a:r>
              <a:rPr lang="fr-CM" sz="1400" dirty="0">
                <a:solidFill>
                  <a:schemeClr val="bg1"/>
                </a:solidFill>
                <a:latin typeface="Aptos" panose="020B0004020202020204" pitchFamily="34" charset="0"/>
              </a:rPr>
              <a:t>Génie Informatique, Génie Civil, Génie des Télécommunications, Génie Industriel, Génie Mécanique….</a:t>
            </a:r>
            <a:r>
              <a:rPr lang="fr-FR" sz="1400" dirty="0">
                <a:solidFill>
                  <a:schemeClr val="bg1"/>
                </a:solidFill>
                <a:latin typeface="Aptos" panose="020B0004020202020204" pitchFamily="34" charset="0"/>
              </a:rPr>
              <a:t> </a:t>
            </a:r>
            <a:endParaRPr lang="fr-CM" sz="1400" dirty="0">
              <a:solidFill>
                <a:schemeClr val="bg1"/>
              </a:solidFill>
              <a:latin typeface="Aptos" panose="020B0004020202020204" pitchFamily="34" charset="0"/>
            </a:endParaRPr>
          </a:p>
        </p:txBody>
      </p:sp>
      <p:sp>
        <p:nvSpPr>
          <p:cNvPr id="25" name="TextBox 24">
            <a:extLst>
              <a:ext uri="{FF2B5EF4-FFF2-40B4-BE49-F238E27FC236}">
                <a16:creationId xmlns:a16="http://schemas.microsoft.com/office/drawing/2014/main" id="{38FE9F4E-A448-4343-9D6B-28D6204CEA1C}"/>
              </a:ext>
            </a:extLst>
          </p:cNvPr>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3</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pic>
        <p:nvPicPr>
          <p:cNvPr id="26" name="Picture 16" descr="link.png">
            <a:extLst>
              <a:ext uri="{FF2B5EF4-FFF2-40B4-BE49-F238E27FC236}">
                <a16:creationId xmlns:a16="http://schemas.microsoft.com/office/drawing/2014/main" id="{71C4C951-6AAD-1EAD-E417-2E4DDF826B0A}"/>
              </a:ext>
            </a:extLst>
          </p:cNvPr>
          <p:cNvPicPr>
            <a:picLocks noChangeAspect="1"/>
          </p:cNvPicPr>
          <p:nvPr/>
        </p:nvPicPr>
        <p:blipFill>
          <a:blip r:embed="rId3"/>
          <a:stretch>
            <a:fillRect/>
          </a:stretch>
        </p:blipFill>
        <p:spPr>
          <a:xfrm>
            <a:off x="459352" y="2514600"/>
            <a:ext cx="868680" cy="868680"/>
          </a:xfrm>
          <a:prstGeom prst="rect">
            <a:avLst/>
          </a:prstGeom>
        </p:spPr>
      </p:pic>
      <p:pic>
        <p:nvPicPr>
          <p:cNvPr id="27" name="Picture 2" descr="École Nationale Supérieure Polytechnique de Yaoundé ...">
            <a:extLst>
              <a:ext uri="{FF2B5EF4-FFF2-40B4-BE49-F238E27FC236}">
                <a16:creationId xmlns:a16="http://schemas.microsoft.com/office/drawing/2014/main" id="{3627EBB7-50D9-1C4D-33BD-2E10D7B54A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7212" y="2363748"/>
            <a:ext cx="2466975" cy="14097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8" name="Picture 6" descr="Université de Dschang – Le site officiel | 2iE">
            <a:extLst>
              <a:ext uri="{FF2B5EF4-FFF2-40B4-BE49-F238E27FC236}">
                <a16:creationId xmlns:a16="http://schemas.microsoft.com/office/drawing/2014/main" id="{4A2D69F4-ACF6-7963-C5C4-F676BBA530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4888" y="2450592"/>
            <a:ext cx="184785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0">
            <a:extLst>
              <a:ext uri="{FF2B5EF4-FFF2-40B4-BE49-F238E27FC236}">
                <a16:creationId xmlns:a16="http://schemas.microsoft.com/office/drawing/2014/main" id="{F8FFEF75-3EF0-3974-3A11-46E0BEC6BB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7212" y="3896916"/>
            <a:ext cx="3838575" cy="119062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0" name="Picture 12" descr="IUT de Saint-Denis, Université Paris 13 - Campus, Formations et Avis |  Diplomeo.com">
            <a:extLst>
              <a:ext uri="{FF2B5EF4-FFF2-40B4-BE49-F238E27FC236}">
                <a16:creationId xmlns:a16="http://schemas.microsoft.com/office/drawing/2014/main" id="{CD6B0E04-D53F-45A0-9468-DD02D42151D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80763" y="5221879"/>
            <a:ext cx="4371975" cy="104775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4" descr="Ministere de l'Enseignement Supérieur,Cap sur le Numérique Universitaire |  Yaoundé">
            <a:extLst>
              <a:ext uri="{FF2B5EF4-FFF2-40B4-BE49-F238E27FC236}">
                <a16:creationId xmlns:a16="http://schemas.microsoft.com/office/drawing/2014/main" id="{A5CEA829-9573-D54F-C353-DCDD9C259F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23439" y="2395118"/>
            <a:ext cx="2085975" cy="2190750"/>
          </a:xfrm>
          <a:prstGeom prst="rect">
            <a:avLst/>
          </a:prstGeom>
          <a:noFill/>
          <a:extLst>
            <a:ext uri="{909E8E84-426E-40DD-AFC4-6F175D3DCCD1}">
              <a14:hiddenFill xmlns:a14="http://schemas.microsoft.com/office/drawing/2010/main">
                <a:solidFill>
                  <a:srgbClr val="FFFFFF"/>
                </a:solidFill>
              </a14:hiddenFill>
            </a:ext>
          </a:extLst>
        </p:spPr>
      </p:pic>
      <p:pic>
        <p:nvPicPr>
          <p:cNvPr id="32" name="Image 31">
            <a:extLst>
              <a:ext uri="{FF2B5EF4-FFF2-40B4-BE49-F238E27FC236}">
                <a16:creationId xmlns:a16="http://schemas.microsoft.com/office/drawing/2014/main" id="{AB16B099-85C0-D4C0-FADB-4A4F54E5D884}"/>
              </a:ext>
            </a:extLst>
          </p:cNvPr>
          <p:cNvPicPr>
            <a:picLocks noChangeAspect="1"/>
          </p:cNvPicPr>
          <p:nvPr/>
        </p:nvPicPr>
        <p:blipFill>
          <a:blip r:embed="rId9"/>
          <a:stretch>
            <a:fillRect/>
          </a:stretch>
        </p:blipFill>
        <p:spPr>
          <a:xfrm>
            <a:off x="9458628" y="4634179"/>
            <a:ext cx="1800225" cy="1809750"/>
          </a:xfrm>
          <a:prstGeom prst="rect">
            <a:avLst/>
          </a:prstGeom>
        </p:spPr>
      </p:pic>
    </p:spTree>
    <p:extLst>
      <p:ext uri="{BB962C8B-B14F-4D97-AF65-F5344CB8AC3E}">
        <p14:creationId xmlns:p14="http://schemas.microsoft.com/office/powerpoint/2010/main" val="2196785551"/>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210312"/>
            <a:ext cx="2423160" cy="230832"/>
          </a:xfrm>
          <a:prstGeom prst="rect">
            <a:avLst/>
          </a:prstGeom>
          <a:noFill/>
        </p:spPr>
        <p:txBody>
          <a:bodyPr wrap="square">
            <a:spAutoFit/>
          </a:bodyPr>
          <a:lstStyle/>
          <a:p>
            <a:r>
              <a:rPr sz="900" i="0" dirty="0">
                <a:solidFill>
                  <a:srgbClr val="1A1A2E"/>
                </a:solidFill>
              </a:rPr>
              <a:t>0</a:t>
            </a:r>
            <a:r>
              <a:rPr lang="fr-FR" sz="900" i="0" dirty="0">
                <a:solidFill>
                  <a:srgbClr val="1A1A2E"/>
                </a:solidFill>
              </a:rPr>
              <a:t>3</a:t>
            </a:r>
            <a:r>
              <a:rPr sz="900" i="0" dirty="0">
                <a:solidFill>
                  <a:srgbClr val="1A1A2E"/>
                </a:solidFill>
              </a:rPr>
              <a:t> </a:t>
            </a:r>
            <a:r>
              <a:rPr lang="fr-FR" sz="900" i="0" dirty="0">
                <a:solidFill>
                  <a:srgbClr val="1A1A2E"/>
                </a:solidFill>
              </a:rPr>
              <a:t>- </a:t>
            </a:r>
            <a:r>
              <a:rPr sz="900" i="0" dirty="0">
                <a:solidFill>
                  <a:srgbClr val="1A1A2E"/>
                </a:solidFill>
              </a:rPr>
              <a:t> </a:t>
            </a:r>
            <a:r>
              <a:rPr lang="fr-CM" sz="900" dirty="0"/>
              <a:t>PROBLÉMATIQUE &amp; OBJECTIFS DU PROJET</a:t>
            </a:r>
            <a:endParaRPr sz="900" i="0" dirty="0">
              <a:solidFill>
                <a:srgbClr val="1A1A2E"/>
              </a:solidFill>
            </a:endParaRPr>
          </a:p>
        </p:txBody>
      </p:sp>
      <p:sp>
        <p:nvSpPr>
          <p:cNvPr id="5" name="TextBox 4"/>
          <p:cNvSpPr txBox="1"/>
          <p:nvPr/>
        </p:nvSpPr>
        <p:spPr>
          <a:xfrm>
            <a:off x="502920" y="594360"/>
            <a:ext cx="10972800" cy="1188720"/>
          </a:xfrm>
          <a:prstGeom prst="rect">
            <a:avLst/>
          </a:prstGeom>
          <a:noFill/>
        </p:spPr>
        <p:txBody>
          <a:bodyPr wrap="square">
            <a:spAutoFit/>
          </a:bodyPr>
          <a:lstStyle/>
          <a:p>
            <a:pPr algn="l"/>
            <a:r>
              <a:rPr sz="2600" b="1" i="0" dirty="0">
                <a:solidFill>
                  <a:srgbClr val="FFFFFF"/>
                </a:solidFill>
              </a:rPr>
              <a:t>Verifier un </a:t>
            </a:r>
            <a:r>
              <a:rPr sz="2600" b="1" i="0" dirty="0" err="1">
                <a:solidFill>
                  <a:srgbClr val="FFFFFF"/>
                </a:solidFill>
              </a:rPr>
              <a:t>diplome</a:t>
            </a:r>
            <a:r>
              <a:rPr sz="2600" b="1" i="0" dirty="0">
                <a:solidFill>
                  <a:srgbClr val="FFFFFF"/>
                </a:solidFill>
              </a:rPr>
              <a:t> </a:t>
            </a:r>
            <a:r>
              <a:rPr sz="2600" b="1" i="0" dirty="0" err="1">
                <a:solidFill>
                  <a:srgbClr val="FFFFFF"/>
                </a:solidFill>
              </a:rPr>
              <a:t>aujourd'hui</a:t>
            </a:r>
            <a:r>
              <a:rPr sz="2600" b="1" i="0" dirty="0">
                <a:solidFill>
                  <a:srgbClr val="FFFFFF"/>
                </a:solidFill>
              </a:rPr>
              <a:t> :
un processus long, </a:t>
            </a:r>
            <a:r>
              <a:rPr sz="2600" b="1" i="0" dirty="0" err="1">
                <a:solidFill>
                  <a:srgbClr val="FFFFFF"/>
                </a:solidFill>
              </a:rPr>
              <a:t>manuel</a:t>
            </a:r>
            <a:r>
              <a:rPr sz="2600" b="1" i="0" dirty="0">
                <a:solidFill>
                  <a:srgbClr val="FFFFFF"/>
                </a:solidFill>
              </a:rPr>
              <a:t> et sans </a:t>
            </a:r>
            <a:r>
              <a:rPr sz="2600" b="1" i="0" dirty="0" err="1">
                <a:solidFill>
                  <a:srgbClr val="FFFFFF"/>
                </a:solidFill>
              </a:rPr>
              <a:t>tracabilite</a:t>
            </a:r>
            <a:endParaRPr sz="2600" b="1" i="0" dirty="0">
              <a:solidFill>
                <a:srgbClr val="FFFFFF"/>
              </a:solidFill>
            </a:endParaRPr>
          </a:p>
        </p:txBody>
      </p:sp>
      <p:sp>
        <p:nvSpPr>
          <p:cNvPr id="6" name="Rectangle 5"/>
          <p:cNvSpPr/>
          <p:nvPr/>
        </p:nvSpPr>
        <p:spPr>
          <a:xfrm>
            <a:off x="384048" y="192024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4048" y="192024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briefcase.png"/>
          <p:cNvPicPr>
            <a:picLocks noChangeAspect="1"/>
          </p:cNvPicPr>
          <p:nvPr/>
        </p:nvPicPr>
        <p:blipFill>
          <a:blip r:embed="rId3"/>
          <a:stretch>
            <a:fillRect/>
          </a:stretch>
        </p:blipFill>
        <p:spPr>
          <a:xfrm>
            <a:off x="521208" y="2029968"/>
            <a:ext cx="475488" cy="475488"/>
          </a:xfrm>
          <a:prstGeom prst="rect">
            <a:avLst/>
          </a:prstGeom>
        </p:spPr>
      </p:pic>
      <p:sp>
        <p:nvSpPr>
          <p:cNvPr id="9" name="TextBox 8"/>
          <p:cNvSpPr txBox="1"/>
          <p:nvPr/>
        </p:nvSpPr>
        <p:spPr>
          <a:xfrm>
            <a:off x="1133856" y="2029968"/>
            <a:ext cx="2834640" cy="384048"/>
          </a:xfrm>
          <a:prstGeom prst="rect">
            <a:avLst/>
          </a:prstGeom>
          <a:noFill/>
        </p:spPr>
        <p:txBody>
          <a:bodyPr wrap="square">
            <a:spAutoFit/>
          </a:bodyPr>
          <a:lstStyle/>
          <a:p>
            <a:pPr algn="l"/>
            <a:r>
              <a:rPr sz="1300" b="1" i="0">
                <a:solidFill>
                  <a:srgbClr val="C9A84C"/>
                </a:solidFill>
              </a:rPr>
              <a:t>Recrutement</a:t>
            </a:r>
          </a:p>
        </p:txBody>
      </p:sp>
      <p:sp>
        <p:nvSpPr>
          <p:cNvPr id="10" name="TextBox 9"/>
          <p:cNvSpPr txBox="1"/>
          <p:nvPr/>
        </p:nvSpPr>
        <p:spPr>
          <a:xfrm>
            <a:off x="1133856" y="2414016"/>
            <a:ext cx="2834640" cy="749808"/>
          </a:xfrm>
          <a:prstGeom prst="rect">
            <a:avLst/>
          </a:prstGeom>
          <a:noFill/>
        </p:spPr>
        <p:txBody>
          <a:bodyPr wrap="square">
            <a:spAutoFit/>
          </a:bodyPr>
          <a:lstStyle/>
          <a:p>
            <a:pPr algn="l"/>
            <a:r>
              <a:rPr sz="1100" b="0" i="0">
                <a:solidFill>
                  <a:srgbClr val="F4F4F8"/>
                </a:solidFill>
              </a:rPr>
              <a:t>Un employeur veut
confirmer le diplome
d'un candidat</a:t>
            </a:r>
          </a:p>
        </p:txBody>
      </p:sp>
      <p:sp>
        <p:nvSpPr>
          <p:cNvPr id="11" name="Rectangle 10"/>
          <p:cNvSpPr/>
          <p:nvPr/>
        </p:nvSpPr>
        <p:spPr>
          <a:xfrm>
            <a:off x="4315968" y="192024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15968" y="192024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award.png"/>
          <p:cNvPicPr>
            <a:picLocks noChangeAspect="1"/>
          </p:cNvPicPr>
          <p:nvPr/>
        </p:nvPicPr>
        <p:blipFill>
          <a:blip r:embed="rId4"/>
          <a:stretch>
            <a:fillRect/>
          </a:stretch>
        </p:blipFill>
        <p:spPr>
          <a:xfrm>
            <a:off x="4453128" y="2029968"/>
            <a:ext cx="475488" cy="475488"/>
          </a:xfrm>
          <a:prstGeom prst="rect">
            <a:avLst/>
          </a:prstGeom>
        </p:spPr>
      </p:pic>
      <p:sp>
        <p:nvSpPr>
          <p:cNvPr id="14" name="TextBox 13"/>
          <p:cNvSpPr txBox="1"/>
          <p:nvPr/>
        </p:nvSpPr>
        <p:spPr>
          <a:xfrm>
            <a:off x="5065776" y="2029968"/>
            <a:ext cx="2834640" cy="384048"/>
          </a:xfrm>
          <a:prstGeom prst="rect">
            <a:avLst/>
          </a:prstGeom>
          <a:noFill/>
        </p:spPr>
        <p:txBody>
          <a:bodyPr wrap="square">
            <a:spAutoFit/>
          </a:bodyPr>
          <a:lstStyle/>
          <a:p>
            <a:pPr algn="l"/>
            <a:r>
              <a:rPr sz="1300" b="1" i="0">
                <a:solidFill>
                  <a:srgbClr val="C9A84C"/>
                </a:solidFill>
              </a:rPr>
              <a:t>Admission universitaire</a:t>
            </a:r>
          </a:p>
        </p:txBody>
      </p:sp>
      <p:sp>
        <p:nvSpPr>
          <p:cNvPr id="15" name="TextBox 14"/>
          <p:cNvSpPr txBox="1"/>
          <p:nvPr/>
        </p:nvSpPr>
        <p:spPr>
          <a:xfrm>
            <a:off x="5065776" y="2414016"/>
            <a:ext cx="2834640" cy="749808"/>
          </a:xfrm>
          <a:prstGeom prst="rect">
            <a:avLst/>
          </a:prstGeom>
          <a:noFill/>
        </p:spPr>
        <p:txBody>
          <a:bodyPr wrap="square">
            <a:spAutoFit/>
          </a:bodyPr>
          <a:lstStyle/>
          <a:p>
            <a:pPr algn="l"/>
            <a:r>
              <a:rPr sz="1100" b="0" i="0">
                <a:solidFill>
                  <a:srgbClr val="F4F4F8"/>
                </a:solidFill>
              </a:rPr>
              <a:t>Une universite verifie
le niveau d'un etudiant
qui postule en master</a:t>
            </a:r>
          </a:p>
        </p:txBody>
      </p:sp>
      <p:sp>
        <p:nvSpPr>
          <p:cNvPr id="16" name="Rectangle 15"/>
          <p:cNvSpPr/>
          <p:nvPr/>
        </p:nvSpPr>
        <p:spPr>
          <a:xfrm>
            <a:off x="8247888" y="192024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47888" y="192024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trending-up.png"/>
          <p:cNvPicPr>
            <a:picLocks noChangeAspect="1"/>
          </p:cNvPicPr>
          <p:nvPr/>
        </p:nvPicPr>
        <p:blipFill>
          <a:blip r:embed="rId5"/>
          <a:stretch>
            <a:fillRect/>
          </a:stretch>
        </p:blipFill>
        <p:spPr>
          <a:xfrm>
            <a:off x="8385048" y="2029968"/>
            <a:ext cx="475488" cy="475488"/>
          </a:xfrm>
          <a:prstGeom prst="rect">
            <a:avLst/>
          </a:prstGeom>
        </p:spPr>
      </p:pic>
      <p:sp>
        <p:nvSpPr>
          <p:cNvPr id="19" name="TextBox 18"/>
          <p:cNvSpPr txBox="1"/>
          <p:nvPr/>
        </p:nvSpPr>
        <p:spPr>
          <a:xfrm>
            <a:off x="8997696" y="2029968"/>
            <a:ext cx="2834640" cy="384048"/>
          </a:xfrm>
          <a:prstGeom prst="rect">
            <a:avLst/>
          </a:prstGeom>
          <a:noFill/>
        </p:spPr>
        <p:txBody>
          <a:bodyPr wrap="square">
            <a:spAutoFit/>
          </a:bodyPr>
          <a:lstStyle/>
          <a:p>
            <a:pPr algn="l"/>
            <a:r>
              <a:rPr sz="1300" b="1" i="0">
                <a:solidFill>
                  <a:srgbClr val="C9A84C"/>
                </a:solidFill>
              </a:rPr>
              <a:t>Bourse d'etudes</a:t>
            </a:r>
          </a:p>
        </p:txBody>
      </p:sp>
      <p:sp>
        <p:nvSpPr>
          <p:cNvPr id="20" name="TextBox 19"/>
          <p:cNvSpPr txBox="1"/>
          <p:nvPr/>
        </p:nvSpPr>
        <p:spPr>
          <a:xfrm>
            <a:off x="8997696" y="2414016"/>
            <a:ext cx="2834640" cy="749808"/>
          </a:xfrm>
          <a:prstGeom prst="rect">
            <a:avLst/>
          </a:prstGeom>
          <a:noFill/>
        </p:spPr>
        <p:txBody>
          <a:bodyPr wrap="square">
            <a:spAutoFit/>
          </a:bodyPr>
          <a:lstStyle/>
          <a:p>
            <a:pPr algn="l"/>
            <a:r>
              <a:rPr sz="1100" b="0" i="0">
                <a:solidFill>
                  <a:srgbClr val="F4F4F8"/>
                </a:solidFill>
              </a:rPr>
              <a:t>Un organisme examine
le parcours academique
avant attribution</a:t>
            </a:r>
          </a:p>
        </p:txBody>
      </p:sp>
      <p:sp>
        <p:nvSpPr>
          <p:cNvPr id="21" name="Rectangle 20"/>
          <p:cNvSpPr/>
          <p:nvPr/>
        </p:nvSpPr>
        <p:spPr>
          <a:xfrm>
            <a:off x="384048" y="342900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84048" y="342900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globe.png"/>
          <p:cNvPicPr>
            <a:picLocks noChangeAspect="1"/>
          </p:cNvPicPr>
          <p:nvPr/>
        </p:nvPicPr>
        <p:blipFill>
          <a:blip r:embed="rId6"/>
          <a:stretch>
            <a:fillRect/>
          </a:stretch>
        </p:blipFill>
        <p:spPr>
          <a:xfrm>
            <a:off x="521208" y="3538728"/>
            <a:ext cx="475488" cy="475488"/>
          </a:xfrm>
          <a:prstGeom prst="rect">
            <a:avLst/>
          </a:prstGeom>
        </p:spPr>
      </p:pic>
      <p:sp>
        <p:nvSpPr>
          <p:cNvPr id="24" name="TextBox 23"/>
          <p:cNvSpPr txBox="1"/>
          <p:nvPr/>
        </p:nvSpPr>
        <p:spPr>
          <a:xfrm>
            <a:off x="1133856" y="3538728"/>
            <a:ext cx="2834640" cy="384048"/>
          </a:xfrm>
          <a:prstGeom prst="rect">
            <a:avLst/>
          </a:prstGeom>
          <a:noFill/>
        </p:spPr>
        <p:txBody>
          <a:bodyPr wrap="square">
            <a:spAutoFit/>
          </a:bodyPr>
          <a:lstStyle/>
          <a:p>
            <a:pPr algn="l"/>
            <a:r>
              <a:rPr sz="1300" b="1" i="0">
                <a:solidFill>
                  <a:srgbClr val="C9A84C"/>
                </a:solidFill>
              </a:rPr>
              <a:t>Demande de visa</a:t>
            </a:r>
          </a:p>
        </p:txBody>
      </p:sp>
      <p:sp>
        <p:nvSpPr>
          <p:cNvPr id="25" name="TextBox 24"/>
          <p:cNvSpPr txBox="1"/>
          <p:nvPr/>
        </p:nvSpPr>
        <p:spPr>
          <a:xfrm>
            <a:off x="1133856" y="3922776"/>
            <a:ext cx="2834640" cy="749808"/>
          </a:xfrm>
          <a:prstGeom prst="rect">
            <a:avLst/>
          </a:prstGeom>
          <a:noFill/>
        </p:spPr>
        <p:txBody>
          <a:bodyPr wrap="square">
            <a:spAutoFit/>
          </a:bodyPr>
          <a:lstStyle/>
          <a:p>
            <a:pPr algn="l"/>
            <a:r>
              <a:rPr sz="1100" b="0" i="0">
                <a:solidFill>
                  <a:srgbClr val="F4F4F8"/>
                </a:solidFill>
              </a:rPr>
              <a:t>Une ambassade controle
les diplomes d'un
candidant a l'immigration</a:t>
            </a:r>
          </a:p>
        </p:txBody>
      </p:sp>
      <p:sp>
        <p:nvSpPr>
          <p:cNvPr id="26" name="Rectangle 25"/>
          <p:cNvSpPr/>
          <p:nvPr/>
        </p:nvSpPr>
        <p:spPr>
          <a:xfrm>
            <a:off x="4315968" y="342900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315968" y="342900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shield.png"/>
          <p:cNvPicPr>
            <a:picLocks noChangeAspect="1"/>
          </p:cNvPicPr>
          <p:nvPr/>
        </p:nvPicPr>
        <p:blipFill>
          <a:blip r:embed="rId7"/>
          <a:stretch>
            <a:fillRect/>
          </a:stretch>
        </p:blipFill>
        <p:spPr>
          <a:xfrm>
            <a:off x="4453128" y="3538728"/>
            <a:ext cx="475488" cy="475488"/>
          </a:xfrm>
          <a:prstGeom prst="rect">
            <a:avLst/>
          </a:prstGeom>
        </p:spPr>
      </p:pic>
      <p:sp>
        <p:nvSpPr>
          <p:cNvPr id="29" name="TextBox 28"/>
          <p:cNvSpPr txBox="1"/>
          <p:nvPr/>
        </p:nvSpPr>
        <p:spPr>
          <a:xfrm>
            <a:off x="5065776" y="3538728"/>
            <a:ext cx="2834640" cy="384048"/>
          </a:xfrm>
          <a:prstGeom prst="rect">
            <a:avLst/>
          </a:prstGeom>
          <a:noFill/>
        </p:spPr>
        <p:txBody>
          <a:bodyPr wrap="square">
            <a:spAutoFit/>
          </a:bodyPr>
          <a:lstStyle/>
          <a:p>
            <a:pPr algn="l"/>
            <a:r>
              <a:rPr sz="1300" b="1" i="0">
                <a:solidFill>
                  <a:srgbClr val="C9A84C"/>
                </a:solidFill>
              </a:rPr>
              <a:t>Ordre professionnel</a:t>
            </a:r>
          </a:p>
        </p:txBody>
      </p:sp>
      <p:sp>
        <p:nvSpPr>
          <p:cNvPr id="30" name="TextBox 29"/>
          <p:cNvSpPr txBox="1"/>
          <p:nvPr/>
        </p:nvSpPr>
        <p:spPr>
          <a:xfrm>
            <a:off x="5065776" y="3922776"/>
            <a:ext cx="2834640" cy="749808"/>
          </a:xfrm>
          <a:prstGeom prst="rect">
            <a:avLst/>
          </a:prstGeom>
          <a:noFill/>
        </p:spPr>
        <p:txBody>
          <a:bodyPr wrap="square">
            <a:spAutoFit/>
          </a:bodyPr>
          <a:lstStyle/>
          <a:p>
            <a:pPr algn="l"/>
            <a:r>
              <a:rPr sz="1100" b="0" i="0">
                <a:solidFill>
                  <a:srgbClr val="F4F4F8"/>
                </a:solidFill>
              </a:rPr>
              <a:t>Medecin, ingenieur, avocat :
l'ordre verifie le diplome
avant toute admission</a:t>
            </a:r>
          </a:p>
        </p:txBody>
      </p:sp>
      <p:sp>
        <p:nvSpPr>
          <p:cNvPr id="31" name="Rectangle 30"/>
          <p:cNvSpPr/>
          <p:nvPr/>
        </p:nvSpPr>
        <p:spPr>
          <a:xfrm>
            <a:off x="8247888" y="342900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247888" y="342900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users.png"/>
          <p:cNvPicPr>
            <a:picLocks noChangeAspect="1"/>
          </p:cNvPicPr>
          <p:nvPr/>
        </p:nvPicPr>
        <p:blipFill>
          <a:blip r:embed="rId8"/>
          <a:stretch>
            <a:fillRect/>
          </a:stretch>
        </p:blipFill>
        <p:spPr>
          <a:xfrm>
            <a:off x="8385048" y="3538728"/>
            <a:ext cx="475488" cy="475488"/>
          </a:xfrm>
          <a:prstGeom prst="rect">
            <a:avLst/>
          </a:prstGeom>
        </p:spPr>
      </p:pic>
      <p:sp>
        <p:nvSpPr>
          <p:cNvPr id="34" name="TextBox 33"/>
          <p:cNvSpPr txBox="1"/>
          <p:nvPr/>
        </p:nvSpPr>
        <p:spPr>
          <a:xfrm>
            <a:off x="8997696" y="3538728"/>
            <a:ext cx="2834640" cy="384048"/>
          </a:xfrm>
          <a:prstGeom prst="rect">
            <a:avLst/>
          </a:prstGeom>
          <a:noFill/>
        </p:spPr>
        <p:txBody>
          <a:bodyPr wrap="square">
            <a:spAutoFit/>
          </a:bodyPr>
          <a:lstStyle/>
          <a:p>
            <a:pPr algn="l"/>
            <a:r>
              <a:rPr sz="1300" b="1" i="0">
                <a:solidFill>
                  <a:srgbClr val="C9A84C"/>
                </a:solidFill>
              </a:rPr>
              <a:t>Concours &amp; Fonct. pub.</a:t>
            </a:r>
          </a:p>
        </p:txBody>
      </p:sp>
      <p:sp>
        <p:nvSpPr>
          <p:cNvPr id="35" name="TextBox 34"/>
          <p:cNvSpPr txBox="1"/>
          <p:nvPr/>
        </p:nvSpPr>
        <p:spPr>
          <a:xfrm>
            <a:off x="8997696" y="3922776"/>
            <a:ext cx="2834640" cy="749808"/>
          </a:xfrm>
          <a:prstGeom prst="rect">
            <a:avLst/>
          </a:prstGeom>
          <a:noFill/>
        </p:spPr>
        <p:txBody>
          <a:bodyPr wrap="square">
            <a:spAutoFit/>
          </a:bodyPr>
          <a:lstStyle/>
          <a:p>
            <a:pPr algn="l"/>
            <a:r>
              <a:rPr sz="1100" b="0" i="0">
                <a:solidFill>
                  <a:srgbClr val="F4F4F8"/>
                </a:solidFill>
              </a:rPr>
              <a:t>Les jurys et commissions
verifient les titres
des candidats</a:t>
            </a:r>
          </a:p>
        </p:txBody>
      </p:sp>
      <p:sp>
        <p:nvSpPr>
          <p:cNvPr id="36" name="Rectangle 35"/>
          <p:cNvSpPr/>
          <p:nvPr/>
        </p:nvSpPr>
        <p:spPr>
          <a:xfrm>
            <a:off x="384048" y="5029200"/>
            <a:ext cx="1143000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84048" y="5102352"/>
            <a:ext cx="1143000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66928" y="5166360"/>
            <a:ext cx="10972800" cy="320040"/>
          </a:xfrm>
          <a:prstGeom prst="rect">
            <a:avLst/>
          </a:prstGeom>
          <a:noFill/>
        </p:spPr>
        <p:txBody>
          <a:bodyPr wrap="square">
            <a:spAutoFit/>
          </a:bodyPr>
          <a:lstStyle/>
          <a:p>
            <a:pPr algn="l"/>
            <a:r>
              <a:rPr sz="1300" b="1" i="0">
                <a:solidFill>
                  <a:srgbClr val="C9A84C"/>
                </a:solidFill>
              </a:rPr>
              <a:t>Dans tous ces cas, le processus est identique :</a:t>
            </a:r>
          </a:p>
        </p:txBody>
      </p:sp>
      <p:pic>
        <p:nvPicPr>
          <p:cNvPr id="39" name="Picture 38" descr="smartphone.png"/>
          <p:cNvPicPr>
            <a:picLocks noChangeAspect="1"/>
          </p:cNvPicPr>
          <p:nvPr/>
        </p:nvPicPr>
        <p:blipFill>
          <a:blip r:embed="rId9"/>
          <a:stretch>
            <a:fillRect/>
          </a:stretch>
        </p:blipFill>
        <p:spPr>
          <a:xfrm>
            <a:off x="502920" y="5577840"/>
            <a:ext cx="256032" cy="256032"/>
          </a:xfrm>
          <a:prstGeom prst="rect">
            <a:avLst/>
          </a:prstGeom>
        </p:spPr>
      </p:pic>
      <p:sp>
        <p:nvSpPr>
          <p:cNvPr id="40" name="TextBox 39"/>
          <p:cNvSpPr txBox="1"/>
          <p:nvPr/>
        </p:nvSpPr>
        <p:spPr>
          <a:xfrm>
            <a:off x="868680" y="5596128"/>
            <a:ext cx="10789920" cy="274320"/>
          </a:xfrm>
          <a:prstGeom prst="rect">
            <a:avLst/>
          </a:prstGeom>
          <a:noFill/>
        </p:spPr>
        <p:txBody>
          <a:bodyPr wrap="square">
            <a:spAutoFit/>
          </a:bodyPr>
          <a:lstStyle/>
          <a:p>
            <a:pPr algn="l"/>
            <a:r>
              <a:rPr sz="1200" b="0" i="0" dirty="0">
                <a:solidFill>
                  <a:srgbClr val="F4F4F8"/>
                </a:solidFill>
              </a:rPr>
              <a:t>Appel </a:t>
            </a:r>
            <a:r>
              <a:rPr sz="1200" b="0" i="0" dirty="0" err="1">
                <a:solidFill>
                  <a:srgbClr val="F4F4F8"/>
                </a:solidFill>
              </a:rPr>
              <a:t>telephonique</a:t>
            </a:r>
            <a:r>
              <a:rPr sz="1200" b="0" i="0" dirty="0">
                <a:solidFill>
                  <a:srgbClr val="F4F4F8"/>
                </a:solidFill>
              </a:rPr>
              <a:t> au secretariat </a:t>
            </a:r>
            <a:r>
              <a:rPr lang="fr-FR" sz="1200" b="0" i="0" dirty="0">
                <a:solidFill>
                  <a:srgbClr val="F4F4F8"/>
                </a:solidFill>
              </a:rPr>
              <a:t>-</a:t>
            </a:r>
            <a:r>
              <a:rPr sz="1200" b="0" i="0" dirty="0">
                <a:solidFill>
                  <a:srgbClr val="F4F4F8"/>
                </a:solidFill>
              </a:rPr>
              <a:t> qui </a:t>
            </a:r>
            <a:r>
              <a:rPr sz="1200" b="0" i="0" dirty="0" err="1">
                <a:solidFill>
                  <a:srgbClr val="F4F4F8"/>
                </a:solidFill>
              </a:rPr>
              <a:t>peut</a:t>
            </a:r>
            <a:r>
              <a:rPr sz="1200" b="0" i="0" dirty="0">
                <a:solidFill>
                  <a:srgbClr val="F4F4F8"/>
                </a:solidFill>
              </a:rPr>
              <a:t> ne pas </a:t>
            </a:r>
            <a:r>
              <a:rPr sz="1200" b="0" i="0" dirty="0" err="1">
                <a:solidFill>
                  <a:srgbClr val="F4F4F8"/>
                </a:solidFill>
              </a:rPr>
              <a:t>repondre</a:t>
            </a:r>
            <a:endParaRPr sz="1200" b="0" i="0" dirty="0">
              <a:solidFill>
                <a:srgbClr val="F4F4F8"/>
              </a:solidFill>
            </a:endParaRPr>
          </a:p>
        </p:txBody>
      </p:sp>
      <p:pic>
        <p:nvPicPr>
          <p:cNvPr id="41" name="Picture 40" descr="clock.png"/>
          <p:cNvPicPr>
            <a:picLocks noChangeAspect="1"/>
          </p:cNvPicPr>
          <p:nvPr/>
        </p:nvPicPr>
        <p:blipFill>
          <a:blip r:embed="rId10"/>
          <a:stretch>
            <a:fillRect/>
          </a:stretch>
        </p:blipFill>
        <p:spPr>
          <a:xfrm>
            <a:off x="502920" y="5907024"/>
            <a:ext cx="256032" cy="256032"/>
          </a:xfrm>
          <a:prstGeom prst="rect">
            <a:avLst/>
          </a:prstGeom>
        </p:spPr>
      </p:pic>
      <p:sp>
        <p:nvSpPr>
          <p:cNvPr id="42" name="TextBox 41"/>
          <p:cNvSpPr txBox="1"/>
          <p:nvPr/>
        </p:nvSpPr>
        <p:spPr>
          <a:xfrm>
            <a:off x="868680" y="5925312"/>
            <a:ext cx="10789920" cy="274320"/>
          </a:xfrm>
          <a:prstGeom prst="rect">
            <a:avLst/>
          </a:prstGeom>
          <a:noFill/>
        </p:spPr>
        <p:txBody>
          <a:bodyPr wrap="square">
            <a:spAutoFit/>
          </a:bodyPr>
          <a:lstStyle/>
          <a:p>
            <a:pPr algn="l"/>
            <a:r>
              <a:rPr sz="1200" b="0" i="0" dirty="0">
                <a:solidFill>
                  <a:srgbClr val="F4F4F8"/>
                </a:solidFill>
              </a:rPr>
              <a:t>Courrier physique </a:t>
            </a:r>
            <a:r>
              <a:rPr lang="fr-FR" sz="1200" b="0" i="0" dirty="0">
                <a:solidFill>
                  <a:srgbClr val="F4F4F8"/>
                </a:solidFill>
              </a:rPr>
              <a:t>-</a:t>
            </a:r>
            <a:r>
              <a:rPr sz="1200" b="0" i="0" dirty="0">
                <a:solidFill>
                  <a:srgbClr val="F4F4F8"/>
                </a:solidFill>
              </a:rPr>
              <a:t> </a:t>
            </a:r>
            <a:r>
              <a:rPr sz="1200" b="0" i="0" dirty="0" err="1">
                <a:solidFill>
                  <a:srgbClr val="F4F4F8"/>
                </a:solidFill>
              </a:rPr>
              <a:t>plusieurs</a:t>
            </a:r>
            <a:r>
              <a:rPr sz="1200" b="0" i="0" dirty="0">
                <a:solidFill>
                  <a:srgbClr val="F4F4F8"/>
                </a:solidFill>
              </a:rPr>
              <a:t> </a:t>
            </a:r>
            <a:r>
              <a:rPr sz="1200" b="0" i="0" dirty="0" err="1">
                <a:solidFill>
                  <a:srgbClr val="F4F4F8"/>
                </a:solidFill>
              </a:rPr>
              <a:t>semaines</a:t>
            </a:r>
            <a:r>
              <a:rPr sz="1200" b="0" i="0" dirty="0">
                <a:solidFill>
                  <a:srgbClr val="F4F4F8"/>
                </a:solidFill>
              </a:rPr>
              <a:t> </a:t>
            </a:r>
            <a:r>
              <a:rPr sz="1200" b="0" i="0" dirty="0" err="1">
                <a:solidFill>
                  <a:srgbClr val="F4F4F8"/>
                </a:solidFill>
              </a:rPr>
              <a:t>d'attente</a:t>
            </a:r>
            <a:endParaRPr sz="1200" b="0" i="0" dirty="0">
              <a:solidFill>
                <a:srgbClr val="F4F4F8"/>
              </a:solidFill>
            </a:endParaRPr>
          </a:p>
        </p:txBody>
      </p:sp>
      <p:pic>
        <p:nvPicPr>
          <p:cNvPr id="43" name="Picture 42" descr="x-circle.png"/>
          <p:cNvPicPr>
            <a:picLocks noChangeAspect="1"/>
          </p:cNvPicPr>
          <p:nvPr/>
        </p:nvPicPr>
        <p:blipFill>
          <a:blip r:embed="rId11"/>
          <a:stretch>
            <a:fillRect/>
          </a:stretch>
        </p:blipFill>
        <p:spPr>
          <a:xfrm>
            <a:off x="502920" y="6236207"/>
            <a:ext cx="256032" cy="256032"/>
          </a:xfrm>
          <a:prstGeom prst="rect">
            <a:avLst/>
          </a:prstGeom>
        </p:spPr>
      </p:pic>
      <p:sp>
        <p:nvSpPr>
          <p:cNvPr id="44" name="TextBox 43"/>
          <p:cNvSpPr txBox="1"/>
          <p:nvPr/>
        </p:nvSpPr>
        <p:spPr>
          <a:xfrm>
            <a:off x="868680" y="6254496"/>
            <a:ext cx="10789920" cy="274320"/>
          </a:xfrm>
          <a:prstGeom prst="rect">
            <a:avLst/>
          </a:prstGeom>
          <a:noFill/>
        </p:spPr>
        <p:txBody>
          <a:bodyPr wrap="square">
            <a:spAutoFit/>
          </a:bodyPr>
          <a:lstStyle/>
          <a:p>
            <a:pPr algn="l"/>
            <a:r>
              <a:rPr sz="1200" b="0" i="0">
                <a:solidFill>
                  <a:srgbClr val="F4F4F8"/>
                </a:solidFill>
              </a:rPr>
              <a:t>Aucun systeme de verification en ligne disponible</a:t>
            </a:r>
          </a:p>
        </p:txBody>
      </p:sp>
      <p:pic>
        <p:nvPicPr>
          <p:cNvPr id="45" name="Picture 44" descr="alert.png"/>
          <p:cNvPicPr>
            <a:picLocks noChangeAspect="1"/>
          </p:cNvPicPr>
          <p:nvPr/>
        </p:nvPicPr>
        <p:blipFill>
          <a:blip r:embed="rId12"/>
          <a:stretch>
            <a:fillRect/>
          </a:stretch>
        </p:blipFill>
        <p:spPr>
          <a:xfrm>
            <a:off x="502920" y="6565392"/>
            <a:ext cx="256032" cy="256032"/>
          </a:xfrm>
          <a:prstGeom prst="rect">
            <a:avLst/>
          </a:prstGeom>
        </p:spPr>
      </p:pic>
      <p:sp>
        <p:nvSpPr>
          <p:cNvPr id="46" name="TextBox 45"/>
          <p:cNvSpPr txBox="1"/>
          <p:nvPr/>
        </p:nvSpPr>
        <p:spPr>
          <a:xfrm>
            <a:off x="868680" y="6583680"/>
            <a:ext cx="10789920" cy="274320"/>
          </a:xfrm>
          <a:prstGeom prst="rect">
            <a:avLst/>
          </a:prstGeom>
          <a:noFill/>
        </p:spPr>
        <p:txBody>
          <a:bodyPr wrap="square">
            <a:spAutoFit/>
          </a:bodyPr>
          <a:lstStyle/>
          <a:p>
            <a:pPr algn="l"/>
            <a:r>
              <a:rPr sz="1200" b="0" i="0">
                <a:solidFill>
                  <a:srgbClr val="F4F4F8"/>
                </a:solidFill>
              </a:rPr>
              <a:t>Aucune tracabilite : on ne sait pas qui a verifie quoi, ni quand</a:t>
            </a:r>
          </a:p>
        </p:txBody>
      </p:sp>
      <p:sp>
        <p:nvSpPr>
          <p:cNvPr id="47" name="TextBox 46"/>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4</a:t>
            </a:r>
            <a:r>
              <a:rPr sz="900" b="0" i="0" dirty="0">
                <a:solidFill>
                  <a:srgbClr val="C9A84C"/>
                </a:solidFill>
              </a:rPr>
              <a:t>/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a:extLst>
            <a:ext uri="{FF2B5EF4-FFF2-40B4-BE49-F238E27FC236}">
              <a16:creationId xmlns:a16="http://schemas.microsoft.com/office/drawing/2014/main" id="{5D8E0BB7-87EA-226E-4FC0-F53665BB755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6C8943-F2EF-91AE-D4C2-774C7C92D96A}"/>
              </a:ext>
            </a:extLst>
          </p:cNvPr>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0CA4EEC-4149-7630-C392-4469DCB3D816}"/>
              </a:ext>
            </a:extLst>
          </p:cNvPr>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AC90B54-3A80-6A9D-7AD3-EBB51607E386}"/>
              </a:ext>
            </a:extLst>
          </p:cNvPr>
          <p:cNvSpPr txBox="1"/>
          <p:nvPr/>
        </p:nvSpPr>
        <p:spPr>
          <a:xfrm>
            <a:off x="393192" y="210312"/>
            <a:ext cx="2423160" cy="230832"/>
          </a:xfrm>
          <a:prstGeom prst="rect">
            <a:avLst/>
          </a:prstGeom>
          <a:noFill/>
        </p:spPr>
        <p:txBody>
          <a:bodyPr wrap="square">
            <a:spAutoFit/>
          </a:bodyPr>
          <a:lstStyle/>
          <a:p>
            <a:r>
              <a:rPr sz="900" b="1" i="0" dirty="0">
                <a:solidFill>
                  <a:srgbClr val="1A1A2E"/>
                </a:solidFill>
              </a:rPr>
              <a:t>0</a:t>
            </a:r>
            <a:r>
              <a:rPr lang="fr-FR" sz="900" b="1" dirty="0">
                <a:solidFill>
                  <a:srgbClr val="1A1A2E"/>
                </a:solidFill>
              </a:rPr>
              <a:t>3</a:t>
            </a:r>
            <a:r>
              <a:rPr sz="900" b="1" i="0" dirty="0">
                <a:solidFill>
                  <a:srgbClr val="1A1A2E"/>
                </a:solidFill>
              </a:rPr>
              <a:t> </a:t>
            </a:r>
            <a:r>
              <a:rPr lang="fr-FR" sz="900" b="1" i="0" dirty="0">
                <a:solidFill>
                  <a:srgbClr val="1A1A2E"/>
                </a:solidFill>
              </a:rPr>
              <a:t>- </a:t>
            </a:r>
            <a:r>
              <a:rPr sz="900" b="1" i="0" dirty="0">
                <a:solidFill>
                  <a:srgbClr val="1A1A2E"/>
                </a:solidFill>
              </a:rPr>
              <a:t> </a:t>
            </a:r>
            <a:r>
              <a:rPr lang="fr-CM" sz="900" dirty="0"/>
              <a:t>PROBLÉMATIQUE &amp; OBJECTIFS DU PROJET </a:t>
            </a:r>
            <a:endParaRPr sz="900" b="1" i="0" dirty="0">
              <a:solidFill>
                <a:srgbClr val="1A1A2E"/>
              </a:solidFill>
            </a:endParaRPr>
          </a:p>
        </p:txBody>
      </p:sp>
      <p:sp>
        <p:nvSpPr>
          <p:cNvPr id="5" name="TextBox 4">
            <a:extLst>
              <a:ext uri="{FF2B5EF4-FFF2-40B4-BE49-F238E27FC236}">
                <a16:creationId xmlns:a16="http://schemas.microsoft.com/office/drawing/2014/main" id="{654FE3BD-FABE-2D7C-2E15-6FF47F651E67}"/>
              </a:ext>
            </a:extLst>
          </p:cNvPr>
          <p:cNvSpPr txBox="1"/>
          <p:nvPr/>
        </p:nvSpPr>
        <p:spPr>
          <a:xfrm>
            <a:off x="502920" y="688360"/>
            <a:ext cx="10972800" cy="523220"/>
          </a:xfrm>
          <a:prstGeom prst="rect">
            <a:avLst/>
          </a:prstGeom>
          <a:noFill/>
        </p:spPr>
        <p:txBody>
          <a:bodyPr wrap="square">
            <a:spAutoFit/>
          </a:bodyPr>
          <a:lstStyle/>
          <a:p>
            <a:r>
              <a:rPr lang="fr-CM" sz="2800" b="1" dirty="0">
                <a:solidFill>
                  <a:schemeClr val="bg1"/>
                </a:solidFill>
              </a:rPr>
              <a:t>Pourquoi INUBIL </a:t>
            </a:r>
            <a:r>
              <a:rPr lang="fr-CM" sz="2800" b="1" dirty="0" err="1">
                <a:solidFill>
                  <a:schemeClr val="bg1"/>
                </a:solidFill>
              </a:rPr>
              <a:t>Verify</a:t>
            </a:r>
            <a:r>
              <a:rPr lang="fr-CM" sz="2800" b="1" dirty="0">
                <a:solidFill>
                  <a:schemeClr val="bg1"/>
                </a:solidFill>
              </a:rPr>
              <a:t> ? Les objectifs qui guident le projet</a:t>
            </a:r>
            <a:endParaRPr sz="2600" b="1" i="0" dirty="0">
              <a:solidFill>
                <a:schemeClr val="bg1"/>
              </a:solidFill>
            </a:endParaRPr>
          </a:p>
        </p:txBody>
      </p:sp>
      <p:sp>
        <p:nvSpPr>
          <p:cNvPr id="6" name="Rectangle 5">
            <a:extLst>
              <a:ext uri="{FF2B5EF4-FFF2-40B4-BE49-F238E27FC236}">
                <a16:creationId xmlns:a16="http://schemas.microsoft.com/office/drawing/2014/main" id="{BB211985-F9B5-13A2-80D9-973ECCE0786E}"/>
              </a:ext>
            </a:extLst>
          </p:cNvPr>
          <p:cNvSpPr/>
          <p:nvPr/>
        </p:nvSpPr>
        <p:spPr>
          <a:xfrm>
            <a:off x="384048" y="192024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9E64E044-83D3-0382-0175-4523C9458853}"/>
              </a:ext>
            </a:extLst>
          </p:cNvPr>
          <p:cNvSpPr/>
          <p:nvPr/>
        </p:nvSpPr>
        <p:spPr>
          <a:xfrm>
            <a:off x="384048" y="192024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2415340-CB97-9409-B6C7-F1178E6C8ED1}"/>
              </a:ext>
            </a:extLst>
          </p:cNvPr>
          <p:cNvSpPr txBox="1"/>
          <p:nvPr/>
        </p:nvSpPr>
        <p:spPr>
          <a:xfrm>
            <a:off x="841248" y="2176486"/>
            <a:ext cx="2834640" cy="923330"/>
          </a:xfrm>
          <a:prstGeom prst="rect">
            <a:avLst/>
          </a:prstGeom>
          <a:noFill/>
        </p:spPr>
        <p:txBody>
          <a:bodyPr wrap="square">
            <a:spAutoFit/>
          </a:bodyPr>
          <a:lstStyle/>
          <a:p>
            <a:pPr algn="ctr"/>
            <a:r>
              <a:rPr lang="fr-CM" dirty="0">
                <a:solidFill>
                  <a:srgbClr val="C9A84C"/>
                </a:solidFill>
              </a:rPr>
              <a:t>Permettre l’émission des diplômes numériques sécurisés</a:t>
            </a:r>
            <a:endParaRPr sz="1300" b="1" i="0" dirty="0">
              <a:solidFill>
                <a:srgbClr val="C9A84C"/>
              </a:solidFill>
            </a:endParaRPr>
          </a:p>
        </p:txBody>
      </p:sp>
      <p:sp>
        <p:nvSpPr>
          <p:cNvPr id="11" name="Rectangle 10">
            <a:extLst>
              <a:ext uri="{FF2B5EF4-FFF2-40B4-BE49-F238E27FC236}">
                <a16:creationId xmlns:a16="http://schemas.microsoft.com/office/drawing/2014/main" id="{976BBC19-E632-649F-4F8F-DBC4BF035F65}"/>
              </a:ext>
            </a:extLst>
          </p:cNvPr>
          <p:cNvSpPr/>
          <p:nvPr/>
        </p:nvSpPr>
        <p:spPr>
          <a:xfrm>
            <a:off x="4315968" y="192024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A062A3E1-5473-5C12-0431-8E7497BF8941}"/>
              </a:ext>
            </a:extLst>
          </p:cNvPr>
          <p:cNvSpPr/>
          <p:nvPr/>
        </p:nvSpPr>
        <p:spPr>
          <a:xfrm>
            <a:off x="4315968" y="192024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775883BA-74E8-B449-2EFF-E2CBBDBC809A}"/>
              </a:ext>
            </a:extLst>
          </p:cNvPr>
          <p:cNvSpPr txBox="1"/>
          <p:nvPr/>
        </p:nvSpPr>
        <p:spPr>
          <a:xfrm>
            <a:off x="4750308" y="2056862"/>
            <a:ext cx="2834640" cy="1200329"/>
          </a:xfrm>
          <a:prstGeom prst="rect">
            <a:avLst/>
          </a:prstGeom>
          <a:noFill/>
        </p:spPr>
        <p:txBody>
          <a:bodyPr wrap="square">
            <a:spAutoFit/>
          </a:bodyPr>
          <a:lstStyle/>
          <a:p>
            <a:pPr algn="ctr"/>
            <a:r>
              <a:rPr lang="fr-CM" dirty="0">
                <a:solidFill>
                  <a:srgbClr val="C9A84C"/>
                </a:solidFill>
              </a:rPr>
              <a:t>Permettre aux employeurs et autres institutions de vérifier un diplôme en temps réel</a:t>
            </a:r>
            <a:endParaRPr sz="1300" b="1" i="0" dirty="0">
              <a:solidFill>
                <a:srgbClr val="C9A84C"/>
              </a:solidFill>
            </a:endParaRPr>
          </a:p>
        </p:txBody>
      </p:sp>
      <p:sp>
        <p:nvSpPr>
          <p:cNvPr id="16" name="Rectangle 15">
            <a:extLst>
              <a:ext uri="{FF2B5EF4-FFF2-40B4-BE49-F238E27FC236}">
                <a16:creationId xmlns:a16="http://schemas.microsoft.com/office/drawing/2014/main" id="{420A7708-7513-C8E9-A437-605C6B094A12}"/>
              </a:ext>
            </a:extLst>
          </p:cNvPr>
          <p:cNvSpPr/>
          <p:nvPr/>
        </p:nvSpPr>
        <p:spPr>
          <a:xfrm>
            <a:off x="8247888" y="192024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1D33BBA2-C6F9-482E-C413-2795252F24A4}"/>
              </a:ext>
            </a:extLst>
          </p:cNvPr>
          <p:cNvSpPr/>
          <p:nvPr/>
        </p:nvSpPr>
        <p:spPr>
          <a:xfrm>
            <a:off x="8247888" y="192024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36E9F8CF-FF84-7A88-759D-E4CA77639F4D}"/>
              </a:ext>
            </a:extLst>
          </p:cNvPr>
          <p:cNvSpPr txBox="1"/>
          <p:nvPr/>
        </p:nvSpPr>
        <p:spPr>
          <a:xfrm>
            <a:off x="8705088" y="2272978"/>
            <a:ext cx="2834640" cy="646331"/>
          </a:xfrm>
          <a:prstGeom prst="rect">
            <a:avLst/>
          </a:prstGeom>
          <a:noFill/>
        </p:spPr>
        <p:txBody>
          <a:bodyPr wrap="square">
            <a:spAutoFit/>
          </a:bodyPr>
          <a:lstStyle/>
          <a:p>
            <a:pPr algn="ctr"/>
            <a:r>
              <a:rPr lang="fr-CM" dirty="0">
                <a:solidFill>
                  <a:srgbClr val="C9A84C"/>
                </a:solidFill>
              </a:rPr>
              <a:t>Garantir l'</a:t>
            </a:r>
            <a:r>
              <a:rPr lang="fr-CM" dirty="0" err="1">
                <a:solidFill>
                  <a:srgbClr val="C9A84C"/>
                </a:solidFill>
              </a:rPr>
              <a:t>infalsifiabilité</a:t>
            </a:r>
            <a:r>
              <a:rPr lang="fr-CM" dirty="0">
                <a:solidFill>
                  <a:srgbClr val="C9A84C"/>
                </a:solidFill>
              </a:rPr>
              <a:t> des diplômes émis</a:t>
            </a:r>
            <a:endParaRPr sz="1300" b="1" i="0" dirty="0">
              <a:solidFill>
                <a:srgbClr val="C9A84C"/>
              </a:solidFill>
            </a:endParaRPr>
          </a:p>
        </p:txBody>
      </p:sp>
      <p:sp>
        <p:nvSpPr>
          <p:cNvPr id="21" name="Rectangle 20">
            <a:extLst>
              <a:ext uri="{FF2B5EF4-FFF2-40B4-BE49-F238E27FC236}">
                <a16:creationId xmlns:a16="http://schemas.microsoft.com/office/drawing/2014/main" id="{5D349323-E905-723F-1CAC-5B0E51FB42C1}"/>
              </a:ext>
            </a:extLst>
          </p:cNvPr>
          <p:cNvSpPr/>
          <p:nvPr/>
        </p:nvSpPr>
        <p:spPr>
          <a:xfrm>
            <a:off x="384048" y="342900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C79EABC2-453D-BB85-81F5-5CC748303529}"/>
              </a:ext>
            </a:extLst>
          </p:cNvPr>
          <p:cNvSpPr/>
          <p:nvPr/>
        </p:nvSpPr>
        <p:spPr>
          <a:xfrm>
            <a:off x="384048" y="342900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A073275A-D1DD-FB41-CEF7-6FB34F806E0E}"/>
              </a:ext>
            </a:extLst>
          </p:cNvPr>
          <p:cNvSpPr txBox="1"/>
          <p:nvPr/>
        </p:nvSpPr>
        <p:spPr>
          <a:xfrm>
            <a:off x="950976" y="3685246"/>
            <a:ext cx="2834640" cy="923330"/>
          </a:xfrm>
          <a:prstGeom prst="rect">
            <a:avLst/>
          </a:prstGeom>
          <a:noFill/>
        </p:spPr>
        <p:txBody>
          <a:bodyPr wrap="square">
            <a:spAutoFit/>
          </a:bodyPr>
          <a:lstStyle/>
          <a:p>
            <a:pPr algn="ctr"/>
            <a:r>
              <a:rPr lang="fr-CM" dirty="0">
                <a:solidFill>
                  <a:srgbClr val="C9A84C"/>
                </a:solidFill>
              </a:rPr>
              <a:t>Fournir aux étudiants un accès autonome à leurs diplômes</a:t>
            </a:r>
            <a:endParaRPr sz="1300" b="1" i="0" dirty="0">
              <a:solidFill>
                <a:srgbClr val="C9A84C"/>
              </a:solidFill>
            </a:endParaRPr>
          </a:p>
        </p:txBody>
      </p:sp>
      <p:sp>
        <p:nvSpPr>
          <p:cNvPr id="26" name="Rectangle 25">
            <a:extLst>
              <a:ext uri="{FF2B5EF4-FFF2-40B4-BE49-F238E27FC236}">
                <a16:creationId xmlns:a16="http://schemas.microsoft.com/office/drawing/2014/main" id="{57BB1FFD-D5A6-FEA1-8140-930ED489B164}"/>
              </a:ext>
            </a:extLst>
          </p:cNvPr>
          <p:cNvSpPr/>
          <p:nvPr/>
        </p:nvSpPr>
        <p:spPr>
          <a:xfrm>
            <a:off x="4315968" y="342900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0AE4B80C-45E9-54BD-B93B-6AE255C206DA}"/>
              </a:ext>
            </a:extLst>
          </p:cNvPr>
          <p:cNvSpPr/>
          <p:nvPr/>
        </p:nvSpPr>
        <p:spPr>
          <a:xfrm>
            <a:off x="4315968" y="342900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3D8C2618-3A57-C44B-2533-8FC47B1A0854}"/>
              </a:ext>
            </a:extLst>
          </p:cNvPr>
          <p:cNvSpPr txBox="1"/>
          <p:nvPr/>
        </p:nvSpPr>
        <p:spPr>
          <a:xfrm>
            <a:off x="5038344" y="3753933"/>
            <a:ext cx="2834640" cy="923330"/>
          </a:xfrm>
          <a:prstGeom prst="rect">
            <a:avLst/>
          </a:prstGeom>
          <a:noFill/>
        </p:spPr>
        <p:txBody>
          <a:bodyPr wrap="square">
            <a:spAutoFit/>
          </a:bodyPr>
          <a:lstStyle/>
          <a:p>
            <a:pPr algn="ctr"/>
            <a:r>
              <a:rPr lang="fr-CM" dirty="0">
                <a:solidFill>
                  <a:srgbClr val="C9A84C"/>
                </a:solidFill>
              </a:rPr>
              <a:t>Offrir à l'administration un tableau de bord de gestion complet</a:t>
            </a:r>
            <a:endParaRPr sz="1300" b="1" i="0" dirty="0">
              <a:solidFill>
                <a:srgbClr val="C9A84C"/>
              </a:solidFill>
            </a:endParaRPr>
          </a:p>
        </p:txBody>
      </p:sp>
      <p:sp>
        <p:nvSpPr>
          <p:cNvPr id="31" name="Rectangle 30">
            <a:extLst>
              <a:ext uri="{FF2B5EF4-FFF2-40B4-BE49-F238E27FC236}">
                <a16:creationId xmlns:a16="http://schemas.microsoft.com/office/drawing/2014/main" id="{303B99F8-7BCE-C3F7-3324-4A466E87CEBE}"/>
              </a:ext>
            </a:extLst>
          </p:cNvPr>
          <p:cNvSpPr/>
          <p:nvPr/>
        </p:nvSpPr>
        <p:spPr>
          <a:xfrm>
            <a:off x="8247888" y="3429000"/>
            <a:ext cx="3703320" cy="13258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a:extLst>
              <a:ext uri="{FF2B5EF4-FFF2-40B4-BE49-F238E27FC236}">
                <a16:creationId xmlns:a16="http://schemas.microsoft.com/office/drawing/2014/main" id="{CEFFC38F-A407-B8B5-41E3-AF3B521A8E09}"/>
              </a:ext>
            </a:extLst>
          </p:cNvPr>
          <p:cNvSpPr/>
          <p:nvPr/>
        </p:nvSpPr>
        <p:spPr>
          <a:xfrm>
            <a:off x="8247888" y="3429000"/>
            <a:ext cx="37033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6382C524-3750-BDF7-AB4B-DD2ABF30D924}"/>
              </a:ext>
            </a:extLst>
          </p:cNvPr>
          <p:cNvSpPr txBox="1"/>
          <p:nvPr/>
        </p:nvSpPr>
        <p:spPr>
          <a:xfrm>
            <a:off x="8668512" y="3868578"/>
            <a:ext cx="2834640" cy="492443"/>
          </a:xfrm>
          <a:prstGeom prst="rect">
            <a:avLst/>
          </a:prstGeom>
          <a:noFill/>
        </p:spPr>
        <p:txBody>
          <a:bodyPr wrap="square">
            <a:spAutoFit/>
          </a:bodyPr>
          <a:lstStyle/>
          <a:p>
            <a:pPr algn="ctr"/>
            <a:r>
              <a:rPr lang="fr-FR" sz="1300" dirty="0">
                <a:solidFill>
                  <a:srgbClr val="C9A84C"/>
                </a:solidFill>
              </a:rPr>
              <a:t>Assurer la pérennité des diplômes au-delà de la durée de vie des serveurs</a:t>
            </a:r>
            <a:endParaRPr sz="1300" i="0" dirty="0">
              <a:solidFill>
                <a:srgbClr val="C9A84C"/>
              </a:solidFill>
            </a:endParaRPr>
          </a:p>
        </p:txBody>
      </p:sp>
      <p:sp>
        <p:nvSpPr>
          <p:cNvPr id="47" name="TextBox 46">
            <a:extLst>
              <a:ext uri="{FF2B5EF4-FFF2-40B4-BE49-F238E27FC236}">
                <a16:creationId xmlns:a16="http://schemas.microsoft.com/office/drawing/2014/main" id="{B186F1F1-9C2D-D404-E05B-D045F2E35939}"/>
              </a:ext>
            </a:extLst>
          </p:cNvPr>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5</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extLst>
      <p:ext uri="{BB962C8B-B14F-4D97-AF65-F5344CB8AC3E}">
        <p14:creationId xmlns:p14="http://schemas.microsoft.com/office/powerpoint/2010/main" val="4029523447"/>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3</a:t>
            </a:r>
            <a:r>
              <a:rPr sz="900" b="1" i="0" dirty="0">
                <a:solidFill>
                  <a:srgbClr val="1A1A2E"/>
                </a:solidFill>
              </a:rPr>
              <a:t> </a:t>
            </a:r>
            <a:r>
              <a:rPr lang="fr-FR" sz="900" b="1" i="0" dirty="0">
                <a:solidFill>
                  <a:srgbClr val="1A1A2E"/>
                </a:solidFill>
              </a:rPr>
              <a:t>-</a:t>
            </a:r>
            <a:r>
              <a:rPr sz="900" b="1" i="0" dirty="0">
                <a:solidFill>
                  <a:srgbClr val="1A1A2E"/>
                </a:solidFill>
              </a:rPr>
              <a:t> SOLUTION</a:t>
            </a:r>
          </a:p>
        </p:txBody>
      </p:sp>
      <p:sp>
        <p:nvSpPr>
          <p:cNvPr id="6" name="TextBox 5"/>
          <p:cNvSpPr txBox="1"/>
          <p:nvPr/>
        </p:nvSpPr>
        <p:spPr>
          <a:xfrm>
            <a:off x="374904" y="535053"/>
            <a:ext cx="9144000" cy="523220"/>
          </a:xfrm>
          <a:prstGeom prst="rect">
            <a:avLst/>
          </a:prstGeom>
          <a:noFill/>
        </p:spPr>
        <p:txBody>
          <a:bodyPr wrap="square">
            <a:spAutoFit/>
          </a:bodyPr>
          <a:lstStyle/>
          <a:p>
            <a:pPr algn="l"/>
            <a:r>
              <a:rPr sz="2800" b="1" i="0" dirty="0">
                <a:solidFill>
                  <a:srgbClr val="FFFFFF"/>
                </a:solidFill>
              </a:rPr>
              <a:t>INUBIL Verify </a:t>
            </a:r>
            <a:r>
              <a:rPr lang="fr-FR" sz="2800" b="1" i="0" dirty="0">
                <a:solidFill>
                  <a:srgbClr val="FFFFFF"/>
                </a:solidFill>
              </a:rPr>
              <a:t>-</a:t>
            </a:r>
            <a:r>
              <a:rPr sz="2800" b="1" i="0" dirty="0">
                <a:solidFill>
                  <a:srgbClr val="FFFFFF"/>
                </a:solidFill>
              </a:rPr>
              <a:t> La solution</a:t>
            </a:r>
          </a:p>
        </p:txBody>
      </p:sp>
      <p:sp>
        <p:nvSpPr>
          <p:cNvPr id="7" name="Rectangle 6"/>
          <p:cNvSpPr/>
          <p:nvPr/>
        </p:nvSpPr>
        <p:spPr>
          <a:xfrm>
            <a:off x="347472" y="1371600"/>
            <a:ext cx="11475720" cy="86868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371600"/>
            <a:ext cx="54864" cy="8686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1481328"/>
            <a:ext cx="11064240" cy="523220"/>
          </a:xfrm>
          <a:prstGeom prst="rect">
            <a:avLst/>
          </a:prstGeom>
          <a:noFill/>
        </p:spPr>
        <p:txBody>
          <a:bodyPr wrap="square">
            <a:spAutoFit/>
          </a:bodyPr>
          <a:lstStyle/>
          <a:p>
            <a:pPr algn="l"/>
            <a:r>
              <a:rPr sz="1400" b="0" i="0" dirty="0">
                <a:solidFill>
                  <a:srgbClr val="1A1A2E"/>
                </a:solidFill>
              </a:rPr>
              <a:t>Une </a:t>
            </a:r>
            <a:r>
              <a:rPr sz="1400" b="0" i="0" dirty="0" err="1">
                <a:solidFill>
                  <a:srgbClr val="1A1A2E"/>
                </a:solidFill>
              </a:rPr>
              <a:t>plateforme</a:t>
            </a:r>
            <a:r>
              <a:rPr sz="1400" b="0" i="0" dirty="0">
                <a:solidFill>
                  <a:srgbClr val="1A1A2E"/>
                </a:solidFill>
              </a:rPr>
              <a:t> web qui </a:t>
            </a:r>
            <a:r>
              <a:rPr sz="1400" b="0" i="0" dirty="0" err="1">
                <a:solidFill>
                  <a:srgbClr val="1A1A2E"/>
                </a:solidFill>
              </a:rPr>
              <a:t>permet</a:t>
            </a:r>
            <a:r>
              <a:rPr sz="1400" b="0" i="0" dirty="0">
                <a:solidFill>
                  <a:srgbClr val="1A1A2E"/>
                </a:solidFill>
              </a:rPr>
              <a:t> a ISTAMA INUBIL </a:t>
            </a:r>
            <a:r>
              <a:rPr sz="1400" b="0" i="0" dirty="0" err="1">
                <a:solidFill>
                  <a:srgbClr val="1A1A2E"/>
                </a:solidFill>
              </a:rPr>
              <a:t>d'emettre</a:t>
            </a:r>
            <a:r>
              <a:rPr sz="1400" b="0" i="0" dirty="0">
                <a:solidFill>
                  <a:srgbClr val="1A1A2E"/>
                </a:solidFill>
              </a:rPr>
              <a:t> des </a:t>
            </a:r>
            <a:r>
              <a:rPr sz="1400" b="0" i="0" dirty="0" err="1">
                <a:solidFill>
                  <a:srgbClr val="1A1A2E"/>
                </a:solidFill>
              </a:rPr>
              <a:t>diplomes</a:t>
            </a:r>
            <a:r>
              <a:rPr sz="1400" b="0" i="0" dirty="0">
                <a:solidFill>
                  <a:srgbClr val="1A1A2E"/>
                </a:solidFill>
              </a:rPr>
              <a:t> certifies sur la blockchain Polygon, et a </a:t>
            </a:r>
            <a:r>
              <a:rPr sz="1400" b="0" i="0" dirty="0" err="1">
                <a:solidFill>
                  <a:srgbClr val="1A1A2E"/>
                </a:solidFill>
              </a:rPr>
              <a:t>n'importe</a:t>
            </a:r>
            <a:r>
              <a:rPr sz="1400" b="0" i="0" dirty="0">
                <a:solidFill>
                  <a:srgbClr val="1A1A2E"/>
                </a:solidFill>
              </a:rPr>
              <a:t> qui dans le monde de verifier </a:t>
            </a:r>
            <a:r>
              <a:rPr sz="1400" b="0" i="0" dirty="0" err="1">
                <a:solidFill>
                  <a:srgbClr val="1A1A2E"/>
                </a:solidFill>
              </a:rPr>
              <a:t>leur</a:t>
            </a:r>
            <a:r>
              <a:rPr sz="1400" b="0" i="0" dirty="0">
                <a:solidFill>
                  <a:srgbClr val="1A1A2E"/>
                </a:solidFill>
              </a:rPr>
              <a:t> </a:t>
            </a:r>
            <a:r>
              <a:rPr sz="1400" b="0" i="0" dirty="0" err="1">
                <a:solidFill>
                  <a:srgbClr val="1A1A2E"/>
                </a:solidFill>
              </a:rPr>
              <a:t>authenticite</a:t>
            </a:r>
            <a:r>
              <a:rPr sz="1400" b="0" i="0" dirty="0">
                <a:solidFill>
                  <a:srgbClr val="1A1A2E"/>
                </a:solidFill>
              </a:rPr>
              <a:t> </a:t>
            </a:r>
            <a:r>
              <a:rPr sz="1400" b="0" i="0" dirty="0" err="1">
                <a:solidFill>
                  <a:srgbClr val="1A1A2E"/>
                </a:solidFill>
              </a:rPr>
              <a:t>en</a:t>
            </a:r>
            <a:r>
              <a:rPr sz="1400" b="0" i="0" dirty="0">
                <a:solidFill>
                  <a:srgbClr val="1A1A2E"/>
                </a:solidFill>
              </a:rPr>
              <a:t> </a:t>
            </a:r>
            <a:r>
              <a:rPr sz="1400" b="0" i="0" dirty="0" err="1">
                <a:solidFill>
                  <a:srgbClr val="1A1A2E"/>
                </a:solidFill>
              </a:rPr>
              <a:t>quelques</a:t>
            </a:r>
            <a:r>
              <a:rPr sz="1400" b="0" i="0" dirty="0">
                <a:solidFill>
                  <a:srgbClr val="1A1A2E"/>
                </a:solidFill>
              </a:rPr>
              <a:t> </a:t>
            </a:r>
            <a:r>
              <a:rPr sz="1400" b="0" i="0" dirty="0" err="1">
                <a:solidFill>
                  <a:srgbClr val="1A1A2E"/>
                </a:solidFill>
              </a:rPr>
              <a:t>secondes</a:t>
            </a:r>
            <a:r>
              <a:rPr sz="1400" b="0" i="0" dirty="0">
                <a:solidFill>
                  <a:srgbClr val="1A1A2E"/>
                </a:solidFill>
              </a:rPr>
              <a:t> </a:t>
            </a:r>
            <a:r>
              <a:rPr lang="fr-FR" sz="1400" b="0" i="0" dirty="0">
                <a:solidFill>
                  <a:srgbClr val="1A1A2E"/>
                </a:solidFill>
              </a:rPr>
              <a:t>-</a:t>
            </a:r>
            <a:r>
              <a:rPr sz="1400" b="0" i="0" dirty="0">
                <a:solidFill>
                  <a:srgbClr val="1A1A2E"/>
                </a:solidFill>
              </a:rPr>
              <a:t> sans </a:t>
            </a:r>
            <a:r>
              <a:rPr sz="1400" b="0" i="0" dirty="0" err="1">
                <a:solidFill>
                  <a:srgbClr val="1A1A2E"/>
                </a:solidFill>
              </a:rPr>
              <a:t>appel</a:t>
            </a:r>
            <a:r>
              <a:rPr sz="1400" b="0" i="0" dirty="0">
                <a:solidFill>
                  <a:srgbClr val="1A1A2E"/>
                </a:solidFill>
              </a:rPr>
              <a:t>, sans </a:t>
            </a:r>
            <a:r>
              <a:rPr sz="1400" b="0" i="0" dirty="0" err="1">
                <a:solidFill>
                  <a:srgbClr val="1A1A2E"/>
                </a:solidFill>
              </a:rPr>
              <a:t>courrier</a:t>
            </a:r>
            <a:r>
              <a:rPr sz="1400" b="0" i="0" dirty="0">
                <a:solidFill>
                  <a:srgbClr val="1A1A2E"/>
                </a:solidFill>
              </a:rPr>
              <a:t>.</a:t>
            </a:r>
          </a:p>
        </p:txBody>
      </p:sp>
      <p:sp>
        <p:nvSpPr>
          <p:cNvPr id="10" name="Rectangle 9"/>
          <p:cNvSpPr/>
          <p:nvPr/>
        </p:nvSpPr>
        <p:spPr>
          <a:xfrm>
            <a:off x="347472" y="2423160"/>
            <a:ext cx="3749039" cy="37033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7472" y="2423160"/>
            <a:ext cx="3749039" cy="54864"/>
          </a:xfrm>
          <a:prstGeom prst="rect">
            <a:avLst/>
          </a:prstGeom>
          <a:solidFill>
            <a:srgbClr val="22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lock.png"/>
          <p:cNvPicPr>
            <a:picLocks noChangeAspect="1"/>
          </p:cNvPicPr>
          <p:nvPr/>
        </p:nvPicPr>
        <p:blipFill>
          <a:blip r:embed="rId3"/>
          <a:stretch>
            <a:fillRect/>
          </a:stretch>
        </p:blipFill>
        <p:spPr>
          <a:xfrm>
            <a:off x="576072" y="2606040"/>
            <a:ext cx="868680" cy="868680"/>
          </a:xfrm>
          <a:prstGeom prst="rect">
            <a:avLst/>
          </a:prstGeom>
        </p:spPr>
      </p:pic>
      <p:sp>
        <p:nvSpPr>
          <p:cNvPr id="13" name="TextBox 12"/>
          <p:cNvSpPr txBox="1"/>
          <p:nvPr/>
        </p:nvSpPr>
        <p:spPr>
          <a:xfrm>
            <a:off x="1627632" y="2560320"/>
            <a:ext cx="2286000" cy="777240"/>
          </a:xfrm>
          <a:prstGeom prst="rect">
            <a:avLst/>
          </a:prstGeom>
          <a:noFill/>
        </p:spPr>
        <p:txBody>
          <a:bodyPr wrap="square">
            <a:spAutoFit/>
          </a:bodyPr>
          <a:lstStyle/>
          <a:p>
            <a:pPr algn="l"/>
            <a:r>
              <a:rPr sz="1800" b="1" i="0">
                <a:solidFill>
                  <a:srgbClr val="C9A84C"/>
                </a:solidFill>
              </a:rPr>
              <a:t>Emission
securisee</a:t>
            </a:r>
          </a:p>
        </p:txBody>
      </p:sp>
      <p:sp>
        <p:nvSpPr>
          <p:cNvPr id="14" name="TextBox 13"/>
          <p:cNvSpPr txBox="1"/>
          <p:nvPr/>
        </p:nvSpPr>
        <p:spPr>
          <a:xfrm>
            <a:off x="530352" y="3520440"/>
            <a:ext cx="3383280" cy="2423160"/>
          </a:xfrm>
          <a:prstGeom prst="rect">
            <a:avLst/>
          </a:prstGeom>
          <a:noFill/>
        </p:spPr>
        <p:txBody>
          <a:bodyPr wrap="square">
            <a:spAutoFit/>
          </a:bodyPr>
          <a:lstStyle/>
          <a:p>
            <a:pPr algn="l"/>
            <a:r>
              <a:rPr sz="1300" b="0" i="0">
                <a:solidFill>
                  <a:srgbClr val="F4F4F8"/>
                </a:solidFill>
              </a:rPr>
              <a:t>Workflow multi-roles :
agent de saisie → directeur
→ ancrage blockchain</a:t>
            </a:r>
          </a:p>
        </p:txBody>
      </p:sp>
      <p:sp>
        <p:nvSpPr>
          <p:cNvPr id="15" name="Rectangle 14"/>
          <p:cNvSpPr/>
          <p:nvPr/>
        </p:nvSpPr>
        <p:spPr>
          <a:xfrm>
            <a:off x="4325112" y="2423160"/>
            <a:ext cx="3749039" cy="37033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25112" y="2423160"/>
            <a:ext cx="3749039" cy="54864"/>
          </a:xfrm>
          <a:prstGeom prst="rect">
            <a:avLst/>
          </a:prstGeom>
          <a:solidFill>
            <a:srgbClr val="834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link.png"/>
          <p:cNvPicPr>
            <a:picLocks noChangeAspect="1"/>
          </p:cNvPicPr>
          <p:nvPr/>
        </p:nvPicPr>
        <p:blipFill>
          <a:blip r:embed="rId4"/>
          <a:stretch>
            <a:fillRect/>
          </a:stretch>
        </p:blipFill>
        <p:spPr>
          <a:xfrm>
            <a:off x="4553712" y="2606040"/>
            <a:ext cx="868680" cy="868680"/>
          </a:xfrm>
          <a:prstGeom prst="rect">
            <a:avLst/>
          </a:prstGeom>
        </p:spPr>
      </p:pic>
      <p:sp>
        <p:nvSpPr>
          <p:cNvPr id="18" name="TextBox 17"/>
          <p:cNvSpPr txBox="1"/>
          <p:nvPr/>
        </p:nvSpPr>
        <p:spPr>
          <a:xfrm>
            <a:off x="5605272" y="2560320"/>
            <a:ext cx="2286000" cy="777240"/>
          </a:xfrm>
          <a:prstGeom prst="rect">
            <a:avLst/>
          </a:prstGeom>
          <a:noFill/>
        </p:spPr>
        <p:txBody>
          <a:bodyPr wrap="square">
            <a:spAutoFit/>
          </a:bodyPr>
          <a:lstStyle/>
          <a:p>
            <a:pPr algn="l"/>
            <a:r>
              <a:rPr sz="1800" b="1" i="0">
                <a:solidFill>
                  <a:srgbClr val="C9A84C"/>
                </a:solidFill>
              </a:rPr>
              <a:t>Certification
blockchain</a:t>
            </a:r>
          </a:p>
        </p:txBody>
      </p:sp>
      <p:sp>
        <p:nvSpPr>
          <p:cNvPr id="19" name="TextBox 18"/>
          <p:cNvSpPr txBox="1"/>
          <p:nvPr/>
        </p:nvSpPr>
        <p:spPr>
          <a:xfrm>
            <a:off x="4507992" y="3520440"/>
            <a:ext cx="3383280" cy="692497"/>
          </a:xfrm>
          <a:prstGeom prst="rect">
            <a:avLst/>
          </a:prstGeom>
          <a:noFill/>
        </p:spPr>
        <p:txBody>
          <a:bodyPr wrap="square">
            <a:spAutoFit/>
          </a:bodyPr>
          <a:lstStyle/>
          <a:p>
            <a:pPr algn="l"/>
            <a:r>
              <a:rPr sz="1300" b="0" i="0" dirty="0" err="1">
                <a:solidFill>
                  <a:srgbClr val="F4F4F8"/>
                </a:solidFill>
              </a:rPr>
              <a:t>Chaque</a:t>
            </a:r>
            <a:r>
              <a:rPr sz="1300" b="0" i="0" dirty="0">
                <a:solidFill>
                  <a:srgbClr val="F4F4F8"/>
                </a:solidFill>
              </a:rPr>
              <a:t> </a:t>
            </a:r>
            <a:r>
              <a:rPr sz="1300" b="0" i="0" dirty="0" err="1">
                <a:solidFill>
                  <a:srgbClr val="F4F4F8"/>
                </a:solidFill>
              </a:rPr>
              <a:t>diplome</a:t>
            </a:r>
            <a:r>
              <a:rPr sz="1300" b="0" i="0" dirty="0">
                <a:solidFill>
                  <a:srgbClr val="F4F4F8"/>
                </a:solidFill>
              </a:rPr>
              <a:t> est </a:t>
            </a:r>
            <a:r>
              <a:rPr sz="1300" b="0" i="0" dirty="0" err="1">
                <a:solidFill>
                  <a:srgbClr val="F4F4F8"/>
                </a:solidFill>
              </a:rPr>
              <a:t>enregistre</a:t>
            </a:r>
            <a:r>
              <a:rPr sz="1300" b="0" i="0" dirty="0">
                <a:solidFill>
                  <a:srgbClr val="F4F4F8"/>
                </a:solidFill>
              </a:rPr>
              <a:t>
sur Polygon </a:t>
            </a:r>
            <a:r>
              <a:rPr lang="fr-FR" sz="1300" b="0" i="0" dirty="0">
                <a:solidFill>
                  <a:srgbClr val="F4F4F8"/>
                </a:solidFill>
              </a:rPr>
              <a:t>-</a:t>
            </a:r>
            <a:r>
              <a:rPr sz="1300" b="0" i="0" dirty="0">
                <a:solidFill>
                  <a:srgbClr val="F4F4F8"/>
                </a:solidFill>
              </a:rPr>
              <a:t> </a:t>
            </a:r>
            <a:r>
              <a:rPr sz="1300" b="0" i="0" dirty="0" err="1">
                <a:solidFill>
                  <a:srgbClr val="F4F4F8"/>
                </a:solidFill>
              </a:rPr>
              <a:t>immuable</a:t>
            </a:r>
            <a:r>
              <a:rPr sz="1300" b="0" i="0" dirty="0">
                <a:solidFill>
                  <a:srgbClr val="F4F4F8"/>
                </a:solidFill>
              </a:rPr>
              <a:t>
et verifiable </a:t>
            </a:r>
            <a:r>
              <a:rPr sz="1300" b="0" i="0" dirty="0" err="1">
                <a:solidFill>
                  <a:srgbClr val="F4F4F8"/>
                </a:solidFill>
              </a:rPr>
              <a:t>publiquement</a:t>
            </a:r>
            <a:endParaRPr sz="1300" b="0" i="0" dirty="0">
              <a:solidFill>
                <a:srgbClr val="F4F4F8"/>
              </a:solidFill>
            </a:endParaRPr>
          </a:p>
        </p:txBody>
      </p:sp>
      <p:sp>
        <p:nvSpPr>
          <p:cNvPr id="20" name="Rectangle 19"/>
          <p:cNvSpPr/>
          <p:nvPr/>
        </p:nvSpPr>
        <p:spPr>
          <a:xfrm>
            <a:off x="8302752" y="2423160"/>
            <a:ext cx="3749039" cy="37033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302752" y="2423160"/>
            <a:ext cx="3749039" cy="54864"/>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check-circle.png"/>
          <p:cNvPicPr>
            <a:picLocks noChangeAspect="1"/>
          </p:cNvPicPr>
          <p:nvPr/>
        </p:nvPicPr>
        <p:blipFill>
          <a:blip r:embed="rId5"/>
          <a:stretch>
            <a:fillRect/>
          </a:stretch>
        </p:blipFill>
        <p:spPr>
          <a:xfrm>
            <a:off x="8531352" y="2606040"/>
            <a:ext cx="868680" cy="868680"/>
          </a:xfrm>
          <a:prstGeom prst="rect">
            <a:avLst/>
          </a:prstGeom>
        </p:spPr>
      </p:pic>
      <p:sp>
        <p:nvSpPr>
          <p:cNvPr id="23" name="TextBox 22"/>
          <p:cNvSpPr txBox="1"/>
          <p:nvPr/>
        </p:nvSpPr>
        <p:spPr>
          <a:xfrm>
            <a:off x="9582912" y="2560320"/>
            <a:ext cx="2286000" cy="777240"/>
          </a:xfrm>
          <a:prstGeom prst="rect">
            <a:avLst/>
          </a:prstGeom>
          <a:noFill/>
        </p:spPr>
        <p:txBody>
          <a:bodyPr wrap="square">
            <a:spAutoFit/>
          </a:bodyPr>
          <a:lstStyle/>
          <a:p>
            <a:pPr algn="l"/>
            <a:r>
              <a:rPr sz="1800" b="1" i="0">
                <a:solidFill>
                  <a:srgbClr val="C9A84C"/>
                </a:solidFill>
              </a:rPr>
              <a:t>Verification
instantanee</a:t>
            </a:r>
          </a:p>
        </p:txBody>
      </p:sp>
      <p:sp>
        <p:nvSpPr>
          <p:cNvPr id="24" name="TextBox 23"/>
          <p:cNvSpPr txBox="1"/>
          <p:nvPr/>
        </p:nvSpPr>
        <p:spPr>
          <a:xfrm>
            <a:off x="8485632" y="3520440"/>
            <a:ext cx="3383280" cy="2423160"/>
          </a:xfrm>
          <a:prstGeom prst="rect">
            <a:avLst/>
          </a:prstGeom>
          <a:noFill/>
        </p:spPr>
        <p:txBody>
          <a:bodyPr wrap="square">
            <a:spAutoFit/>
          </a:bodyPr>
          <a:lstStyle/>
          <a:p>
            <a:pPr algn="l"/>
            <a:r>
              <a:rPr sz="1300" b="0" i="0">
                <a:solidFill>
                  <a:srgbClr val="F4F4F8"/>
                </a:solidFill>
              </a:rPr>
              <a:t>3 methodes : scan QR code,
hash SHA-256, ou upload
du fichier PDF</a:t>
            </a:r>
          </a:p>
        </p:txBody>
      </p:sp>
      <p:sp>
        <p:nvSpPr>
          <p:cNvPr id="25" name="TextBox 24"/>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6</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4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4</a:t>
            </a:r>
            <a:r>
              <a:rPr sz="900" b="1" i="0" dirty="0">
                <a:solidFill>
                  <a:srgbClr val="1A1A2E"/>
                </a:solidFill>
              </a:rPr>
              <a:t> </a:t>
            </a:r>
            <a:r>
              <a:rPr lang="fr-FR" sz="900" b="1" i="0" dirty="0">
                <a:solidFill>
                  <a:srgbClr val="1A1A2E"/>
                </a:solidFill>
              </a:rPr>
              <a:t>-</a:t>
            </a:r>
            <a:r>
              <a:rPr sz="900" b="1" i="0" dirty="0">
                <a:solidFill>
                  <a:srgbClr val="1A1A2E"/>
                </a:solidFill>
              </a:rPr>
              <a:t> ARCHITECTURE</a:t>
            </a:r>
          </a:p>
        </p:txBody>
      </p:sp>
      <p:sp>
        <p:nvSpPr>
          <p:cNvPr id="6" name="TextBox 5"/>
          <p:cNvSpPr txBox="1"/>
          <p:nvPr/>
        </p:nvSpPr>
        <p:spPr>
          <a:xfrm>
            <a:off x="365760" y="508837"/>
            <a:ext cx="9144000" cy="685800"/>
          </a:xfrm>
          <a:prstGeom prst="rect">
            <a:avLst/>
          </a:prstGeom>
          <a:noFill/>
        </p:spPr>
        <p:txBody>
          <a:bodyPr wrap="square">
            <a:spAutoFit/>
          </a:bodyPr>
          <a:lstStyle/>
          <a:p>
            <a:pPr algn="l"/>
            <a:r>
              <a:rPr sz="2800" b="1" i="0" dirty="0">
                <a:solidFill>
                  <a:srgbClr val="FFFFFF"/>
                </a:solidFill>
              </a:rPr>
              <a:t>Architecture du </a:t>
            </a:r>
            <a:r>
              <a:rPr sz="2800" b="1" i="0" dirty="0" err="1">
                <a:solidFill>
                  <a:srgbClr val="FFFFFF"/>
                </a:solidFill>
              </a:rPr>
              <a:t>systeme</a:t>
            </a:r>
            <a:endParaRPr sz="2800" b="1" i="0" dirty="0">
              <a:solidFill>
                <a:srgbClr val="FFFFFF"/>
              </a:solidFill>
            </a:endParaRPr>
          </a:p>
        </p:txBody>
      </p:sp>
      <p:sp>
        <p:nvSpPr>
          <p:cNvPr id="7" name="Rectangle 6"/>
          <p:cNvSpPr/>
          <p:nvPr/>
        </p:nvSpPr>
        <p:spPr>
          <a:xfrm>
            <a:off x="365760" y="1353312"/>
            <a:ext cx="3154680" cy="1209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353312"/>
            <a:ext cx="315468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erver.png"/>
          <p:cNvPicPr>
            <a:picLocks noChangeAspect="1"/>
          </p:cNvPicPr>
          <p:nvPr/>
        </p:nvPicPr>
        <p:blipFill>
          <a:blip r:embed="rId3"/>
          <a:stretch>
            <a:fillRect/>
          </a:stretch>
        </p:blipFill>
        <p:spPr>
          <a:xfrm>
            <a:off x="457200" y="1463040"/>
            <a:ext cx="502920" cy="502920"/>
          </a:xfrm>
          <a:prstGeom prst="rect">
            <a:avLst/>
          </a:prstGeom>
        </p:spPr>
      </p:pic>
      <p:sp>
        <p:nvSpPr>
          <p:cNvPr id="10" name="TextBox 9"/>
          <p:cNvSpPr txBox="1"/>
          <p:nvPr/>
        </p:nvSpPr>
        <p:spPr>
          <a:xfrm>
            <a:off x="1051560" y="1435608"/>
            <a:ext cx="2377440" cy="347472"/>
          </a:xfrm>
          <a:prstGeom prst="rect">
            <a:avLst/>
          </a:prstGeom>
          <a:noFill/>
        </p:spPr>
        <p:txBody>
          <a:bodyPr wrap="square">
            <a:spAutoFit/>
          </a:bodyPr>
          <a:lstStyle/>
          <a:p>
            <a:pPr algn="l"/>
            <a:r>
              <a:rPr sz="1300" b="1" i="0">
                <a:solidFill>
                  <a:srgbClr val="1A1A2E"/>
                </a:solidFill>
              </a:rPr>
              <a:t>FRONTEND</a:t>
            </a:r>
          </a:p>
        </p:txBody>
      </p:sp>
      <p:sp>
        <p:nvSpPr>
          <p:cNvPr id="11" name="TextBox 10"/>
          <p:cNvSpPr txBox="1"/>
          <p:nvPr/>
        </p:nvSpPr>
        <p:spPr>
          <a:xfrm>
            <a:off x="443484" y="1957932"/>
            <a:ext cx="2926080" cy="553998"/>
          </a:xfrm>
          <a:prstGeom prst="rect">
            <a:avLst/>
          </a:prstGeom>
          <a:noFill/>
        </p:spPr>
        <p:txBody>
          <a:bodyPr wrap="square">
            <a:spAutoFit/>
          </a:bodyPr>
          <a:lstStyle/>
          <a:p>
            <a:pPr algn="l"/>
            <a:r>
              <a:rPr lang="fr-FR" sz="1000" b="0" i="0" dirty="0">
                <a:solidFill>
                  <a:srgbClr val="444455"/>
                </a:solidFill>
              </a:rPr>
              <a:t>React + Vite</a:t>
            </a:r>
            <a:r>
              <a:rPr sz="1000" b="0" i="0" dirty="0">
                <a:solidFill>
                  <a:srgbClr val="444455"/>
                </a:solidFill>
              </a:rPr>
              <a:t>
Dashboard Admin - Espace </a:t>
            </a:r>
            <a:r>
              <a:rPr sz="1000" b="0" i="0" dirty="0" err="1">
                <a:solidFill>
                  <a:srgbClr val="444455"/>
                </a:solidFill>
              </a:rPr>
              <a:t>Etudiant</a:t>
            </a:r>
            <a:r>
              <a:rPr sz="1000" b="0" i="0" dirty="0">
                <a:solidFill>
                  <a:srgbClr val="444455"/>
                </a:solidFill>
              </a:rPr>
              <a:t>
Verification </a:t>
            </a:r>
            <a:r>
              <a:rPr sz="1000" b="0" i="0" dirty="0" err="1">
                <a:solidFill>
                  <a:srgbClr val="444455"/>
                </a:solidFill>
              </a:rPr>
              <a:t>Publique</a:t>
            </a:r>
            <a:endParaRPr sz="1000" b="0" i="0" dirty="0">
              <a:solidFill>
                <a:srgbClr val="444455"/>
              </a:solidFill>
            </a:endParaRPr>
          </a:p>
        </p:txBody>
      </p:sp>
      <p:sp>
        <p:nvSpPr>
          <p:cNvPr id="12" name="TextBox 11"/>
          <p:cNvSpPr txBox="1"/>
          <p:nvPr/>
        </p:nvSpPr>
        <p:spPr>
          <a:xfrm>
            <a:off x="3593592" y="1600200"/>
            <a:ext cx="411480" cy="411480"/>
          </a:xfrm>
          <a:prstGeom prst="rect">
            <a:avLst/>
          </a:prstGeom>
          <a:noFill/>
        </p:spPr>
        <p:txBody>
          <a:bodyPr wrap="square">
            <a:spAutoFit/>
          </a:bodyPr>
          <a:lstStyle/>
          <a:p>
            <a:pPr algn="ctr"/>
            <a:r>
              <a:rPr sz="2000" b="1" i="0">
                <a:solidFill>
                  <a:srgbClr val="C9A84C"/>
                </a:solidFill>
              </a:rPr>
              <a:t>-&gt;</a:t>
            </a:r>
          </a:p>
        </p:txBody>
      </p:sp>
      <p:sp>
        <p:nvSpPr>
          <p:cNvPr id="13" name="Rectangle 12"/>
          <p:cNvSpPr/>
          <p:nvPr/>
        </p:nvSpPr>
        <p:spPr>
          <a:xfrm>
            <a:off x="4114800" y="1353312"/>
            <a:ext cx="3931920" cy="10698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14800" y="1353312"/>
            <a:ext cx="393192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cpu.png"/>
          <p:cNvPicPr>
            <a:picLocks noChangeAspect="1"/>
          </p:cNvPicPr>
          <p:nvPr/>
        </p:nvPicPr>
        <p:blipFill>
          <a:blip r:embed="rId4"/>
          <a:stretch>
            <a:fillRect/>
          </a:stretch>
        </p:blipFill>
        <p:spPr>
          <a:xfrm>
            <a:off x="4206240" y="1444752"/>
            <a:ext cx="502920" cy="502920"/>
          </a:xfrm>
          <a:prstGeom prst="rect">
            <a:avLst/>
          </a:prstGeom>
        </p:spPr>
      </p:pic>
      <p:sp>
        <p:nvSpPr>
          <p:cNvPr id="16" name="TextBox 15"/>
          <p:cNvSpPr txBox="1"/>
          <p:nvPr/>
        </p:nvSpPr>
        <p:spPr>
          <a:xfrm>
            <a:off x="4800600" y="1435608"/>
            <a:ext cx="3108960" cy="347472"/>
          </a:xfrm>
          <a:prstGeom prst="rect">
            <a:avLst/>
          </a:prstGeom>
          <a:noFill/>
        </p:spPr>
        <p:txBody>
          <a:bodyPr wrap="square">
            <a:spAutoFit/>
          </a:bodyPr>
          <a:lstStyle/>
          <a:p>
            <a:pPr algn="l"/>
            <a:r>
              <a:rPr sz="1200" b="1" i="0">
                <a:solidFill>
                  <a:srgbClr val="C9A84C"/>
                </a:solidFill>
              </a:rPr>
              <a:t>BACKEND - NestJS API REST</a:t>
            </a:r>
          </a:p>
        </p:txBody>
      </p:sp>
      <p:sp>
        <p:nvSpPr>
          <p:cNvPr id="17" name="TextBox 16"/>
          <p:cNvSpPr txBox="1"/>
          <p:nvPr/>
        </p:nvSpPr>
        <p:spPr>
          <a:xfrm>
            <a:off x="4343400" y="1892808"/>
            <a:ext cx="3703320" cy="502920"/>
          </a:xfrm>
          <a:prstGeom prst="rect">
            <a:avLst/>
          </a:prstGeom>
          <a:noFill/>
        </p:spPr>
        <p:txBody>
          <a:bodyPr wrap="square">
            <a:spAutoFit/>
          </a:bodyPr>
          <a:lstStyle/>
          <a:p>
            <a:pPr algn="l"/>
            <a:r>
              <a:rPr sz="1000" b="0" i="0" dirty="0">
                <a:solidFill>
                  <a:srgbClr val="F4F4F8"/>
                </a:solidFill>
              </a:rPr>
              <a:t>Auth JWT - RBAC </a:t>
            </a:r>
            <a:r>
              <a:rPr sz="1000" b="0" i="0" dirty="0" err="1">
                <a:solidFill>
                  <a:srgbClr val="F4F4F8"/>
                </a:solidFill>
              </a:rPr>
              <a:t>Granulaire</a:t>
            </a:r>
            <a:r>
              <a:rPr sz="1000" b="0" i="0" dirty="0">
                <a:solidFill>
                  <a:srgbClr val="F4F4F8"/>
                </a:solidFill>
              </a:rPr>
              <a:t>
Gestion </a:t>
            </a:r>
            <a:r>
              <a:rPr sz="1000" b="0" i="0" dirty="0" err="1">
                <a:solidFill>
                  <a:srgbClr val="F4F4F8"/>
                </a:solidFill>
              </a:rPr>
              <a:t>Diplomes</a:t>
            </a:r>
            <a:r>
              <a:rPr sz="1000" b="0" i="0" dirty="0">
                <a:solidFill>
                  <a:srgbClr val="F4F4F8"/>
                </a:solidFill>
              </a:rPr>
              <a:t> - Multi-tenant
Swagger </a:t>
            </a:r>
            <a:r>
              <a:rPr sz="1000" b="0" i="0" dirty="0" err="1">
                <a:solidFill>
                  <a:srgbClr val="F4F4F8"/>
                </a:solidFill>
              </a:rPr>
              <a:t>OpenAPI</a:t>
            </a:r>
            <a:endParaRPr sz="1000" b="0" i="0" dirty="0">
              <a:solidFill>
                <a:srgbClr val="F4F4F8"/>
              </a:solidFill>
            </a:endParaRPr>
          </a:p>
        </p:txBody>
      </p:sp>
      <p:sp>
        <p:nvSpPr>
          <p:cNvPr id="18" name="TextBox 17"/>
          <p:cNvSpPr txBox="1"/>
          <p:nvPr/>
        </p:nvSpPr>
        <p:spPr>
          <a:xfrm>
            <a:off x="4617720" y="2395728"/>
            <a:ext cx="365760" cy="320040"/>
          </a:xfrm>
          <a:prstGeom prst="rect">
            <a:avLst/>
          </a:prstGeom>
          <a:noFill/>
        </p:spPr>
        <p:txBody>
          <a:bodyPr wrap="square">
            <a:spAutoFit/>
          </a:bodyPr>
          <a:lstStyle/>
          <a:p>
            <a:pPr algn="ctr"/>
            <a:r>
              <a:rPr sz="1400" b="1" i="0">
                <a:solidFill>
                  <a:srgbClr val="C9A84C"/>
                </a:solidFill>
              </a:rPr>
              <a:t>v</a:t>
            </a:r>
          </a:p>
        </p:txBody>
      </p:sp>
      <p:sp>
        <p:nvSpPr>
          <p:cNvPr id="19" name="TextBox 18"/>
          <p:cNvSpPr txBox="1"/>
          <p:nvPr/>
        </p:nvSpPr>
        <p:spPr>
          <a:xfrm>
            <a:off x="5989320" y="2395728"/>
            <a:ext cx="365760" cy="320040"/>
          </a:xfrm>
          <a:prstGeom prst="rect">
            <a:avLst/>
          </a:prstGeom>
          <a:noFill/>
        </p:spPr>
        <p:txBody>
          <a:bodyPr wrap="square">
            <a:spAutoFit/>
          </a:bodyPr>
          <a:lstStyle/>
          <a:p>
            <a:pPr algn="ctr"/>
            <a:r>
              <a:rPr sz="1400" b="1" i="0">
                <a:solidFill>
                  <a:srgbClr val="C9A84C"/>
                </a:solidFill>
              </a:rPr>
              <a:t>v</a:t>
            </a:r>
          </a:p>
        </p:txBody>
      </p:sp>
      <p:sp>
        <p:nvSpPr>
          <p:cNvPr id="20" name="TextBox 19"/>
          <p:cNvSpPr txBox="1"/>
          <p:nvPr/>
        </p:nvSpPr>
        <p:spPr>
          <a:xfrm>
            <a:off x="7360920" y="2395728"/>
            <a:ext cx="365760" cy="320040"/>
          </a:xfrm>
          <a:prstGeom prst="rect">
            <a:avLst/>
          </a:prstGeom>
          <a:noFill/>
        </p:spPr>
        <p:txBody>
          <a:bodyPr wrap="square">
            <a:spAutoFit/>
          </a:bodyPr>
          <a:lstStyle/>
          <a:p>
            <a:pPr algn="ctr"/>
            <a:r>
              <a:rPr sz="1400" b="1" i="0">
                <a:solidFill>
                  <a:srgbClr val="C9A84C"/>
                </a:solidFill>
              </a:rPr>
              <a:t>v</a:t>
            </a:r>
          </a:p>
        </p:txBody>
      </p:sp>
      <p:sp>
        <p:nvSpPr>
          <p:cNvPr id="21" name="Rectangle 20"/>
          <p:cNvSpPr/>
          <p:nvPr/>
        </p:nvSpPr>
        <p:spPr>
          <a:xfrm>
            <a:off x="4114800" y="2834640"/>
            <a:ext cx="146304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114800" y="2834640"/>
            <a:ext cx="14630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database.png"/>
          <p:cNvPicPr>
            <a:picLocks noChangeAspect="1"/>
          </p:cNvPicPr>
          <p:nvPr/>
        </p:nvPicPr>
        <p:blipFill>
          <a:blip r:embed="rId5"/>
          <a:stretch>
            <a:fillRect/>
          </a:stretch>
        </p:blipFill>
        <p:spPr>
          <a:xfrm>
            <a:off x="4187952" y="2898648"/>
            <a:ext cx="411480" cy="411480"/>
          </a:xfrm>
          <a:prstGeom prst="rect">
            <a:avLst/>
          </a:prstGeom>
        </p:spPr>
      </p:pic>
      <p:sp>
        <p:nvSpPr>
          <p:cNvPr id="24" name="TextBox 23"/>
          <p:cNvSpPr txBox="1"/>
          <p:nvPr/>
        </p:nvSpPr>
        <p:spPr>
          <a:xfrm>
            <a:off x="4663440" y="2907792"/>
            <a:ext cx="868680" cy="347472"/>
          </a:xfrm>
          <a:prstGeom prst="rect">
            <a:avLst/>
          </a:prstGeom>
          <a:noFill/>
        </p:spPr>
        <p:txBody>
          <a:bodyPr wrap="square">
            <a:spAutoFit/>
          </a:bodyPr>
          <a:lstStyle/>
          <a:p>
            <a:pPr algn="l"/>
            <a:r>
              <a:rPr sz="1000" b="1" i="0">
                <a:solidFill>
                  <a:srgbClr val="1A1A2E"/>
                </a:solidFill>
              </a:rPr>
              <a:t>PostgreSQL</a:t>
            </a:r>
          </a:p>
        </p:txBody>
      </p:sp>
      <p:sp>
        <p:nvSpPr>
          <p:cNvPr id="25" name="TextBox 24"/>
          <p:cNvSpPr txBox="1"/>
          <p:nvPr/>
        </p:nvSpPr>
        <p:spPr>
          <a:xfrm>
            <a:off x="4187952" y="3291840"/>
            <a:ext cx="1325880" cy="868680"/>
          </a:xfrm>
          <a:prstGeom prst="rect">
            <a:avLst/>
          </a:prstGeom>
          <a:noFill/>
        </p:spPr>
        <p:txBody>
          <a:bodyPr wrap="square">
            <a:spAutoFit/>
          </a:bodyPr>
          <a:lstStyle/>
          <a:p>
            <a:pPr algn="l"/>
            <a:r>
              <a:rPr sz="900" b="0" i="0">
                <a:solidFill>
                  <a:srgbClr val="444455"/>
                </a:solidFill>
              </a:rPr>
              <a:t>Base de donnees
Prisma ORM
Soft delete</a:t>
            </a:r>
          </a:p>
        </p:txBody>
      </p:sp>
      <p:sp>
        <p:nvSpPr>
          <p:cNvPr id="26" name="Rectangle 25"/>
          <p:cNvSpPr/>
          <p:nvPr/>
        </p:nvSpPr>
        <p:spPr>
          <a:xfrm>
            <a:off x="5623560" y="2834640"/>
            <a:ext cx="146304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23560" y="2834640"/>
            <a:ext cx="14630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cloud.png"/>
          <p:cNvPicPr>
            <a:picLocks noChangeAspect="1"/>
          </p:cNvPicPr>
          <p:nvPr/>
        </p:nvPicPr>
        <p:blipFill>
          <a:blip r:embed="rId6"/>
          <a:stretch>
            <a:fillRect/>
          </a:stretch>
        </p:blipFill>
        <p:spPr>
          <a:xfrm>
            <a:off x="5696712" y="2898648"/>
            <a:ext cx="411480" cy="411480"/>
          </a:xfrm>
          <a:prstGeom prst="rect">
            <a:avLst/>
          </a:prstGeom>
        </p:spPr>
      </p:pic>
      <p:sp>
        <p:nvSpPr>
          <p:cNvPr id="29" name="TextBox 28"/>
          <p:cNvSpPr txBox="1"/>
          <p:nvPr/>
        </p:nvSpPr>
        <p:spPr>
          <a:xfrm>
            <a:off x="6172200" y="2907792"/>
            <a:ext cx="868680" cy="347472"/>
          </a:xfrm>
          <a:prstGeom prst="rect">
            <a:avLst/>
          </a:prstGeom>
          <a:noFill/>
        </p:spPr>
        <p:txBody>
          <a:bodyPr wrap="square">
            <a:spAutoFit/>
          </a:bodyPr>
          <a:lstStyle/>
          <a:p>
            <a:pPr algn="l"/>
            <a:r>
              <a:rPr sz="1000" b="1" i="0">
                <a:solidFill>
                  <a:srgbClr val="1A1A2E"/>
                </a:solidFill>
              </a:rPr>
              <a:t>Cloudflare R2</a:t>
            </a:r>
          </a:p>
        </p:txBody>
      </p:sp>
      <p:sp>
        <p:nvSpPr>
          <p:cNvPr id="30" name="TextBox 29"/>
          <p:cNvSpPr txBox="1"/>
          <p:nvPr/>
        </p:nvSpPr>
        <p:spPr>
          <a:xfrm>
            <a:off x="5696712" y="3291840"/>
            <a:ext cx="1325880" cy="868680"/>
          </a:xfrm>
          <a:prstGeom prst="rect">
            <a:avLst/>
          </a:prstGeom>
          <a:noFill/>
        </p:spPr>
        <p:txBody>
          <a:bodyPr wrap="square">
            <a:spAutoFit/>
          </a:bodyPr>
          <a:lstStyle/>
          <a:p>
            <a:pPr algn="l"/>
            <a:r>
              <a:rPr sz="900" b="0" i="0">
                <a:solidFill>
                  <a:srgbClr val="444455"/>
                </a:solidFill>
              </a:rPr>
              <a:t>Stockage PDF
Presigned URL
10 GB gratuit</a:t>
            </a:r>
          </a:p>
        </p:txBody>
      </p:sp>
      <p:sp>
        <p:nvSpPr>
          <p:cNvPr id="31" name="Rectangle 30"/>
          <p:cNvSpPr/>
          <p:nvPr/>
        </p:nvSpPr>
        <p:spPr>
          <a:xfrm>
            <a:off x="7132320" y="2834640"/>
            <a:ext cx="146304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132320" y="2834640"/>
            <a:ext cx="14630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link.png"/>
          <p:cNvPicPr>
            <a:picLocks noChangeAspect="1"/>
          </p:cNvPicPr>
          <p:nvPr/>
        </p:nvPicPr>
        <p:blipFill>
          <a:blip r:embed="rId7"/>
          <a:stretch>
            <a:fillRect/>
          </a:stretch>
        </p:blipFill>
        <p:spPr>
          <a:xfrm>
            <a:off x="7205472" y="2898648"/>
            <a:ext cx="411480" cy="411480"/>
          </a:xfrm>
          <a:prstGeom prst="rect">
            <a:avLst/>
          </a:prstGeom>
        </p:spPr>
      </p:pic>
      <p:sp>
        <p:nvSpPr>
          <p:cNvPr id="34" name="TextBox 33"/>
          <p:cNvSpPr txBox="1"/>
          <p:nvPr/>
        </p:nvSpPr>
        <p:spPr>
          <a:xfrm>
            <a:off x="7680960" y="2907792"/>
            <a:ext cx="868680" cy="347472"/>
          </a:xfrm>
          <a:prstGeom prst="rect">
            <a:avLst/>
          </a:prstGeom>
          <a:noFill/>
        </p:spPr>
        <p:txBody>
          <a:bodyPr wrap="square">
            <a:spAutoFit/>
          </a:bodyPr>
          <a:lstStyle/>
          <a:p>
            <a:pPr algn="l"/>
            <a:r>
              <a:rPr sz="1000" b="1" i="0">
                <a:solidFill>
                  <a:srgbClr val="1A1A2E"/>
                </a:solidFill>
              </a:rPr>
              <a:t>Polygon</a:t>
            </a:r>
          </a:p>
        </p:txBody>
      </p:sp>
      <p:sp>
        <p:nvSpPr>
          <p:cNvPr id="35" name="TextBox 34"/>
          <p:cNvSpPr txBox="1"/>
          <p:nvPr/>
        </p:nvSpPr>
        <p:spPr>
          <a:xfrm>
            <a:off x="7205472" y="3291840"/>
            <a:ext cx="1325880" cy="868680"/>
          </a:xfrm>
          <a:prstGeom prst="rect">
            <a:avLst/>
          </a:prstGeom>
          <a:noFill/>
        </p:spPr>
        <p:txBody>
          <a:bodyPr wrap="square">
            <a:spAutoFit/>
          </a:bodyPr>
          <a:lstStyle/>
          <a:p>
            <a:pPr algn="l"/>
            <a:r>
              <a:rPr sz="900" b="0" i="0">
                <a:solidFill>
                  <a:srgbClr val="444455"/>
                </a:solidFill>
              </a:rPr>
              <a:t>Blockchain
Amoy Testnet
Smart Contract</a:t>
            </a:r>
          </a:p>
        </p:txBody>
      </p:sp>
      <p:sp>
        <p:nvSpPr>
          <p:cNvPr id="36" name="Rectangle 35"/>
          <p:cNvSpPr/>
          <p:nvPr/>
        </p:nvSpPr>
        <p:spPr>
          <a:xfrm>
            <a:off x="365760" y="4434840"/>
            <a:ext cx="11475720" cy="7772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65760" y="4434840"/>
            <a:ext cx="114757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docker.png"/>
          <p:cNvPicPr>
            <a:picLocks noChangeAspect="1"/>
          </p:cNvPicPr>
          <p:nvPr/>
        </p:nvPicPr>
        <p:blipFill>
          <a:blip r:embed="rId8"/>
          <a:stretch>
            <a:fillRect/>
          </a:stretch>
        </p:blipFill>
        <p:spPr>
          <a:xfrm>
            <a:off x="457200" y="4507992"/>
            <a:ext cx="701288" cy="502920"/>
          </a:xfrm>
          <a:prstGeom prst="rect">
            <a:avLst/>
          </a:prstGeom>
        </p:spPr>
      </p:pic>
      <p:sp>
        <p:nvSpPr>
          <p:cNvPr id="39" name="TextBox 38"/>
          <p:cNvSpPr txBox="1"/>
          <p:nvPr/>
        </p:nvSpPr>
        <p:spPr>
          <a:xfrm>
            <a:off x="1097280" y="4535424"/>
            <a:ext cx="10515600" cy="347472"/>
          </a:xfrm>
          <a:prstGeom prst="rect">
            <a:avLst/>
          </a:prstGeom>
          <a:noFill/>
        </p:spPr>
        <p:txBody>
          <a:bodyPr wrap="square">
            <a:spAutoFit/>
          </a:bodyPr>
          <a:lstStyle/>
          <a:p>
            <a:pPr algn="l"/>
            <a:r>
              <a:rPr sz="1200" b="1" i="0">
                <a:solidFill>
                  <a:srgbClr val="FFFFFF"/>
                </a:solidFill>
              </a:rPr>
              <a:t>Docker Compose  -  Orchestration locale (backend - frontend - PostgreSQL - pgAdmin)</a:t>
            </a:r>
          </a:p>
        </p:txBody>
      </p:sp>
      <p:sp>
        <p:nvSpPr>
          <p:cNvPr id="40" name="TextBox 39"/>
          <p:cNvSpPr txBox="1"/>
          <p:nvPr/>
        </p:nvSpPr>
        <p:spPr>
          <a:xfrm>
            <a:off x="1097280" y="4864608"/>
            <a:ext cx="10515600" cy="347472"/>
          </a:xfrm>
          <a:prstGeom prst="rect">
            <a:avLst/>
          </a:prstGeom>
          <a:noFill/>
        </p:spPr>
        <p:txBody>
          <a:bodyPr wrap="square">
            <a:spAutoFit/>
          </a:bodyPr>
          <a:lstStyle/>
          <a:p>
            <a:pPr algn="l"/>
            <a:r>
              <a:rPr sz="1100" b="0" i="0">
                <a:solidFill>
                  <a:srgbClr val="F4F4F8"/>
                </a:solidFill>
              </a:rPr>
              <a:t>Variables d'env via .env  -  Volumes persistants  -  Hot-reload en developpement</a:t>
            </a:r>
          </a:p>
        </p:txBody>
      </p:sp>
      <p:sp>
        <p:nvSpPr>
          <p:cNvPr id="41" name="TextBox 40"/>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7</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4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5</a:t>
            </a:r>
            <a:r>
              <a:rPr sz="900" b="1" i="0" dirty="0">
                <a:solidFill>
                  <a:srgbClr val="1A1A2E"/>
                </a:solidFill>
              </a:rPr>
              <a:t> — STACK</a:t>
            </a:r>
          </a:p>
        </p:txBody>
      </p:sp>
      <p:sp>
        <p:nvSpPr>
          <p:cNvPr id="6" name="TextBox 5"/>
          <p:cNvSpPr txBox="1"/>
          <p:nvPr/>
        </p:nvSpPr>
        <p:spPr>
          <a:xfrm>
            <a:off x="201168" y="521208"/>
            <a:ext cx="10058400" cy="523220"/>
          </a:xfrm>
          <a:prstGeom prst="rect">
            <a:avLst/>
          </a:prstGeom>
          <a:noFill/>
        </p:spPr>
        <p:txBody>
          <a:bodyPr wrap="square">
            <a:spAutoFit/>
          </a:bodyPr>
          <a:lstStyle/>
          <a:p>
            <a:pPr algn="l"/>
            <a:r>
              <a:rPr sz="2800" b="1" i="0" dirty="0">
                <a:solidFill>
                  <a:srgbClr val="FFFFFF"/>
                </a:solidFill>
              </a:rPr>
              <a:t>Technologies </a:t>
            </a:r>
            <a:r>
              <a:rPr sz="2800" b="1" i="0" dirty="0" err="1">
                <a:solidFill>
                  <a:srgbClr val="FFFFFF"/>
                </a:solidFill>
              </a:rPr>
              <a:t>choisies</a:t>
            </a:r>
            <a:r>
              <a:rPr sz="2800" b="1" i="0" dirty="0">
                <a:solidFill>
                  <a:srgbClr val="FFFFFF"/>
                </a:solidFill>
              </a:rPr>
              <a:t> </a:t>
            </a:r>
            <a:r>
              <a:rPr lang="fr-FR" sz="2800" b="1" i="0" dirty="0">
                <a:solidFill>
                  <a:srgbClr val="FFFFFF"/>
                </a:solidFill>
              </a:rPr>
              <a:t>-</a:t>
            </a:r>
            <a:r>
              <a:rPr sz="2800" b="1" i="0" dirty="0">
                <a:solidFill>
                  <a:srgbClr val="FFFFFF"/>
                </a:solidFill>
              </a:rPr>
              <a:t> et </a:t>
            </a:r>
            <a:r>
              <a:rPr sz="2800" b="1" i="0" dirty="0" err="1">
                <a:solidFill>
                  <a:srgbClr val="FFFFFF"/>
                </a:solidFill>
              </a:rPr>
              <a:t>pourquoi</a:t>
            </a:r>
            <a:endParaRPr sz="2800" b="1" i="0" dirty="0">
              <a:solidFill>
                <a:srgbClr val="FFFFFF"/>
              </a:solidFill>
            </a:endParaRPr>
          </a:p>
        </p:txBody>
      </p:sp>
      <p:sp>
        <p:nvSpPr>
          <p:cNvPr id="7" name="Rectangle 6"/>
          <p:cNvSpPr/>
          <p:nvPr/>
        </p:nvSpPr>
        <p:spPr>
          <a:xfrm>
            <a:off x="320040" y="1325880"/>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 y="1325880"/>
            <a:ext cx="54864" cy="1234440"/>
          </a:xfrm>
          <a:prstGeom prst="rect">
            <a:avLst/>
          </a:prstGeom>
          <a:solidFill>
            <a:srgbClr val="E02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nestjs.png"/>
          <p:cNvPicPr>
            <a:picLocks noChangeAspect="1"/>
          </p:cNvPicPr>
          <p:nvPr/>
        </p:nvPicPr>
        <p:blipFill>
          <a:blip r:embed="rId3"/>
          <a:stretch>
            <a:fillRect/>
          </a:stretch>
        </p:blipFill>
        <p:spPr>
          <a:xfrm>
            <a:off x="484632" y="1527048"/>
            <a:ext cx="777240" cy="777240"/>
          </a:xfrm>
          <a:prstGeom prst="rect">
            <a:avLst/>
          </a:prstGeom>
        </p:spPr>
      </p:pic>
      <p:sp>
        <p:nvSpPr>
          <p:cNvPr id="10" name="TextBox 9"/>
          <p:cNvSpPr txBox="1"/>
          <p:nvPr/>
        </p:nvSpPr>
        <p:spPr>
          <a:xfrm>
            <a:off x="1463040" y="1417320"/>
            <a:ext cx="4343400" cy="384048"/>
          </a:xfrm>
          <a:prstGeom prst="rect">
            <a:avLst/>
          </a:prstGeom>
          <a:noFill/>
        </p:spPr>
        <p:txBody>
          <a:bodyPr wrap="square">
            <a:spAutoFit/>
          </a:bodyPr>
          <a:lstStyle/>
          <a:p>
            <a:pPr algn="l"/>
            <a:r>
              <a:rPr sz="1400" b="1" i="0">
                <a:solidFill>
                  <a:srgbClr val="1A1A2E"/>
                </a:solidFill>
              </a:rPr>
              <a:t>NestJS + TypeScript</a:t>
            </a:r>
          </a:p>
        </p:txBody>
      </p:sp>
      <p:sp>
        <p:nvSpPr>
          <p:cNvPr id="11" name="TextBox 10"/>
          <p:cNvSpPr txBox="1"/>
          <p:nvPr/>
        </p:nvSpPr>
        <p:spPr>
          <a:xfrm>
            <a:off x="1463040" y="1801368"/>
            <a:ext cx="4343400" cy="658368"/>
          </a:xfrm>
          <a:prstGeom prst="rect">
            <a:avLst/>
          </a:prstGeom>
          <a:noFill/>
        </p:spPr>
        <p:txBody>
          <a:bodyPr wrap="square">
            <a:spAutoFit/>
          </a:bodyPr>
          <a:lstStyle/>
          <a:p>
            <a:pPr algn="l"/>
            <a:r>
              <a:rPr sz="1100" b="0" i="0">
                <a:solidFill>
                  <a:srgbClr val="444455"/>
                </a:solidFill>
              </a:rPr>
              <a:t>Architecture modulaire, typage strict.
Le compilateur detecte les bugs avant l'execution.</a:t>
            </a:r>
          </a:p>
        </p:txBody>
      </p:sp>
      <p:sp>
        <p:nvSpPr>
          <p:cNvPr id="12" name="Rectangle 11"/>
          <p:cNvSpPr/>
          <p:nvPr/>
        </p:nvSpPr>
        <p:spPr>
          <a:xfrm>
            <a:off x="320040" y="2651760"/>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0040" y="2651760"/>
            <a:ext cx="54864" cy="1234440"/>
          </a:xfrm>
          <a:prstGeom prst="rect">
            <a:avLst/>
          </a:prstGeom>
          <a:solidFill>
            <a:srgbClr val="336A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postgresql.png"/>
          <p:cNvPicPr>
            <a:picLocks noChangeAspect="1"/>
          </p:cNvPicPr>
          <p:nvPr/>
        </p:nvPicPr>
        <p:blipFill>
          <a:blip r:embed="rId4"/>
          <a:stretch>
            <a:fillRect/>
          </a:stretch>
        </p:blipFill>
        <p:spPr>
          <a:xfrm>
            <a:off x="484632" y="2852928"/>
            <a:ext cx="753518" cy="777240"/>
          </a:xfrm>
          <a:prstGeom prst="rect">
            <a:avLst/>
          </a:prstGeom>
        </p:spPr>
      </p:pic>
      <p:sp>
        <p:nvSpPr>
          <p:cNvPr id="15" name="TextBox 14"/>
          <p:cNvSpPr txBox="1"/>
          <p:nvPr/>
        </p:nvSpPr>
        <p:spPr>
          <a:xfrm>
            <a:off x="1463040" y="2743200"/>
            <a:ext cx="4343400" cy="384048"/>
          </a:xfrm>
          <a:prstGeom prst="rect">
            <a:avLst/>
          </a:prstGeom>
          <a:noFill/>
        </p:spPr>
        <p:txBody>
          <a:bodyPr wrap="square">
            <a:spAutoFit/>
          </a:bodyPr>
          <a:lstStyle/>
          <a:p>
            <a:pPr algn="l"/>
            <a:r>
              <a:rPr sz="1400" b="1" i="0">
                <a:solidFill>
                  <a:srgbClr val="1A1A2E"/>
                </a:solidFill>
              </a:rPr>
              <a:t>PostgreSQL 16</a:t>
            </a:r>
          </a:p>
        </p:txBody>
      </p:sp>
      <p:sp>
        <p:nvSpPr>
          <p:cNvPr id="16" name="TextBox 15"/>
          <p:cNvSpPr txBox="1"/>
          <p:nvPr/>
        </p:nvSpPr>
        <p:spPr>
          <a:xfrm>
            <a:off x="1463040" y="3127248"/>
            <a:ext cx="4343400" cy="658368"/>
          </a:xfrm>
          <a:prstGeom prst="rect">
            <a:avLst/>
          </a:prstGeom>
          <a:noFill/>
        </p:spPr>
        <p:txBody>
          <a:bodyPr wrap="square">
            <a:spAutoFit/>
          </a:bodyPr>
          <a:lstStyle/>
          <a:p>
            <a:pPr algn="l"/>
            <a:r>
              <a:rPr sz="1100" b="0" i="0">
                <a:solidFill>
                  <a:srgbClr val="444455"/>
                </a:solidFill>
              </a:rPr>
              <a:t>Transactions ACID, UUID natifs, soft-delete.
La coherence des diplomes est garantie par la base.</a:t>
            </a:r>
          </a:p>
        </p:txBody>
      </p:sp>
      <p:sp>
        <p:nvSpPr>
          <p:cNvPr id="17" name="Rectangle 16"/>
          <p:cNvSpPr/>
          <p:nvPr/>
        </p:nvSpPr>
        <p:spPr>
          <a:xfrm>
            <a:off x="320040" y="3977639"/>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0040" y="3977639"/>
            <a:ext cx="54864" cy="1234440"/>
          </a:xfrm>
          <a:prstGeom prst="rect">
            <a:avLst/>
          </a:prstGeom>
          <a:solidFill>
            <a:srgbClr val="834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polygon.png"/>
          <p:cNvPicPr>
            <a:picLocks noChangeAspect="1"/>
          </p:cNvPicPr>
          <p:nvPr/>
        </p:nvPicPr>
        <p:blipFill>
          <a:blip r:embed="rId5"/>
          <a:stretch>
            <a:fillRect/>
          </a:stretch>
        </p:blipFill>
        <p:spPr>
          <a:xfrm>
            <a:off x="484632" y="4178807"/>
            <a:ext cx="777240" cy="777240"/>
          </a:xfrm>
          <a:prstGeom prst="rect">
            <a:avLst/>
          </a:prstGeom>
        </p:spPr>
      </p:pic>
      <p:sp>
        <p:nvSpPr>
          <p:cNvPr id="20" name="TextBox 19"/>
          <p:cNvSpPr txBox="1"/>
          <p:nvPr/>
        </p:nvSpPr>
        <p:spPr>
          <a:xfrm>
            <a:off x="1463040" y="4069079"/>
            <a:ext cx="4343400" cy="384048"/>
          </a:xfrm>
          <a:prstGeom prst="rect">
            <a:avLst/>
          </a:prstGeom>
          <a:noFill/>
        </p:spPr>
        <p:txBody>
          <a:bodyPr wrap="square">
            <a:spAutoFit/>
          </a:bodyPr>
          <a:lstStyle/>
          <a:p>
            <a:pPr algn="l"/>
            <a:r>
              <a:rPr sz="1400" b="1" i="0">
                <a:solidFill>
                  <a:srgbClr val="1A1A2E"/>
                </a:solidFill>
              </a:rPr>
              <a:t>Polygon (Blockchain)</a:t>
            </a:r>
          </a:p>
        </p:txBody>
      </p:sp>
      <p:sp>
        <p:nvSpPr>
          <p:cNvPr id="21" name="TextBox 20"/>
          <p:cNvSpPr txBox="1"/>
          <p:nvPr/>
        </p:nvSpPr>
        <p:spPr>
          <a:xfrm>
            <a:off x="1463040" y="4453127"/>
            <a:ext cx="4343400" cy="658368"/>
          </a:xfrm>
          <a:prstGeom prst="rect">
            <a:avLst/>
          </a:prstGeom>
          <a:noFill/>
        </p:spPr>
        <p:txBody>
          <a:bodyPr wrap="square">
            <a:spAutoFit/>
          </a:bodyPr>
          <a:lstStyle/>
          <a:p>
            <a:pPr algn="l"/>
            <a:r>
              <a:rPr sz="1100" b="0" i="0">
                <a:solidFill>
                  <a:srgbClr val="444455"/>
                </a:solidFill>
              </a:rPr>
              <a:t>Reseau EVM, frais quasi-nuls.
Chaque diplome valide est ancre de facon immuable.</a:t>
            </a:r>
          </a:p>
        </p:txBody>
      </p:sp>
      <p:sp>
        <p:nvSpPr>
          <p:cNvPr id="22" name="Rectangle 21"/>
          <p:cNvSpPr/>
          <p:nvPr/>
        </p:nvSpPr>
        <p:spPr>
          <a:xfrm>
            <a:off x="320040" y="5303520"/>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20040" y="5303520"/>
            <a:ext cx="54864" cy="1234440"/>
          </a:xfrm>
          <a:prstGeom prst="rect">
            <a:avLst/>
          </a:prstGeom>
          <a:solidFill>
            <a:srgbClr val="0091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docker.png"/>
          <p:cNvPicPr>
            <a:picLocks noChangeAspect="1"/>
          </p:cNvPicPr>
          <p:nvPr/>
        </p:nvPicPr>
        <p:blipFill>
          <a:blip r:embed="rId6"/>
          <a:stretch>
            <a:fillRect/>
          </a:stretch>
        </p:blipFill>
        <p:spPr>
          <a:xfrm>
            <a:off x="484632" y="5504688"/>
            <a:ext cx="1083808" cy="777240"/>
          </a:xfrm>
          <a:prstGeom prst="rect">
            <a:avLst/>
          </a:prstGeom>
        </p:spPr>
      </p:pic>
      <p:sp>
        <p:nvSpPr>
          <p:cNvPr id="25" name="TextBox 24"/>
          <p:cNvSpPr txBox="1"/>
          <p:nvPr/>
        </p:nvSpPr>
        <p:spPr>
          <a:xfrm>
            <a:off x="1463040" y="5394960"/>
            <a:ext cx="4343400" cy="384048"/>
          </a:xfrm>
          <a:prstGeom prst="rect">
            <a:avLst/>
          </a:prstGeom>
          <a:noFill/>
        </p:spPr>
        <p:txBody>
          <a:bodyPr wrap="square">
            <a:spAutoFit/>
          </a:bodyPr>
          <a:lstStyle/>
          <a:p>
            <a:pPr algn="l"/>
            <a:r>
              <a:rPr sz="1400" b="1" i="0">
                <a:solidFill>
                  <a:srgbClr val="1A1A2E"/>
                </a:solidFill>
              </a:rPr>
              <a:t>Docker Compose</a:t>
            </a:r>
          </a:p>
        </p:txBody>
      </p:sp>
      <p:sp>
        <p:nvSpPr>
          <p:cNvPr id="26" name="TextBox 25"/>
          <p:cNvSpPr txBox="1"/>
          <p:nvPr/>
        </p:nvSpPr>
        <p:spPr>
          <a:xfrm>
            <a:off x="1463040" y="5779008"/>
            <a:ext cx="4343400" cy="658368"/>
          </a:xfrm>
          <a:prstGeom prst="rect">
            <a:avLst/>
          </a:prstGeom>
          <a:noFill/>
        </p:spPr>
        <p:txBody>
          <a:bodyPr wrap="square">
            <a:spAutoFit/>
          </a:bodyPr>
          <a:lstStyle/>
          <a:p>
            <a:pPr algn="l"/>
            <a:r>
              <a:rPr sz="1100" b="0" i="0">
                <a:solidFill>
                  <a:srgbClr val="444455"/>
                </a:solidFill>
              </a:rPr>
              <a:t>Meme environnement dev et production.
Zero surprise lors du deploiement.</a:t>
            </a:r>
          </a:p>
        </p:txBody>
      </p:sp>
      <p:sp>
        <p:nvSpPr>
          <p:cNvPr id="27" name="Rectangle 26"/>
          <p:cNvSpPr/>
          <p:nvPr/>
        </p:nvSpPr>
        <p:spPr>
          <a:xfrm>
            <a:off x="6263640" y="1325880"/>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63640" y="1325880"/>
            <a:ext cx="54864" cy="1234440"/>
          </a:xfrm>
          <a:prstGeom prst="rect">
            <a:avLst/>
          </a:prstGeom>
          <a:solidFill>
            <a:srgbClr val="DD00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06640" y="1417320"/>
            <a:ext cx="4343400" cy="307777"/>
          </a:xfrm>
          <a:prstGeom prst="rect">
            <a:avLst/>
          </a:prstGeom>
          <a:noFill/>
        </p:spPr>
        <p:txBody>
          <a:bodyPr wrap="square">
            <a:spAutoFit/>
          </a:bodyPr>
          <a:lstStyle/>
          <a:p>
            <a:r>
              <a:rPr lang="fr-CM" sz="1400" b="1" dirty="0" err="1"/>
              <a:t>React</a:t>
            </a:r>
            <a:r>
              <a:rPr lang="fr-CM" sz="1400" b="1" dirty="0"/>
              <a:t> + Vite</a:t>
            </a:r>
            <a:endParaRPr sz="1400" b="1" i="0" dirty="0">
              <a:solidFill>
                <a:srgbClr val="1A1A2E"/>
              </a:solidFill>
            </a:endParaRPr>
          </a:p>
        </p:txBody>
      </p:sp>
      <p:sp>
        <p:nvSpPr>
          <p:cNvPr id="31" name="TextBox 30"/>
          <p:cNvSpPr txBox="1"/>
          <p:nvPr/>
        </p:nvSpPr>
        <p:spPr>
          <a:xfrm>
            <a:off x="7406640" y="1801368"/>
            <a:ext cx="4343400" cy="430887"/>
          </a:xfrm>
          <a:prstGeom prst="rect">
            <a:avLst/>
          </a:prstGeom>
          <a:noFill/>
        </p:spPr>
        <p:txBody>
          <a:bodyPr wrap="square">
            <a:spAutoFit/>
          </a:bodyPr>
          <a:lstStyle/>
          <a:p>
            <a:r>
              <a:rPr lang="fr-CM" sz="1100" dirty="0"/>
              <a:t>Framework moderne et léger pour SPA performantes.</a:t>
            </a:r>
            <a:br>
              <a:rPr lang="fr-CM" sz="1100" dirty="0"/>
            </a:br>
            <a:r>
              <a:rPr lang="fr-CM" sz="1100" dirty="0"/>
              <a:t>Rendu rapide, composants réutilisables, hot-</a:t>
            </a:r>
            <a:r>
              <a:rPr lang="fr-CM" sz="1100" dirty="0" err="1"/>
              <a:t>reload</a:t>
            </a:r>
            <a:r>
              <a:rPr lang="fr-CM" sz="1100" dirty="0"/>
              <a:t> instantané.</a:t>
            </a:r>
            <a:endParaRPr sz="1100" b="0" i="0" dirty="0">
              <a:solidFill>
                <a:srgbClr val="444455"/>
              </a:solidFill>
            </a:endParaRPr>
          </a:p>
        </p:txBody>
      </p:sp>
      <p:sp>
        <p:nvSpPr>
          <p:cNvPr id="32" name="Rectangle 31"/>
          <p:cNvSpPr/>
          <p:nvPr/>
        </p:nvSpPr>
        <p:spPr>
          <a:xfrm>
            <a:off x="6263640" y="2651760"/>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263640" y="2651760"/>
            <a:ext cx="54864" cy="1234440"/>
          </a:xfrm>
          <a:prstGeom prst="rect">
            <a:avLst/>
          </a:prstGeom>
          <a:solidFill>
            <a:srgbClr val="2D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prisma.png"/>
          <p:cNvPicPr>
            <a:picLocks noChangeAspect="1"/>
          </p:cNvPicPr>
          <p:nvPr/>
        </p:nvPicPr>
        <p:blipFill>
          <a:blip r:embed="rId7"/>
          <a:stretch>
            <a:fillRect/>
          </a:stretch>
        </p:blipFill>
        <p:spPr>
          <a:xfrm>
            <a:off x="6428232" y="2852928"/>
            <a:ext cx="777240" cy="777240"/>
          </a:xfrm>
          <a:prstGeom prst="rect">
            <a:avLst/>
          </a:prstGeom>
        </p:spPr>
      </p:pic>
      <p:sp>
        <p:nvSpPr>
          <p:cNvPr id="35" name="TextBox 34"/>
          <p:cNvSpPr txBox="1"/>
          <p:nvPr/>
        </p:nvSpPr>
        <p:spPr>
          <a:xfrm>
            <a:off x="7406640" y="2743200"/>
            <a:ext cx="4343400" cy="384048"/>
          </a:xfrm>
          <a:prstGeom prst="rect">
            <a:avLst/>
          </a:prstGeom>
          <a:noFill/>
        </p:spPr>
        <p:txBody>
          <a:bodyPr wrap="square">
            <a:spAutoFit/>
          </a:bodyPr>
          <a:lstStyle/>
          <a:p>
            <a:pPr algn="l"/>
            <a:r>
              <a:rPr sz="1400" b="1" i="0">
                <a:solidFill>
                  <a:srgbClr val="1A1A2E"/>
                </a:solidFill>
              </a:rPr>
              <a:t>Prisma ORM</a:t>
            </a:r>
          </a:p>
        </p:txBody>
      </p:sp>
      <p:sp>
        <p:nvSpPr>
          <p:cNvPr id="36" name="TextBox 35"/>
          <p:cNvSpPr txBox="1"/>
          <p:nvPr/>
        </p:nvSpPr>
        <p:spPr>
          <a:xfrm>
            <a:off x="7406640" y="3127248"/>
            <a:ext cx="4343400" cy="658368"/>
          </a:xfrm>
          <a:prstGeom prst="rect">
            <a:avLst/>
          </a:prstGeom>
          <a:noFill/>
        </p:spPr>
        <p:txBody>
          <a:bodyPr wrap="square">
            <a:spAutoFit/>
          </a:bodyPr>
          <a:lstStyle/>
          <a:p>
            <a:pPr algn="l"/>
            <a:r>
              <a:rPr sz="1100" b="0" i="0">
                <a:solidFill>
                  <a:srgbClr val="444455"/>
                </a:solidFill>
              </a:rPr>
              <a:t>Schema type, migrations versionnees.
Aucune requete SQL manuelle = aucune injection.</a:t>
            </a:r>
          </a:p>
        </p:txBody>
      </p:sp>
      <p:sp>
        <p:nvSpPr>
          <p:cNvPr id="37" name="Rectangle 36"/>
          <p:cNvSpPr/>
          <p:nvPr/>
        </p:nvSpPr>
        <p:spPr>
          <a:xfrm>
            <a:off x="6263640" y="3977639"/>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263640" y="3977639"/>
            <a:ext cx="54864" cy="1234440"/>
          </a:xfrm>
          <a:prstGeom prst="rect">
            <a:avLst/>
          </a:prstGeom>
          <a:solidFill>
            <a:srgbClr val="F48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cloudflare.png"/>
          <p:cNvPicPr>
            <a:picLocks noChangeAspect="1"/>
          </p:cNvPicPr>
          <p:nvPr/>
        </p:nvPicPr>
        <p:blipFill>
          <a:blip r:embed="rId8"/>
          <a:stretch>
            <a:fillRect/>
          </a:stretch>
        </p:blipFill>
        <p:spPr>
          <a:xfrm>
            <a:off x="6428232" y="4178807"/>
            <a:ext cx="777240" cy="777240"/>
          </a:xfrm>
          <a:prstGeom prst="rect">
            <a:avLst/>
          </a:prstGeom>
        </p:spPr>
      </p:pic>
      <p:sp>
        <p:nvSpPr>
          <p:cNvPr id="40" name="TextBox 39"/>
          <p:cNvSpPr txBox="1"/>
          <p:nvPr/>
        </p:nvSpPr>
        <p:spPr>
          <a:xfrm>
            <a:off x="7406640" y="4069079"/>
            <a:ext cx="4343400" cy="384048"/>
          </a:xfrm>
          <a:prstGeom prst="rect">
            <a:avLst/>
          </a:prstGeom>
          <a:noFill/>
        </p:spPr>
        <p:txBody>
          <a:bodyPr wrap="square">
            <a:spAutoFit/>
          </a:bodyPr>
          <a:lstStyle/>
          <a:p>
            <a:pPr algn="l"/>
            <a:r>
              <a:rPr sz="1400" b="1" i="0">
                <a:solidFill>
                  <a:srgbClr val="1A1A2E"/>
                </a:solidFill>
              </a:rPr>
              <a:t>Cloudflare R2</a:t>
            </a:r>
          </a:p>
        </p:txBody>
      </p:sp>
      <p:sp>
        <p:nvSpPr>
          <p:cNvPr id="41" name="TextBox 40"/>
          <p:cNvSpPr txBox="1"/>
          <p:nvPr/>
        </p:nvSpPr>
        <p:spPr>
          <a:xfrm>
            <a:off x="7406640" y="4453127"/>
            <a:ext cx="4343400" cy="658368"/>
          </a:xfrm>
          <a:prstGeom prst="rect">
            <a:avLst/>
          </a:prstGeom>
          <a:noFill/>
        </p:spPr>
        <p:txBody>
          <a:bodyPr wrap="square">
            <a:spAutoFit/>
          </a:bodyPr>
          <a:lstStyle/>
          <a:p>
            <a:pPr algn="l"/>
            <a:r>
              <a:rPr sz="1100" b="0" i="0">
                <a:solidFill>
                  <a:srgbClr val="444455"/>
                </a:solidFill>
              </a:rPr>
              <a:t>10 GB gratuits, 0 frais d'egress.
API S3-compatible : migration vers AWS = 0 ligne de code.</a:t>
            </a:r>
          </a:p>
        </p:txBody>
      </p:sp>
      <p:sp>
        <p:nvSpPr>
          <p:cNvPr id="42" name="Rectangle 41"/>
          <p:cNvSpPr/>
          <p:nvPr/>
        </p:nvSpPr>
        <p:spPr>
          <a:xfrm>
            <a:off x="6263640" y="5303520"/>
            <a:ext cx="55778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263640" y="5303520"/>
            <a:ext cx="54864" cy="1234440"/>
          </a:xfrm>
          <a:prstGeom prst="rect">
            <a:avLst/>
          </a:prstGeom>
          <a:solidFill>
            <a:srgbClr val="3178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typescript.png"/>
          <p:cNvPicPr>
            <a:picLocks noChangeAspect="1"/>
          </p:cNvPicPr>
          <p:nvPr/>
        </p:nvPicPr>
        <p:blipFill>
          <a:blip r:embed="rId9"/>
          <a:stretch>
            <a:fillRect/>
          </a:stretch>
        </p:blipFill>
        <p:spPr>
          <a:xfrm>
            <a:off x="6428232" y="5504688"/>
            <a:ext cx="777240" cy="777240"/>
          </a:xfrm>
          <a:prstGeom prst="rect">
            <a:avLst/>
          </a:prstGeom>
        </p:spPr>
      </p:pic>
      <p:sp>
        <p:nvSpPr>
          <p:cNvPr id="45" name="TextBox 44"/>
          <p:cNvSpPr txBox="1"/>
          <p:nvPr/>
        </p:nvSpPr>
        <p:spPr>
          <a:xfrm>
            <a:off x="7406640" y="5394960"/>
            <a:ext cx="4343400" cy="384048"/>
          </a:xfrm>
          <a:prstGeom prst="rect">
            <a:avLst/>
          </a:prstGeom>
          <a:noFill/>
        </p:spPr>
        <p:txBody>
          <a:bodyPr wrap="square">
            <a:spAutoFit/>
          </a:bodyPr>
          <a:lstStyle/>
          <a:p>
            <a:pPr algn="l"/>
            <a:r>
              <a:rPr sz="1400" b="1" i="0">
                <a:solidFill>
                  <a:srgbClr val="1A1A2E"/>
                </a:solidFill>
              </a:rPr>
              <a:t>JWT (Auth stateless)</a:t>
            </a:r>
          </a:p>
        </p:txBody>
      </p:sp>
      <p:sp>
        <p:nvSpPr>
          <p:cNvPr id="46" name="TextBox 45"/>
          <p:cNvSpPr txBox="1"/>
          <p:nvPr/>
        </p:nvSpPr>
        <p:spPr>
          <a:xfrm>
            <a:off x="7406640" y="5779008"/>
            <a:ext cx="4343400" cy="658368"/>
          </a:xfrm>
          <a:prstGeom prst="rect">
            <a:avLst/>
          </a:prstGeom>
          <a:noFill/>
        </p:spPr>
        <p:txBody>
          <a:bodyPr wrap="square">
            <a:spAutoFit/>
          </a:bodyPr>
          <a:lstStyle/>
          <a:p>
            <a:pPr algn="l"/>
            <a:r>
              <a:rPr sz="1100" b="0" i="0">
                <a:solidFill>
                  <a:srgbClr val="444455"/>
                </a:solidFill>
              </a:rPr>
              <a:t>Access token 15 min + refresh 7 jours.
Sessions hachees SHA-256, jamais en clair.</a:t>
            </a:r>
          </a:p>
        </p:txBody>
      </p:sp>
      <p:sp>
        <p:nvSpPr>
          <p:cNvPr id="47" name="TextBox 46"/>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8</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pic>
        <p:nvPicPr>
          <p:cNvPr id="49" name="Image 48">
            <a:extLst>
              <a:ext uri="{FF2B5EF4-FFF2-40B4-BE49-F238E27FC236}">
                <a16:creationId xmlns:a16="http://schemas.microsoft.com/office/drawing/2014/main" id="{6905DE03-9A61-C002-BD05-00847105D6F7}"/>
              </a:ext>
            </a:extLst>
          </p:cNvPr>
          <p:cNvPicPr>
            <a:picLocks noChangeAspect="1"/>
          </p:cNvPicPr>
          <p:nvPr/>
        </p:nvPicPr>
        <p:blipFill>
          <a:blip r:embed="rId10"/>
          <a:stretch>
            <a:fillRect/>
          </a:stretch>
        </p:blipFill>
        <p:spPr>
          <a:xfrm>
            <a:off x="6372398" y="1507688"/>
            <a:ext cx="1034242" cy="724567"/>
          </a:xfrm>
          <a:prstGeom prst="rect">
            <a:avLst/>
          </a:prstGeom>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6</a:t>
            </a:r>
            <a:r>
              <a:rPr sz="900" b="1" i="0" dirty="0">
                <a:solidFill>
                  <a:srgbClr val="1A1A2E"/>
                </a:solidFill>
              </a:rPr>
              <a:t> </a:t>
            </a:r>
            <a:r>
              <a:rPr lang="fr-FR" sz="900" b="1" i="0" dirty="0">
                <a:solidFill>
                  <a:srgbClr val="1A1A2E"/>
                </a:solidFill>
              </a:rPr>
              <a:t>- </a:t>
            </a:r>
            <a:r>
              <a:rPr sz="900" b="1" i="0" dirty="0">
                <a:solidFill>
                  <a:srgbClr val="1A1A2E"/>
                </a:solidFill>
              </a:rPr>
              <a:t> FONCTIONNALITES</a:t>
            </a:r>
          </a:p>
        </p:txBody>
      </p:sp>
      <p:sp>
        <p:nvSpPr>
          <p:cNvPr id="6" name="TextBox 5"/>
          <p:cNvSpPr txBox="1"/>
          <p:nvPr/>
        </p:nvSpPr>
        <p:spPr>
          <a:xfrm>
            <a:off x="265176" y="480060"/>
            <a:ext cx="9144000" cy="685800"/>
          </a:xfrm>
          <a:prstGeom prst="rect">
            <a:avLst/>
          </a:prstGeom>
          <a:noFill/>
        </p:spPr>
        <p:txBody>
          <a:bodyPr wrap="square">
            <a:spAutoFit/>
          </a:bodyPr>
          <a:lstStyle/>
          <a:p>
            <a:pPr algn="l"/>
            <a:r>
              <a:rPr sz="2800" b="1" i="0" dirty="0">
                <a:solidFill>
                  <a:srgbClr val="FFFFFF"/>
                </a:solidFill>
              </a:rPr>
              <a:t>Workflow </a:t>
            </a:r>
            <a:r>
              <a:rPr sz="2800" b="1" i="0" dirty="0" err="1">
                <a:solidFill>
                  <a:srgbClr val="FFFFFF"/>
                </a:solidFill>
              </a:rPr>
              <a:t>d'emission</a:t>
            </a:r>
            <a:r>
              <a:rPr sz="2800" b="1" i="0" dirty="0">
                <a:solidFill>
                  <a:srgbClr val="FFFFFF"/>
                </a:solidFill>
              </a:rPr>
              <a:t> d'un </a:t>
            </a:r>
            <a:r>
              <a:rPr sz="2800" b="1" i="0" dirty="0" err="1">
                <a:solidFill>
                  <a:srgbClr val="FFFFFF"/>
                </a:solidFill>
              </a:rPr>
              <a:t>diplome</a:t>
            </a:r>
            <a:endParaRPr sz="2800" b="1" i="0" dirty="0">
              <a:solidFill>
                <a:srgbClr val="FFFFFF"/>
              </a:solidFill>
            </a:endParaRPr>
          </a:p>
        </p:txBody>
      </p:sp>
      <p:sp>
        <p:nvSpPr>
          <p:cNvPr id="7" name="Rectangle 6"/>
          <p:cNvSpPr/>
          <p:nvPr/>
        </p:nvSpPr>
        <p:spPr>
          <a:xfrm>
            <a:off x="347472" y="1371600"/>
            <a:ext cx="2148840" cy="18288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63040"/>
            <a:ext cx="612648" cy="430887"/>
          </a:xfrm>
          <a:prstGeom prst="rect">
            <a:avLst/>
          </a:prstGeom>
          <a:noFill/>
        </p:spPr>
        <p:txBody>
          <a:bodyPr wrap="square">
            <a:spAutoFit/>
          </a:bodyPr>
          <a:lstStyle/>
          <a:p>
            <a:pPr algn="l"/>
            <a:r>
              <a:rPr sz="2200" b="1" i="0" dirty="0">
                <a:solidFill>
                  <a:srgbClr val="C9A84C"/>
                </a:solidFill>
              </a:rPr>
              <a:t>01</a:t>
            </a:r>
          </a:p>
        </p:txBody>
      </p:sp>
      <p:sp>
        <p:nvSpPr>
          <p:cNvPr id="9" name="TextBox 8"/>
          <p:cNvSpPr txBox="1"/>
          <p:nvPr/>
        </p:nvSpPr>
        <p:spPr>
          <a:xfrm>
            <a:off x="438912" y="1901952"/>
            <a:ext cx="1920240" cy="457200"/>
          </a:xfrm>
          <a:prstGeom prst="rect">
            <a:avLst/>
          </a:prstGeom>
          <a:noFill/>
        </p:spPr>
        <p:txBody>
          <a:bodyPr wrap="square">
            <a:spAutoFit/>
          </a:bodyPr>
          <a:lstStyle/>
          <a:p>
            <a:pPr algn="l"/>
            <a:r>
              <a:rPr sz="1300" b="1" i="0">
                <a:solidFill>
                  <a:srgbClr val="1A1A2E"/>
                </a:solidFill>
              </a:rPr>
              <a:t>Saisie
(Agent)</a:t>
            </a:r>
          </a:p>
        </p:txBody>
      </p:sp>
      <p:sp>
        <p:nvSpPr>
          <p:cNvPr id="10" name="TextBox 9"/>
          <p:cNvSpPr txBox="1"/>
          <p:nvPr/>
        </p:nvSpPr>
        <p:spPr>
          <a:xfrm>
            <a:off x="438912" y="2359152"/>
            <a:ext cx="1920240" cy="777240"/>
          </a:xfrm>
          <a:prstGeom prst="rect">
            <a:avLst/>
          </a:prstGeom>
          <a:noFill/>
        </p:spPr>
        <p:txBody>
          <a:bodyPr wrap="square">
            <a:spAutoFit/>
          </a:bodyPr>
          <a:lstStyle/>
          <a:p>
            <a:pPr algn="l"/>
            <a:r>
              <a:rPr sz="1100" b="0" i="0">
                <a:solidFill>
                  <a:srgbClr val="444455"/>
                </a:solidFill>
              </a:rPr>
              <a:t>Creation du brouillon :
infos etudiant,
type de diplome</a:t>
            </a:r>
          </a:p>
        </p:txBody>
      </p:sp>
      <p:sp>
        <p:nvSpPr>
          <p:cNvPr id="11" name="TextBox 10"/>
          <p:cNvSpPr txBox="1"/>
          <p:nvPr/>
        </p:nvSpPr>
        <p:spPr>
          <a:xfrm>
            <a:off x="2459736" y="2103120"/>
            <a:ext cx="347472" cy="411480"/>
          </a:xfrm>
          <a:prstGeom prst="rect">
            <a:avLst/>
          </a:prstGeom>
          <a:noFill/>
        </p:spPr>
        <p:txBody>
          <a:bodyPr wrap="square">
            <a:spAutoFit/>
          </a:bodyPr>
          <a:lstStyle/>
          <a:p>
            <a:pPr algn="ctr"/>
            <a:r>
              <a:rPr sz="1800" b="1" i="0">
                <a:solidFill>
                  <a:srgbClr val="C9A84C"/>
                </a:solidFill>
              </a:rPr>
              <a:t>-&gt;</a:t>
            </a:r>
          </a:p>
        </p:txBody>
      </p:sp>
      <p:sp>
        <p:nvSpPr>
          <p:cNvPr id="12" name="Rectangle 11"/>
          <p:cNvSpPr/>
          <p:nvPr/>
        </p:nvSpPr>
        <p:spPr>
          <a:xfrm>
            <a:off x="2651760" y="1371600"/>
            <a:ext cx="2148840" cy="18288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61488" y="1463040"/>
            <a:ext cx="576072" cy="430887"/>
          </a:xfrm>
          <a:prstGeom prst="rect">
            <a:avLst/>
          </a:prstGeom>
          <a:noFill/>
        </p:spPr>
        <p:txBody>
          <a:bodyPr wrap="square">
            <a:spAutoFit/>
          </a:bodyPr>
          <a:lstStyle/>
          <a:p>
            <a:pPr algn="l"/>
            <a:r>
              <a:rPr sz="2200" b="1" i="0" dirty="0">
                <a:solidFill>
                  <a:srgbClr val="C9A84C"/>
                </a:solidFill>
              </a:rPr>
              <a:t>02</a:t>
            </a:r>
          </a:p>
        </p:txBody>
      </p:sp>
      <p:sp>
        <p:nvSpPr>
          <p:cNvPr id="14" name="TextBox 13"/>
          <p:cNvSpPr txBox="1"/>
          <p:nvPr/>
        </p:nvSpPr>
        <p:spPr>
          <a:xfrm>
            <a:off x="2743200" y="1901952"/>
            <a:ext cx="1920240" cy="457200"/>
          </a:xfrm>
          <a:prstGeom prst="rect">
            <a:avLst/>
          </a:prstGeom>
          <a:noFill/>
        </p:spPr>
        <p:txBody>
          <a:bodyPr wrap="square">
            <a:spAutoFit/>
          </a:bodyPr>
          <a:lstStyle/>
          <a:p>
            <a:pPr algn="l"/>
            <a:r>
              <a:rPr sz="1300" b="1" i="0">
                <a:solidFill>
                  <a:srgbClr val="1A1A2E"/>
                </a:solidFill>
              </a:rPr>
              <a:t>Upload PDF
(Agent)</a:t>
            </a:r>
          </a:p>
        </p:txBody>
      </p:sp>
      <p:sp>
        <p:nvSpPr>
          <p:cNvPr id="15" name="TextBox 14"/>
          <p:cNvSpPr txBox="1"/>
          <p:nvPr/>
        </p:nvSpPr>
        <p:spPr>
          <a:xfrm>
            <a:off x="2743200" y="2359152"/>
            <a:ext cx="1920240" cy="777240"/>
          </a:xfrm>
          <a:prstGeom prst="rect">
            <a:avLst/>
          </a:prstGeom>
          <a:noFill/>
        </p:spPr>
        <p:txBody>
          <a:bodyPr wrap="square">
            <a:spAutoFit/>
          </a:bodyPr>
          <a:lstStyle/>
          <a:p>
            <a:pPr algn="l"/>
            <a:r>
              <a:rPr sz="1100" b="0" i="0">
                <a:solidFill>
                  <a:srgbClr val="444455"/>
                </a:solidFill>
              </a:rPr>
              <a:t>Depot du PDF
Calcul hash SHA-256
Stockage R2</a:t>
            </a:r>
          </a:p>
        </p:txBody>
      </p:sp>
      <p:sp>
        <p:nvSpPr>
          <p:cNvPr id="16" name="TextBox 15"/>
          <p:cNvSpPr txBox="1"/>
          <p:nvPr/>
        </p:nvSpPr>
        <p:spPr>
          <a:xfrm>
            <a:off x="4764024" y="2103120"/>
            <a:ext cx="347472" cy="411480"/>
          </a:xfrm>
          <a:prstGeom prst="rect">
            <a:avLst/>
          </a:prstGeom>
          <a:noFill/>
        </p:spPr>
        <p:txBody>
          <a:bodyPr wrap="square">
            <a:spAutoFit/>
          </a:bodyPr>
          <a:lstStyle/>
          <a:p>
            <a:pPr algn="ctr"/>
            <a:r>
              <a:rPr sz="1800" b="1" i="0">
                <a:solidFill>
                  <a:srgbClr val="C9A84C"/>
                </a:solidFill>
              </a:rPr>
              <a:t>-&gt;</a:t>
            </a:r>
          </a:p>
        </p:txBody>
      </p:sp>
      <p:sp>
        <p:nvSpPr>
          <p:cNvPr id="17" name="Rectangle 16"/>
          <p:cNvSpPr/>
          <p:nvPr/>
        </p:nvSpPr>
        <p:spPr>
          <a:xfrm>
            <a:off x="4956048" y="1371600"/>
            <a:ext cx="2148840" cy="1828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65776" y="1463040"/>
            <a:ext cx="612648" cy="430887"/>
          </a:xfrm>
          <a:prstGeom prst="rect">
            <a:avLst/>
          </a:prstGeom>
          <a:noFill/>
        </p:spPr>
        <p:txBody>
          <a:bodyPr wrap="square">
            <a:spAutoFit/>
          </a:bodyPr>
          <a:lstStyle/>
          <a:p>
            <a:pPr algn="l"/>
            <a:r>
              <a:rPr sz="2200" b="1" i="0">
                <a:solidFill>
                  <a:srgbClr val="C9A84C"/>
                </a:solidFill>
              </a:rPr>
              <a:t>03</a:t>
            </a:r>
          </a:p>
        </p:txBody>
      </p:sp>
      <p:sp>
        <p:nvSpPr>
          <p:cNvPr id="19" name="TextBox 18"/>
          <p:cNvSpPr txBox="1"/>
          <p:nvPr/>
        </p:nvSpPr>
        <p:spPr>
          <a:xfrm>
            <a:off x="5047488" y="1901952"/>
            <a:ext cx="1920240" cy="457200"/>
          </a:xfrm>
          <a:prstGeom prst="rect">
            <a:avLst/>
          </a:prstGeom>
          <a:noFill/>
        </p:spPr>
        <p:txBody>
          <a:bodyPr wrap="square">
            <a:spAutoFit/>
          </a:bodyPr>
          <a:lstStyle/>
          <a:p>
            <a:pPr algn="l"/>
            <a:r>
              <a:rPr sz="1300" b="1" i="0">
                <a:solidFill>
                  <a:srgbClr val="FFFFFF"/>
                </a:solidFill>
              </a:rPr>
              <a:t>Validation
(Directeur)</a:t>
            </a:r>
          </a:p>
        </p:txBody>
      </p:sp>
      <p:sp>
        <p:nvSpPr>
          <p:cNvPr id="20" name="TextBox 19"/>
          <p:cNvSpPr txBox="1"/>
          <p:nvPr/>
        </p:nvSpPr>
        <p:spPr>
          <a:xfrm>
            <a:off x="5047488" y="2359152"/>
            <a:ext cx="1920240" cy="777240"/>
          </a:xfrm>
          <a:prstGeom prst="rect">
            <a:avLst/>
          </a:prstGeom>
          <a:noFill/>
        </p:spPr>
        <p:txBody>
          <a:bodyPr wrap="square">
            <a:spAutoFit/>
          </a:bodyPr>
          <a:lstStyle/>
          <a:p>
            <a:pPr algn="l"/>
            <a:r>
              <a:rPr sz="1100" b="0" i="0">
                <a:solidFill>
                  <a:srgbClr val="C9A84C"/>
                </a:solidFill>
              </a:rPr>
              <a:t>Verification
Approbation
Statut -&gt; actif</a:t>
            </a:r>
          </a:p>
        </p:txBody>
      </p:sp>
      <p:sp>
        <p:nvSpPr>
          <p:cNvPr id="21" name="TextBox 20"/>
          <p:cNvSpPr txBox="1"/>
          <p:nvPr/>
        </p:nvSpPr>
        <p:spPr>
          <a:xfrm>
            <a:off x="7068312" y="2103120"/>
            <a:ext cx="347472" cy="411480"/>
          </a:xfrm>
          <a:prstGeom prst="rect">
            <a:avLst/>
          </a:prstGeom>
          <a:noFill/>
        </p:spPr>
        <p:txBody>
          <a:bodyPr wrap="square">
            <a:spAutoFit/>
          </a:bodyPr>
          <a:lstStyle/>
          <a:p>
            <a:pPr algn="ctr"/>
            <a:r>
              <a:rPr sz="1800" b="1" i="0">
                <a:solidFill>
                  <a:srgbClr val="C9A84C"/>
                </a:solidFill>
              </a:rPr>
              <a:t>-&gt;</a:t>
            </a:r>
          </a:p>
        </p:txBody>
      </p:sp>
      <p:sp>
        <p:nvSpPr>
          <p:cNvPr id="22" name="Rectangle 21"/>
          <p:cNvSpPr/>
          <p:nvPr/>
        </p:nvSpPr>
        <p:spPr>
          <a:xfrm>
            <a:off x="7260336" y="1371600"/>
            <a:ext cx="2148840" cy="18288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70064" y="1463040"/>
            <a:ext cx="612648" cy="430887"/>
          </a:xfrm>
          <a:prstGeom prst="rect">
            <a:avLst/>
          </a:prstGeom>
          <a:noFill/>
        </p:spPr>
        <p:txBody>
          <a:bodyPr wrap="square">
            <a:spAutoFit/>
          </a:bodyPr>
          <a:lstStyle/>
          <a:p>
            <a:pPr algn="l"/>
            <a:r>
              <a:rPr sz="2200" b="1" i="0" dirty="0">
                <a:solidFill>
                  <a:srgbClr val="C9A84C"/>
                </a:solidFill>
              </a:rPr>
              <a:t>04</a:t>
            </a:r>
          </a:p>
        </p:txBody>
      </p:sp>
      <p:sp>
        <p:nvSpPr>
          <p:cNvPr id="24" name="TextBox 23"/>
          <p:cNvSpPr txBox="1"/>
          <p:nvPr/>
        </p:nvSpPr>
        <p:spPr>
          <a:xfrm>
            <a:off x="7351776" y="1901952"/>
            <a:ext cx="1920240" cy="457200"/>
          </a:xfrm>
          <a:prstGeom prst="rect">
            <a:avLst/>
          </a:prstGeom>
          <a:noFill/>
        </p:spPr>
        <p:txBody>
          <a:bodyPr wrap="square">
            <a:spAutoFit/>
          </a:bodyPr>
          <a:lstStyle/>
          <a:p>
            <a:pPr algn="l"/>
            <a:r>
              <a:rPr sz="1300" b="1" i="0">
                <a:solidFill>
                  <a:srgbClr val="1A1A2E"/>
                </a:solidFill>
              </a:rPr>
              <a:t>Blockchain
(Auto)</a:t>
            </a:r>
          </a:p>
        </p:txBody>
      </p:sp>
      <p:sp>
        <p:nvSpPr>
          <p:cNvPr id="25" name="TextBox 24"/>
          <p:cNvSpPr txBox="1"/>
          <p:nvPr/>
        </p:nvSpPr>
        <p:spPr>
          <a:xfrm>
            <a:off x="7351776" y="2359152"/>
            <a:ext cx="1920240" cy="777240"/>
          </a:xfrm>
          <a:prstGeom prst="rect">
            <a:avLst/>
          </a:prstGeom>
          <a:noFill/>
        </p:spPr>
        <p:txBody>
          <a:bodyPr wrap="square">
            <a:spAutoFit/>
          </a:bodyPr>
          <a:lstStyle/>
          <a:p>
            <a:pPr algn="l"/>
            <a:r>
              <a:rPr sz="1100" b="0" i="0">
                <a:solidFill>
                  <a:srgbClr val="444455"/>
                </a:solidFill>
              </a:rPr>
              <a:t>Enregistrement
Polygon
Tx confirmee</a:t>
            </a:r>
          </a:p>
        </p:txBody>
      </p:sp>
      <p:sp>
        <p:nvSpPr>
          <p:cNvPr id="26" name="TextBox 25"/>
          <p:cNvSpPr txBox="1"/>
          <p:nvPr/>
        </p:nvSpPr>
        <p:spPr>
          <a:xfrm>
            <a:off x="9372600" y="2103120"/>
            <a:ext cx="347472" cy="411480"/>
          </a:xfrm>
          <a:prstGeom prst="rect">
            <a:avLst/>
          </a:prstGeom>
          <a:noFill/>
        </p:spPr>
        <p:txBody>
          <a:bodyPr wrap="square">
            <a:spAutoFit/>
          </a:bodyPr>
          <a:lstStyle/>
          <a:p>
            <a:pPr algn="ctr"/>
            <a:r>
              <a:rPr sz="1800" b="1" i="0">
                <a:solidFill>
                  <a:srgbClr val="C9A84C"/>
                </a:solidFill>
              </a:rPr>
              <a:t>-&gt;</a:t>
            </a:r>
          </a:p>
        </p:txBody>
      </p:sp>
      <p:sp>
        <p:nvSpPr>
          <p:cNvPr id="27" name="Rectangle 26"/>
          <p:cNvSpPr/>
          <p:nvPr/>
        </p:nvSpPr>
        <p:spPr>
          <a:xfrm>
            <a:off x="9564624" y="1371600"/>
            <a:ext cx="2148840" cy="18288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74352" y="1463040"/>
            <a:ext cx="576072" cy="430887"/>
          </a:xfrm>
          <a:prstGeom prst="rect">
            <a:avLst/>
          </a:prstGeom>
          <a:noFill/>
        </p:spPr>
        <p:txBody>
          <a:bodyPr wrap="square">
            <a:spAutoFit/>
          </a:bodyPr>
          <a:lstStyle/>
          <a:p>
            <a:pPr algn="l"/>
            <a:r>
              <a:rPr sz="2200" b="1" i="0" dirty="0">
                <a:solidFill>
                  <a:srgbClr val="C9A84C"/>
                </a:solidFill>
              </a:rPr>
              <a:t>05</a:t>
            </a:r>
          </a:p>
        </p:txBody>
      </p:sp>
      <p:sp>
        <p:nvSpPr>
          <p:cNvPr id="29" name="TextBox 28"/>
          <p:cNvSpPr txBox="1"/>
          <p:nvPr/>
        </p:nvSpPr>
        <p:spPr>
          <a:xfrm>
            <a:off x="9656064" y="1901952"/>
            <a:ext cx="1920240" cy="457200"/>
          </a:xfrm>
          <a:prstGeom prst="rect">
            <a:avLst/>
          </a:prstGeom>
          <a:noFill/>
        </p:spPr>
        <p:txBody>
          <a:bodyPr wrap="square">
            <a:spAutoFit/>
          </a:bodyPr>
          <a:lstStyle/>
          <a:p>
            <a:pPr algn="l"/>
            <a:r>
              <a:rPr sz="1300" b="1" i="0">
                <a:solidFill>
                  <a:srgbClr val="1A1A2E"/>
                </a:solidFill>
              </a:rPr>
              <a:t>Verifiable
(Public)</a:t>
            </a:r>
          </a:p>
        </p:txBody>
      </p:sp>
      <p:sp>
        <p:nvSpPr>
          <p:cNvPr id="30" name="TextBox 29"/>
          <p:cNvSpPr txBox="1"/>
          <p:nvPr/>
        </p:nvSpPr>
        <p:spPr>
          <a:xfrm>
            <a:off x="9656064" y="2359152"/>
            <a:ext cx="1920240" cy="777240"/>
          </a:xfrm>
          <a:prstGeom prst="rect">
            <a:avLst/>
          </a:prstGeom>
          <a:noFill/>
        </p:spPr>
        <p:txBody>
          <a:bodyPr wrap="square">
            <a:spAutoFit/>
          </a:bodyPr>
          <a:lstStyle/>
          <a:p>
            <a:pPr algn="l"/>
            <a:r>
              <a:rPr sz="1100" b="0" i="0">
                <a:solidFill>
                  <a:srgbClr val="444455"/>
                </a:solidFill>
              </a:rPr>
              <a:t>Lien unique
QR code
Verification</a:t>
            </a:r>
          </a:p>
        </p:txBody>
      </p:sp>
      <p:pic>
        <p:nvPicPr>
          <p:cNvPr id="31" name="Picture 30" descr="users.png"/>
          <p:cNvPicPr>
            <a:picLocks noChangeAspect="1"/>
          </p:cNvPicPr>
          <p:nvPr/>
        </p:nvPicPr>
        <p:blipFill>
          <a:blip r:embed="rId3"/>
          <a:stretch>
            <a:fillRect/>
          </a:stretch>
        </p:blipFill>
        <p:spPr>
          <a:xfrm>
            <a:off x="1033272" y="3401568"/>
            <a:ext cx="347472" cy="347472"/>
          </a:xfrm>
          <a:prstGeom prst="rect">
            <a:avLst/>
          </a:prstGeom>
        </p:spPr>
      </p:pic>
      <p:sp>
        <p:nvSpPr>
          <p:cNvPr id="32" name="TextBox 31"/>
          <p:cNvSpPr txBox="1"/>
          <p:nvPr/>
        </p:nvSpPr>
        <p:spPr>
          <a:xfrm>
            <a:off x="347472" y="3822191"/>
            <a:ext cx="2148840" cy="320040"/>
          </a:xfrm>
          <a:prstGeom prst="rect">
            <a:avLst/>
          </a:prstGeom>
          <a:noFill/>
        </p:spPr>
        <p:txBody>
          <a:bodyPr wrap="square">
            <a:spAutoFit/>
          </a:bodyPr>
          <a:lstStyle/>
          <a:p>
            <a:pPr algn="ctr"/>
            <a:r>
              <a:rPr sz="900" b="0" i="0">
                <a:solidFill>
                  <a:srgbClr val="444455"/>
                </a:solidFill>
              </a:rPr>
              <a:t>Role : Agent de saisie</a:t>
            </a:r>
          </a:p>
        </p:txBody>
      </p:sp>
      <p:pic>
        <p:nvPicPr>
          <p:cNvPr id="33" name="Picture 32" descr="users.png"/>
          <p:cNvPicPr>
            <a:picLocks noChangeAspect="1"/>
          </p:cNvPicPr>
          <p:nvPr/>
        </p:nvPicPr>
        <p:blipFill>
          <a:blip r:embed="rId3"/>
          <a:stretch>
            <a:fillRect/>
          </a:stretch>
        </p:blipFill>
        <p:spPr>
          <a:xfrm>
            <a:off x="3337560" y="3401568"/>
            <a:ext cx="347472" cy="347472"/>
          </a:xfrm>
          <a:prstGeom prst="rect">
            <a:avLst/>
          </a:prstGeom>
        </p:spPr>
      </p:pic>
      <p:sp>
        <p:nvSpPr>
          <p:cNvPr id="34" name="TextBox 33"/>
          <p:cNvSpPr txBox="1"/>
          <p:nvPr/>
        </p:nvSpPr>
        <p:spPr>
          <a:xfrm>
            <a:off x="2651760" y="3822191"/>
            <a:ext cx="2148840" cy="320040"/>
          </a:xfrm>
          <a:prstGeom prst="rect">
            <a:avLst/>
          </a:prstGeom>
          <a:noFill/>
        </p:spPr>
        <p:txBody>
          <a:bodyPr wrap="square">
            <a:spAutoFit/>
          </a:bodyPr>
          <a:lstStyle/>
          <a:p>
            <a:pPr algn="ctr"/>
            <a:r>
              <a:rPr sz="900" b="0" i="0">
                <a:solidFill>
                  <a:srgbClr val="444455"/>
                </a:solidFill>
              </a:rPr>
              <a:t>Role : Agent de saisie</a:t>
            </a:r>
          </a:p>
        </p:txBody>
      </p:sp>
      <p:pic>
        <p:nvPicPr>
          <p:cNvPr id="35" name="Picture 34" descr="lock.png"/>
          <p:cNvPicPr>
            <a:picLocks noChangeAspect="1"/>
          </p:cNvPicPr>
          <p:nvPr/>
        </p:nvPicPr>
        <p:blipFill>
          <a:blip r:embed="rId4"/>
          <a:stretch>
            <a:fillRect/>
          </a:stretch>
        </p:blipFill>
        <p:spPr>
          <a:xfrm>
            <a:off x="5641848" y="3401568"/>
            <a:ext cx="347472" cy="347472"/>
          </a:xfrm>
          <a:prstGeom prst="rect">
            <a:avLst/>
          </a:prstGeom>
        </p:spPr>
      </p:pic>
      <p:sp>
        <p:nvSpPr>
          <p:cNvPr id="36" name="TextBox 35"/>
          <p:cNvSpPr txBox="1"/>
          <p:nvPr/>
        </p:nvSpPr>
        <p:spPr>
          <a:xfrm>
            <a:off x="4956048" y="3822191"/>
            <a:ext cx="2148840" cy="320040"/>
          </a:xfrm>
          <a:prstGeom prst="rect">
            <a:avLst/>
          </a:prstGeom>
          <a:noFill/>
        </p:spPr>
        <p:txBody>
          <a:bodyPr wrap="square">
            <a:spAutoFit/>
          </a:bodyPr>
          <a:lstStyle/>
          <a:p>
            <a:pPr algn="ctr"/>
            <a:r>
              <a:rPr sz="900" b="0" i="0">
                <a:solidFill>
                  <a:srgbClr val="444455"/>
                </a:solidFill>
              </a:rPr>
              <a:t>Role : Directeur</a:t>
            </a:r>
          </a:p>
        </p:txBody>
      </p:sp>
      <p:pic>
        <p:nvPicPr>
          <p:cNvPr id="37" name="Picture 36" descr="cpu.png"/>
          <p:cNvPicPr>
            <a:picLocks noChangeAspect="1"/>
          </p:cNvPicPr>
          <p:nvPr/>
        </p:nvPicPr>
        <p:blipFill>
          <a:blip r:embed="rId5"/>
          <a:stretch>
            <a:fillRect/>
          </a:stretch>
        </p:blipFill>
        <p:spPr>
          <a:xfrm>
            <a:off x="7946136" y="3401568"/>
            <a:ext cx="347472" cy="347472"/>
          </a:xfrm>
          <a:prstGeom prst="rect">
            <a:avLst/>
          </a:prstGeom>
        </p:spPr>
      </p:pic>
      <p:sp>
        <p:nvSpPr>
          <p:cNvPr id="38" name="TextBox 37"/>
          <p:cNvSpPr txBox="1"/>
          <p:nvPr/>
        </p:nvSpPr>
        <p:spPr>
          <a:xfrm>
            <a:off x="7260336" y="3822191"/>
            <a:ext cx="2148840" cy="320040"/>
          </a:xfrm>
          <a:prstGeom prst="rect">
            <a:avLst/>
          </a:prstGeom>
          <a:noFill/>
        </p:spPr>
        <p:txBody>
          <a:bodyPr wrap="square">
            <a:spAutoFit/>
          </a:bodyPr>
          <a:lstStyle/>
          <a:p>
            <a:pPr algn="ctr"/>
            <a:r>
              <a:rPr sz="900" b="0" i="0">
                <a:solidFill>
                  <a:srgbClr val="444455"/>
                </a:solidFill>
              </a:rPr>
              <a:t>Systeme automatique</a:t>
            </a:r>
          </a:p>
        </p:txBody>
      </p:sp>
      <p:pic>
        <p:nvPicPr>
          <p:cNvPr id="39" name="Picture 38" descr="globe.png"/>
          <p:cNvPicPr>
            <a:picLocks noChangeAspect="1"/>
          </p:cNvPicPr>
          <p:nvPr/>
        </p:nvPicPr>
        <p:blipFill>
          <a:blip r:embed="rId6"/>
          <a:stretch>
            <a:fillRect/>
          </a:stretch>
        </p:blipFill>
        <p:spPr>
          <a:xfrm>
            <a:off x="10250424" y="3401568"/>
            <a:ext cx="347472" cy="347472"/>
          </a:xfrm>
          <a:prstGeom prst="rect">
            <a:avLst/>
          </a:prstGeom>
        </p:spPr>
      </p:pic>
      <p:sp>
        <p:nvSpPr>
          <p:cNvPr id="40" name="TextBox 39"/>
          <p:cNvSpPr txBox="1"/>
          <p:nvPr/>
        </p:nvSpPr>
        <p:spPr>
          <a:xfrm>
            <a:off x="9564624" y="3822191"/>
            <a:ext cx="2148840" cy="320040"/>
          </a:xfrm>
          <a:prstGeom prst="rect">
            <a:avLst/>
          </a:prstGeom>
          <a:noFill/>
        </p:spPr>
        <p:txBody>
          <a:bodyPr wrap="square">
            <a:spAutoFit/>
          </a:bodyPr>
          <a:lstStyle/>
          <a:p>
            <a:pPr algn="ctr"/>
            <a:r>
              <a:rPr sz="900" b="0" i="0">
                <a:solidFill>
                  <a:srgbClr val="444455"/>
                </a:solidFill>
              </a:rPr>
              <a:t>Acces public</a:t>
            </a:r>
          </a:p>
        </p:txBody>
      </p:sp>
      <p:sp>
        <p:nvSpPr>
          <p:cNvPr id="41" name="Rectangle 40"/>
          <p:cNvSpPr/>
          <p:nvPr/>
        </p:nvSpPr>
        <p:spPr>
          <a:xfrm>
            <a:off x="347472" y="4251960"/>
            <a:ext cx="114757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47472" y="4389120"/>
            <a:ext cx="11475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47472" y="4389120"/>
            <a:ext cx="54864" cy="17373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30352" y="4462272"/>
            <a:ext cx="4572000" cy="347472"/>
          </a:xfrm>
          <a:prstGeom prst="rect">
            <a:avLst/>
          </a:prstGeom>
          <a:noFill/>
        </p:spPr>
        <p:txBody>
          <a:bodyPr wrap="square">
            <a:spAutoFit/>
          </a:bodyPr>
          <a:lstStyle/>
          <a:p>
            <a:pPr algn="l"/>
            <a:r>
              <a:rPr sz="1300" b="1" i="0">
                <a:solidFill>
                  <a:srgbClr val="1A1A2E"/>
                </a:solidFill>
              </a:rPr>
              <a:t>Points cles de securite</a:t>
            </a:r>
          </a:p>
        </p:txBody>
      </p:sp>
      <p:pic>
        <p:nvPicPr>
          <p:cNvPr id="45" name="Picture 44" descr="check.png"/>
          <p:cNvPicPr>
            <a:picLocks noChangeAspect="1"/>
          </p:cNvPicPr>
          <p:nvPr/>
        </p:nvPicPr>
        <p:blipFill>
          <a:blip r:embed="rId7"/>
          <a:stretch>
            <a:fillRect/>
          </a:stretch>
        </p:blipFill>
        <p:spPr>
          <a:xfrm>
            <a:off x="530352" y="4892040"/>
            <a:ext cx="274320" cy="274320"/>
          </a:xfrm>
          <a:prstGeom prst="rect">
            <a:avLst/>
          </a:prstGeom>
        </p:spPr>
      </p:pic>
      <p:sp>
        <p:nvSpPr>
          <p:cNvPr id="46" name="TextBox 45"/>
          <p:cNvSpPr txBox="1"/>
          <p:nvPr/>
        </p:nvSpPr>
        <p:spPr>
          <a:xfrm>
            <a:off x="896112" y="4919472"/>
            <a:ext cx="10835640" cy="347472"/>
          </a:xfrm>
          <a:prstGeom prst="rect">
            <a:avLst/>
          </a:prstGeom>
          <a:noFill/>
        </p:spPr>
        <p:txBody>
          <a:bodyPr wrap="square">
            <a:spAutoFit/>
          </a:bodyPr>
          <a:lstStyle/>
          <a:p>
            <a:pPr algn="l"/>
            <a:r>
              <a:rPr sz="1200" b="0" i="0">
                <a:solidFill>
                  <a:srgbClr val="444455"/>
                </a:solidFill>
              </a:rPr>
              <a:t>Detection de doublons par hash SHA-256 : impossible d'importer deux fois le meme PDF</a:t>
            </a:r>
          </a:p>
        </p:txBody>
      </p:sp>
      <p:pic>
        <p:nvPicPr>
          <p:cNvPr id="47" name="Picture 46" descr="check.png"/>
          <p:cNvPicPr>
            <a:picLocks noChangeAspect="1"/>
          </p:cNvPicPr>
          <p:nvPr/>
        </p:nvPicPr>
        <p:blipFill>
          <a:blip r:embed="rId7"/>
          <a:stretch>
            <a:fillRect/>
          </a:stretch>
        </p:blipFill>
        <p:spPr>
          <a:xfrm>
            <a:off x="530352" y="5303520"/>
            <a:ext cx="274320" cy="274320"/>
          </a:xfrm>
          <a:prstGeom prst="rect">
            <a:avLst/>
          </a:prstGeom>
        </p:spPr>
      </p:pic>
      <p:sp>
        <p:nvSpPr>
          <p:cNvPr id="48" name="TextBox 47"/>
          <p:cNvSpPr txBox="1"/>
          <p:nvPr/>
        </p:nvSpPr>
        <p:spPr>
          <a:xfrm>
            <a:off x="896112" y="5330952"/>
            <a:ext cx="10835640" cy="347472"/>
          </a:xfrm>
          <a:prstGeom prst="rect">
            <a:avLst/>
          </a:prstGeom>
          <a:noFill/>
        </p:spPr>
        <p:txBody>
          <a:bodyPr wrap="square">
            <a:spAutoFit/>
          </a:bodyPr>
          <a:lstStyle/>
          <a:p>
            <a:pPr algn="l"/>
            <a:r>
              <a:rPr sz="1200" b="0" i="0">
                <a:solidFill>
                  <a:srgbClr val="444455"/>
                </a:solidFill>
              </a:rPr>
              <a:t>Validation (etape 3) bloquee si aucun PDF n'a ete uploade au prealable</a:t>
            </a:r>
          </a:p>
        </p:txBody>
      </p:sp>
      <p:pic>
        <p:nvPicPr>
          <p:cNvPr id="49" name="Picture 48" descr="check.png"/>
          <p:cNvPicPr>
            <a:picLocks noChangeAspect="1"/>
          </p:cNvPicPr>
          <p:nvPr/>
        </p:nvPicPr>
        <p:blipFill>
          <a:blip r:embed="rId7"/>
          <a:stretch>
            <a:fillRect/>
          </a:stretch>
        </p:blipFill>
        <p:spPr>
          <a:xfrm>
            <a:off x="530352" y="5715000"/>
            <a:ext cx="274320" cy="274320"/>
          </a:xfrm>
          <a:prstGeom prst="rect">
            <a:avLst/>
          </a:prstGeom>
        </p:spPr>
      </p:pic>
      <p:sp>
        <p:nvSpPr>
          <p:cNvPr id="50" name="TextBox 49"/>
          <p:cNvSpPr txBox="1"/>
          <p:nvPr/>
        </p:nvSpPr>
        <p:spPr>
          <a:xfrm>
            <a:off x="896112" y="5742432"/>
            <a:ext cx="10835640" cy="347472"/>
          </a:xfrm>
          <a:prstGeom prst="rect">
            <a:avLst/>
          </a:prstGeom>
          <a:noFill/>
        </p:spPr>
        <p:txBody>
          <a:bodyPr wrap="square">
            <a:spAutoFit/>
          </a:bodyPr>
          <a:lstStyle/>
          <a:p>
            <a:pPr algn="l"/>
            <a:r>
              <a:rPr sz="1200" b="0" i="0">
                <a:solidFill>
                  <a:srgbClr val="444455"/>
                </a:solidFill>
              </a:rPr>
              <a:t>Revocation propagee on-chain : meme si la base de donnees est compromise</a:t>
            </a:r>
          </a:p>
        </p:txBody>
      </p:sp>
      <p:sp>
        <p:nvSpPr>
          <p:cNvPr id="51" name="TextBox 50"/>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9</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6 -</a:t>
            </a:r>
            <a:r>
              <a:rPr sz="900" b="1" i="0" dirty="0">
                <a:solidFill>
                  <a:srgbClr val="1A1A2E"/>
                </a:solidFill>
              </a:rPr>
              <a:t> SECURITE</a:t>
            </a:r>
          </a:p>
        </p:txBody>
      </p:sp>
      <p:sp>
        <p:nvSpPr>
          <p:cNvPr id="5" name="TextBox 4"/>
          <p:cNvSpPr txBox="1"/>
          <p:nvPr/>
        </p:nvSpPr>
        <p:spPr>
          <a:xfrm>
            <a:off x="457200" y="640080"/>
            <a:ext cx="9144000" cy="523220"/>
          </a:xfrm>
          <a:prstGeom prst="rect">
            <a:avLst/>
          </a:prstGeom>
          <a:noFill/>
        </p:spPr>
        <p:txBody>
          <a:bodyPr wrap="square">
            <a:spAutoFit/>
          </a:bodyPr>
          <a:lstStyle/>
          <a:p>
            <a:pPr algn="l"/>
            <a:r>
              <a:rPr sz="2800" b="1" i="0" dirty="0" err="1">
                <a:solidFill>
                  <a:srgbClr val="FFFFFF"/>
                </a:solidFill>
              </a:rPr>
              <a:t>Securite</a:t>
            </a:r>
            <a:r>
              <a:rPr sz="2800" b="1" i="0" dirty="0">
                <a:solidFill>
                  <a:srgbClr val="FFFFFF"/>
                </a:solidFill>
              </a:rPr>
              <a:t> </a:t>
            </a:r>
            <a:r>
              <a:rPr lang="fr-FR" sz="2800" b="1" i="0" dirty="0">
                <a:solidFill>
                  <a:srgbClr val="FFFFFF"/>
                </a:solidFill>
              </a:rPr>
              <a:t>-</a:t>
            </a:r>
            <a:r>
              <a:rPr sz="2800" b="1" i="0" dirty="0">
                <a:solidFill>
                  <a:srgbClr val="FFFFFF"/>
                </a:solidFill>
              </a:rPr>
              <a:t> Architecture </a:t>
            </a:r>
            <a:r>
              <a:rPr sz="2800" b="1" i="0" dirty="0" err="1">
                <a:solidFill>
                  <a:srgbClr val="FFFFFF"/>
                </a:solidFill>
              </a:rPr>
              <a:t>en</a:t>
            </a:r>
            <a:r>
              <a:rPr sz="2800" b="1" i="0" dirty="0">
                <a:solidFill>
                  <a:srgbClr val="FFFFFF"/>
                </a:solidFill>
              </a:rPr>
              <a:t> couches</a:t>
            </a:r>
          </a:p>
        </p:txBody>
      </p:sp>
      <p:sp>
        <p:nvSpPr>
          <p:cNvPr id="6" name="Rectangle 5"/>
          <p:cNvSpPr/>
          <p:nvPr/>
        </p:nvSpPr>
        <p:spPr>
          <a:xfrm>
            <a:off x="347472" y="1508760"/>
            <a:ext cx="11475720" cy="7772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 y="1508760"/>
            <a:ext cx="54864"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508760"/>
            <a:ext cx="2514600"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globe.png"/>
          <p:cNvPicPr>
            <a:picLocks noChangeAspect="1"/>
          </p:cNvPicPr>
          <p:nvPr/>
        </p:nvPicPr>
        <p:blipFill>
          <a:blip r:embed="rId3"/>
          <a:stretch>
            <a:fillRect/>
          </a:stretch>
        </p:blipFill>
        <p:spPr>
          <a:xfrm>
            <a:off x="438912" y="1664208"/>
            <a:ext cx="438912" cy="438912"/>
          </a:xfrm>
          <a:prstGeom prst="rect">
            <a:avLst/>
          </a:prstGeom>
        </p:spPr>
      </p:pic>
      <p:sp>
        <p:nvSpPr>
          <p:cNvPr id="10" name="TextBox 9"/>
          <p:cNvSpPr txBox="1"/>
          <p:nvPr/>
        </p:nvSpPr>
        <p:spPr>
          <a:xfrm>
            <a:off x="960120" y="1691640"/>
            <a:ext cx="1463040" cy="261610"/>
          </a:xfrm>
          <a:prstGeom prst="rect">
            <a:avLst/>
          </a:prstGeom>
          <a:noFill/>
        </p:spPr>
        <p:txBody>
          <a:bodyPr wrap="square">
            <a:spAutoFit/>
          </a:bodyPr>
          <a:lstStyle/>
          <a:p>
            <a:pPr algn="l"/>
            <a:r>
              <a:rPr sz="1100" b="1" i="0" dirty="0">
                <a:solidFill>
                  <a:srgbClr val="1A1A2E"/>
                </a:solidFill>
              </a:rPr>
              <a:t>Couche 1 </a:t>
            </a:r>
            <a:r>
              <a:rPr lang="fr-FR" sz="1100" b="1" i="0" dirty="0">
                <a:solidFill>
                  <a:srgbClr val="1A1A2E"/>
                </a:solidFill>
              </a:rPr>
              <a:t>-</a:t>
            </a:r>
            <a:r>
              <a:rPr sz="1100" b="1" i="0" dirty="0">
                <a:solidFill>
                  <a:srgbClr val="1A1A2E"/>
                </a:solidFill>
              </a:rPr>
              <a:t> Reseau</a:t>
            </a:r>
          </a:p>
        </p:txBody>
      </p:sp>
      <p:sp>
        <p:nvSpPr>
          <p:cNvPr id="11" name="TextBox 10"/>
          <p:cNvSpPr txBox="1"/>
          <p:nvPr/>
        </p:nvSpPr>
        <p:spPr>
          <a:xfrm>
            <a:off x="2926080" y="1709928"/>
            <a:ext cx="8823960" cy="411480"/>
          </a:xfrm>
          <a:prstGeom prst="rect">
            <a:avLst/>
          </a:prstGeom>
          <a:noFill/>
        </p:spPr>
        <p:txBody>
          <a:bodyPr wrap="square">
            <a:spAutoFit/>
          </a:bodyPr>
          <a:lstStyle/>
          <a:p>
            <a:pPr algn="l"/>
            <a:r>
              <a:rPr sz="1200" b="0" i="0">
                <a:solidFill>
                  <a:srgbClr val="F4F4F8"/>
                </a:solidFill>
              </a:rPr>
              <a:t>Helmet (headers HTTP)  -  CORS strict  -  Rate limiting (Throttler)  -  HTTPS</a:t>
            </a:r>
          </a:p>
        </p:txBody>
      </p:sp>
      <p:sp>
        <p:nvSpPr>
          <p:cNvPr id="12" name="Rectangle 11"/>
          <p:cNvSpPr/>
          <p:nvPr/>
        </p:nvSpPr>
        <p:spPr>
          <a:xfrm>
            <a:off x="347472" y="2423160"/>
            <a:ext cx="11475720" cy="7772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7472" y="2423160"/>
            <a:ext cx="54864"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7472" y="2423160"/>
            <a:ext cx="2514600"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key.png"/>
          <p:cNvPicPr>
            <a:picLocks noChangeAspect="1"/>
          </p:cNvPicPr>
          <p:nvPr/>
        </p:nvPicPr>
        <p:blipFill>
          <a:blip r:embed="rId4"/>
          <a:stretch>
            <a:fillRect/>
          </a:stretch>
        </p:blipFill>
        <p:spPr>
          <a:xfrm>
            <a:off x="438912" y="2578608"/>
            <a:ext cx="438912" cy="438912"/>
          </a:xfrm>
          <a:prstGeom prst="rect">
            <a:avLst/>
          </a:prstGeom>
        </p:spPr>
      </p:pic>
      <p:sp>
        <p:nvSpPr>
          <p:cNvPr id="16" name="TextBox 15"/>
          <p:cNvSpPr txBox="1"/>
          <p:nvPr/>
        </p:nvSpPr>
        <p:spPr>
          <a:xfrm>
            <a:off x="960120" y="2606040"/>
            <a:ext cx="1463040" cy="261610"/>
          </a:xfrm>
          <a:prstGeom prst="rect">
            <a:avLst/>
          </a:prstGeom>
          <a:noFill/>
        </p:spPr>
        <p:txBody>
          <a:bodyPr wrap="square">
            <a:spAutoFit/>
          </a:bodyPr>
          <a:lstStyle/>
          <a:p>
            <a:pPr algn="l"/>
            <a:r>
              <a:rPr sz="1100" b="1" i="0" dirty="0">
                <a:solidFill>
                  <a:srgbClr val="1A1A2E"/>
                </a:solidFill>
              </a:rPr>
              <a:t>Couche 2 </a:t>
            </a:r>
            <a:r>
              <a:rPr lang="fr-FR" sz="1100" b="1" i="0" dirty="0">
                <a:solidFill>
                  <a:srgbClr val="1A1A2E"/>
                </a:solidFill>
              </a:rPr>
              <a:t>-</a:t>
            </a:r>
            <a:r>
              <a:rPr sz="1100" b="1" i="0" dirty="0">
                <a:solidFill>
                  <a:srgbClr val="1A1A2E"/>
                </a:solidFill>
              </a:rPr>
              <a:t> Auth</a:t>
            </a:r>
          </a:p>
        </p:txBody>
      </p:sp>
      <p:sp>
        <p:nvSpPr>
          <p:cNvPr id="17" name="TextBox 16"/>
          <p:cNvSpPr txBox="1"/>
          <p:nvPr/>
        </p:nvSpPr>
        <p:spPr>
          <a:xfrm>
            <a:off x="2926080" y="2624328"/>
            <a:ext cx="8823960" cy="411480"/>
          </a:xfrm>
          <a:prstGeom prst="rect">
            <a:avLst/>
          </a:prstGeom>
          <a:noFill/>
        </p:spPr>
        <p:txBody>
          <a:bodyPr wrap="square">
            <a:spAutoFit/>
          </a:bodyPr>
          <a:lstStyle/>
          <a:p>
            <a:pPr algn="l"/>
            <a:r>
              <a:rPr sz="1200" b="0" i="0">
                <a:solidFill>
                  <a:srgbClr val="F4F4F8"/>
                </a:solidFill>
              </a:rPr>
              <a:t>JWT 15 min  -  Refresh token 7j  -  Sessions hachees SHA-256  -  Blocage 5 tentatives / 15 min</a:t>
            </a:r>
          </a:p>
        </p:txBody>
      </p:sp>
      <p:sp>
        <p:nvSpPr>
          <p:cNvPr id="18" name="Rectangle 17"/>
          <p:cNvSpPr/>
          <p:nvPr/>
        </p:nvSpPr>
        <p:spPr>
          <a:xfrm>
            <a:off x="347472" y="3337560"/>
            <a:ext cx="11475720" cy="7772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47472" y="3337560"/>
            <a:ext cx="54864"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7472" y="3337560"/>
            <a:ext cx="2514600"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shield.png"/>
          <p:cNvPicPr>
            <a:picLocks noChangeAspect="1"/>
          </p:cNvPicPr>
          <p:nvPr/>
        </p:nvPicPr>
        <p:blipFill>
          <a:blip r:embed="rId5"/>
          <a:stretch>
            <a:fillRect/>
          </a:stretch>
        </p:blipFill>
        <p:spPr>
          <a:xfrm>
            <a:off x="438912" y="3493008"/>
            <a:ext cx="438912" cy="438912"/>
          </a:xfrm>
          <a:prstGeom prst="rect">
            <a:avLst/>
          </a:prstGeom>
        </p:spPr>
      </p:pic>
      <p:sp>
        <p:nvSpPr>
          <p:cNvPr id="22" name="TextBox 21"/>
          <p:cNvSpPr txBox="1"/>
          <p:nvPr/>
        </p:nvSpPr>
        <p:spPr>
          <a:xfrm>
            <a:off x="960120" y="3520440"/>
            <a:ext cx="1463040" cy="261610"/>
          </a:xfrm>
          <a:prstGeom prst="rect">
            <a:avLst/>
          </a:prstGeom>
          <a:noFill/>
        </p:spPr>
        <p:txBody>
          <a:bodyPr wrap="square">
            <a:spAutoFit/>
          </a:bodyPr>
          <a:lstStyle/>
          <a:p>
            <a:pPr algn="l"/>
            <a:r>
              <a:rPr sz="1100" b="1" i="0" dirty="0">
                <a:solidFill>
                  <a:srgbClr val="1A1A2E"/>
                </a:solidFill>
              </a:rPr>
              <a:t>Couche 3 </a:t>
            </a:r>
            <a:r>
              <a:rPr lang="fr-FR" sz="1100" b="1" i="0" dirty="0">
                <a:solidFill>
                  <a:srgbClr val="1A1A2E"/>
                </a:solidFill>
              </a:rPr>
              <a:t>-</a:t>
            </a:r>
            <a:r>
              <a:rPr sz="1100" b="1" i="0" dirty="0">
                <a:solidFill>
                  <a:srgbClr val="1A1A2E"/>
                </a:solidFill>
              </a:rPr>
              <a:t> RBAC</a:t>
            </a:r>
          </a:p>
        </p:txBody>
      </p:sp>
      <p:sp>
        <p:nvSpPr>
          <p:cNvPr id="23" name="TextBox 22"/>
          <p:cNvSpPr txBox="1"/>
          <p:nvPr/>
        </p:nvSpPr>
        <p:spPr>
          <a:xfrm>
            <a:off x="2926080" y="3538728"/>
            <a:ext cx="8823960" cy="411480"/>
          </a:xfrm>
          <a:prstGeom prst="rect">
            <a:avLst/>
          </a:prstGeom>
          <a:noFill/>
        </p:spPr>
        <p:txBody>
          <a:bodyPr wrap="square">
            <a:spAutoFit/>
          </a:bodyPr>
          <a:lstStyle/>
          <a:p>
            <a:pPr algn="l"/>
            <a:r>
              <a:rPr sz="1200" b="0" i="0">
                <a:solidFill>
                  <a:srgbClr val="F4F4F8"/>
                </a:solidFill>
              </a:rPr>
              <a:t>25 permissions granulaires  -  Guards NestJS  -  Verification par endpoint</a:t>
            </a:r>
          </a:p>
        </p:txBody>
      </p:sp>
      <p:sp>
        <p:nvSpPr>
          <p:cNvPr id="24" name="Rectangle 23"/>
          <p:cNvSpPr/>
          <p:nvPr/>
        </p:nvSpPr>
        <p:spPr>
          <a:xfrm>
            <a:off x="347472" y="4251960"/>
            <a:ext cx="11475720" cy="7772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47472" y="4251960"/>
            <a:ext cx="54864"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47472" y="4251960"/>
            <a:ext cx="2514600"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layers.png"/>
          <p:cNvPicPr>
            <a:picLocks noChangeAspect="1"/>
          </p:cNvPicPr>
          <p:nvPr/>
        </p:nvPicPr>
        <p:blipFill>
          <a:blip r:embed="rId6"/>
          <a:stretch>
            <a:fillRect/>
          </a:stretch>
        </p:blipFill>
        <p:spPr>
          <a:xfrm>
            <a:off x="438912" y="4407408"/>
            <a:ext cx="438912" cy="438912"/>
          </a:xfrm>
          <a:prstGeom prst="rect">
            <a:avLst/>
          </a:prstGeom>
        </p:spPr>
      </p:pic>
      <p:sp>
        <p:nvSpPr>
          <p:cNvPr id="28" name="TextBox 27"/>
          <p:cNvSpPr txBox="1"/>
          <p:nvPr/>
        </p:nvSpPr>
        <p:spPr>
          <a:xfrm>
            <a:off x="960120" y="4434840"/>
            <a:ext cx="1463040" cy="430887"/>
          </a:xfrm>
          <a:prstGeom prst="rect">
            <a:avLst/>
          </a:prstGeom>
          <a:noFill/>
        </p:spPr>
        <p:txBody>
          <a:bodyPr wrap="square">
            <a:spAutoFit/>
          </a:bodyPr>
          <a:lstStyle/>
          <a:p>
            <a:pPr algn="l"/>
            <a:r>
              <a:rPr sz="1100" b="1" i="0" dirty="0">
                <a:solidFill>
                  <a:srgbClr val="1A1A2E"/>
                </a:solidFill>
              </a:rPr>
              <a:t>Couche 4 </a:t>
            </a:r>
            <a:r>
              <a:rPr lang="fr-FR" sz="1100" b="1" i="0" dirty="0">
                <a:solidFill>
                  <a:srgbClr val="1A1A2E"/>
                </a:solidFill>
              </a:rPr>
              <a:t>-</a:t>
            </a:r>
            <a:r>
              <a:rPr sz="1100" b="1" i="0" dirty="0">
                <a:solidFill>
                  <a:srgbClr val="1A1A2E"/>
                </a:solidFill>
              </a:rPr>
              <a:t> Multi-tenant</a:t>
            </a:r>
          </a:p>
        </p:txBody>
      </p:sp>
      <p:sp>
        <p:nvSpPr>
          <p:cNvPr id="29" name="TextBox 28"/>
          <p:cNvSpPr txBox="1"/>
          <p:nvPr/>
        </p:nvSpPr>
        <p:spPr>
          <a:xfrm>
            <a:off x="2926080" y="4453128"/>
            <a:ext cx="8823960" cy="411480"/>
          </a:xfrm>
          <a:prstGeom prst="rect">
            <a:avLst/>
          </a:prstGeom>
          <a:noFill/>
        </p:spPr>
        <p:txBody>
          <a:bodyPr wrap="square">
            <a:spAutoFit/>
          </a:bodyPr>
          <a:lstStyle/>
          <a:p>
            <a:pPr algn="l"/>
            <a:r>
              <a:rPr sz="1200" b="0" i="0">
                <a:solidFill>
                  <a:srgbClr val="F4F4F8"/>
                </a:solidFill>
              </a:rPr>
              <a:t>Isolation totale par universite  -  ForbiddenException cross-tenant  -  Super admin = seul a tout voir</a:t>
            </a:r>
          </a:p>
        </p:txBody>
      </p:sp>
      <p:sp>
        <p:nvSpPr>
          <p:cNvPr id="30" name="Rectangle 29"/>
          <p:cNvSpPr/>
          <p:nvPr/>
        </p:nvSpPr>
        <p:spPr>
          <a:xfrm>
            <a:off x="347472" y="5166360"/>
            <a:ext cx="11475720" cy="7772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47472" y="5166360"/>
            <a:ext cx="54864"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47472" y="5166360"/>
            <a:ext cx="2514600"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eye.png"/>
          <p:cNvPicPr>
            <a:picLocks noChangeAspect="1"/>
          </p:cNvPicPr>
          <p:nvPr/>
        </p:nvPicPr>
        <p:blipFill>
          <a:blip r:embed="rId7"/>
          <a:stretch>
            <a:fillRect/>
          </a:stretch>
        </p:blipFill>
        <p:spPr>
          <a:xfrm>
            <a:off x="438912" y="5321808"/>
            <a:ext cx="438912" cy="438912"/>
          </a:xfrm>
          <a:prstGeom prst="rect">
            <a:avLst/>
          </a:prstGeom>
        </p:spPr>
      </p:pic>
      <p:sp>
        <p:nvSpPr>
          <p:cNvPr id="34" name="TextBox 33"/>
          <p:cNvSpPr txBox="1"/>
          <p:nvPr/>
        </p:nvSpPr>
        <p:spPr>
          <a:xfrm>
            <a:off x="960120" y="5349240"/>
            <a:ext cx="1463040" cy="261610"/>
          </a:xfrm>
          <a:prstGeom prst="rect">
            <a:avLst/>
          </a:prstGeom>
          <a:noFill/>
        </p:spPr>
        <p:txBody>
          <a:bodyPr wrap="square">
            <a:spAutoFit/>
          </a:bodyPr>
          <a:lstStyle/>
          <a:p>
            <a:pPr algn="l"/>
            <a:r>
              <a:rPr sz="1100" b="1" i="0" dirty="0">
                <a:solidFill>
                  <a:srgbClr val="1A1A2E"/>
                </a:solidFill>
              </a:rPr>
              <a:t>Couche 5 </a:t>
            </a:r>
            <a:r>
              <a:rPr lang="fr-FR" sz="1100" b="1" i="0" dirty="0">
                <a:solidFill>
                  <a:srgbClr val="1A1A2E"/>
                </a:solidFill>
              </a:rPr>
              <a:t>-</a:t>
            </a:r>
            <a:r>
              <a:rPr sz="1100" b="1" i="0" dirty="0">
                <a:solidFill>
                  <a:srgbClr val="1A1A2E"/>
                </a:solidFill>
              </a:rPr>
              <a:t> Données</a:t>
            </a:r>
          </a:p>
        </p:txBody>
      </p:sp>
      <p:sp>
        <p:nvSpPr>
          <p:cNvPr id="35" name="TextBox 34"/>
          <p:cNvSpPr txBox="1"/>
          <p:nvPr/>
        </p:nvSpPr>
        <p:spPr>
          <a:xfrm>
            <a:off x="2926080" y="5367528"/>
            <a:ext cx="8823960" cy="411480"/>
          </a:xfrm>
          <a:prstGeom prst="rect">
            <a:avLst/>
          </a:prstGeom>
          <a:noFill/>
        </p:spPr>
        <p:txBody>
          <a:bodyPr wrap="square">
            <a:spAutoFit/>
          </a:bodyPr>
          <a:lstStyle/>
          <a:p>
            <a:pPr algn="l"/>
            <a:r>
              <a:rPr sz="1200" b="0" i="0">
                <a:solidFill>
                  <a:srgbClr val="F4F4F8"/>
                </a:solidFill>
              </a:rPr>
              <a:t>Soft delete  -  Audit trail complet  -  bcrypt salt=12  -  Jamais de secrets en clair</a:t>
            </a:r>
          </a:p>
        </p:txBody>
      </p:sp>
      <p:sp>
        <p:nvSpPr>
          <p:cNvPr id="36" name="TextBox 35"/>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10</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6</a:t>
            </a:r>
            <a:r>
              <a:rPr sz="900" b="1" i="0" dirty="0">
                <a:solidFill>
                  <a:srgbClr val="1A1A2E"/>
                </a:solidFill>
              </a:rPr>
              <a:t> </a:t>
            </a:r>
            <a:r>
              <a:rPr lang="fr-FR" sz="900" b="1" i="0" dirty="0">
                <a:solidFill>
                  <a:srgbClr val="1A1A2E"/>
                </a:solidFill>
              </a:rPr>
              <a:t>-</a:t>
            </a:r>
            <a:r>
              <a:rPr sz="900" b="1" i="0" dirty="0">
                <a:solidFill>
                  <a:srgbClr val="1A1A2E"/>
                </a:solidFill>
              </a:rPr>
              <a:t> BLOCKCHAIN</a:t>
            </a:r>
          </a:p>
        </p:txBody>
      </p:sp>
      <p:sp>
        <p:nvSpPr>
          <p:cNvPr id="6" name="TextBox 5"/>
          <p:cNvSpPr txBox="1"/>
          <p:nvPr/>
        </p:nvSpPr>
        <p:spPr>
          <a:xfrm>
            <a:off x="347472" y="521208"/>
            <a:ext cx="9144000" cy="685800"/>
          </a:xfrm>
          <a:prstGeom prst="rect">
            <a:avLst/>
          </a:prstGeom>
          <a:noFill/>
        </p:spPr>
        <p:txBody>
          <a:bodyPr wrap="square">
            <a:spAutoFit/>
          </a:bodyPr>
          <a:lstStyle/>
          <a:p>
            <a:pPr algn="l"/>
            <a:r>
              <a:rPr sz="2800" b="1" i="0">
                <a:solidFill>
                  <a:srgbClr val="FFFFFF"/>
                </a:solidFill>
              </a:rPr>
              <a:t>Integration blockchain Polygon</a:t>
            </a:r>
          </a:p>
        </p:txBody>
      </p:sp>
      <p:sp>
        <p:nvSpPr>
          <p:cNvPr id="7" name="Rectangle 6"/>
          <p:cNvSpPr/>
          <p:nvPr/>
        </p:nvSpPr>
        <p:spPr>
          <a:xfrm>
            <a:off x="347472" y="1353312"/>
            <a:ext cx="7132320" cy="425196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353312"/>
            <a:ext cx="7132320" cy="47548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426464"/>
            <a:ext cx="6766560" cy="320040"/>
          </a:xfrm>
          <a:prstGeom prst="rect">
            <a:avLst/>
          </a:prstGeom>
          <a:noFill/>
        </p:spPr>
        <p:txBody>
          <a:bodyPr wrap="square">
            <a:spAutoFit/>
          </a:bodyPr>
          <a:lstStyle/>
          <a:p>
            <a:pPr algn="l"/>
            <a:r>
              <a:rPr sz="1400" b="1" i="0">
                <a:solidFill>
                  <a:srgbClr val="FFFFFF"/>
                </a:solidFill>
              </a:rPr>
              <a:t>Comment ca fonctionne</a:t>
            </a:r>
          </a:p>
        </p:txBody>
      </p:sp>
      <p:pic>
        <p:nvPicPr>
          <p:cNvPr id="10" name="Picture 9" descr="award.png"/>
          <p:cNvPicPr>
            <a:picLocks noChangeAspect="1"/>
          </p:cNvPicPr>
          <p:nvPr/>
        </p:nvPicPr>
        <p:blipFill>
          <a:blip r:embed="rId3"/>
          <a:stretch>
            <a:fillRect/>
          </a:stretch>
        </p:blipFill>
        <p:spPr>
          <a:xfrm>
            <a:off x="457200" y="1938528"/>
            <a:ext cx="347472" cy="347472"/>
          </a:xfrm>
          <a:prstGeom prst="rect">
            <a:avLst/>
          </a:prstGeom>
        </p:spPr>
      </p:pic>
      <p:sp>
        <p:nvSpPr>
          <p:cNvPr id="11" name="Rectangle 10"/>
          <p:cNvSpPr/>
          <p:nvPr/>
        </p:nvSpPr>
        <p:spPr>
          <a:xfrm>
            <a:off x="868680" y="2011680"/>
            <a:ext cx="54864"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 y="1984248"/>
            <a:ext cx="6217920" cy="347472"/>
          </a:xfrm>
          <a:prstGeom prst="rect">
            <a:avLst/>
          </a:prstGeom>
          <a:noFill/>
        </p:spPr>
        <p:txBody>
          <a:bodyPr wrap="square">
            <a:spAutoFit/>
          </a:bodyPr>
          <a:lstStyle/>
          <a:p>
            <a:pPr algn="l"/>
            <a:r>
              <a:rPr sz="1300" b="1" i="0">
                <a:solidFill>
                  <a:srgbClr val="1A1A2E"/>
                </a:solidFill>
              </a:rPr>
              <a:t>Diplome valide en base</a:t>
            </a:r>
          </a:p>
        </p:txBody>
      </p:sp>
      <p:sp>
        <p:nvSpPr>
          <p:cNvPr id="13" name="TextBox 12"/>
          <p:cNvSpPr txBox="1"/>
          <p:nvPr/>
        </p:nvSpPr>
        <p:spPr>
          <a:xfrm>
            <a:off x="868680" y="2350008"/>
            <a:ext cx="91440" cy="182880"/>
          </a:xfrm>
          <a:prstGeom prst="rect">
            <a:avLst/>
          </a:prstGeom>
          <a:noFill/>
        </p:spPr>
        <p:txBody>
          <a:bodyPr wrap="square">
            <a:spAutoFit/>
          </a:bodyPr>
          <a:lstStyle/>
          <a:p>
            <a:pPr algn="ctr"/>
            <a:r>
              <a:rPr sz="900" b="0" i="0">
                <a:solidFill>
                  <a:srgbClr val="C9A84C"/>
                </a:solidFill>
              </a:rPr>
              <a:t>|</a:t>
            </a:r>
          </a:p>
        </p:txBody>
      </p:sp>
      <p:pic>
        <p:nvPicPr>
          <p:cNvPr id="14" name="Picture 13" descr="code.png"/>
          <p:cNvPicPr>
            <a:picLocks noChangeAspect="1"/>
          </p:cNvPicPr>
          <p:nvPr/>
        </p:nvPicPr>
        <p:blipFill>
          <a:blip r:embed="rId4"/>
          <a:stretch>
            <a:fillRect/>
          </a:stretch>
        </p:blipFill>
        <p:spPr>
          <a:xfrm>
            <a:off x="457200" y="2505456"/>
            <a:ext cx="347472" cy="347472"/>
          </a:xfrm>
          <a:prstGeom prst="rect">
            <a:avLst/>
          </a:prstGeom>
        </p:spPr>
      </p:pic>
      <p:sp>
        <p:nvSpPr>
          <p:cNvPr id="15" name="Rectangle 14"/>
          <p:cNvSpPr/>
          <p:nvPr/>
        </p:nvSpPr>
        <p:spPr>
          <a:xfrm>
            <a:off x="868680" y="2578608"/>
            <a:ext cx="54864"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24128" y="2551176"/>
            <a:ext cx="6217920" cy="347472"/>
          </a:xfrm>
          <a:prstGeom prst="rect">
            <a:avLst/>
          </a:prstGeom>
          <a:noFill/>
        </p:spPr>
        <p:txBody>
          <a:bodyPr wrap="square">
            <a:spAutoFit/>
          </a:bodyPr>
          <a:lstStyle/>
          <a:p>
            <a:pPr algn="l"/>
            <a:r>
              <a:rPr sz="1300" b="0" i="0">
                <a:solidFill>
                  <a:srgbClr val="444455"/>
                </a:solidFill>
              </a:rPr>
              <a:t>BlockchainService appelle le contrat</a:t>
            </a:r>
          </a:p>
        </p:txBody>
      </p:sp>
      <p:sp>
        <p:nvSpPr>
          <p:cNvPr id="17" name="TextBox 16"/>
          <p:cNvSpPr txBox="1"/>
          <p:nvPr/>
        </p:nvSpPr>
        <p:spPr>
          <a:xfrm>
            <a:off x="868680" y="2916936"/>
            <a:ext cx="91440" cy="182880"/>
          </a:xfrm>
          <a:prstGeom prst="rect">
            <a:avLst/>
          </a:prstGeom>
          <a:noFill/>
        </p:spPr>
        <p:txBody>
          <a:bodyPr wrap="square">
            <a:spAutoFit/>
          </a:bodyPr>
          <a:lstStyle/>
          <a:p>
            <a:pPr algn="ctr"/>
            <a:r>
              <a:rPr sz="900" b="0" i="0">
                <a:solidFill>
                  <a:srgbClr val="C9A84C"/>
                </a:solidFill>
              </a:rPr>
              <a:t>|</a:t>
            </a:r>
          </a:p>
        </p:txBody>
      </p:sp>
      <p:pic>
        <p:nvPicPr>
          <p:cNvPr id="18" name="Picture 17" descr="lock.png"/>
          <p:cNvPicPr>
            <a:picLocks noChangeAspect="1"/>
          </p:cNvPicPr>
          <p:nvPr/>
        </p:nvPicPr>
        <p:blipFill>
          <a:blip r:embed="rId5"/>
          <a:stretch>
            <a:fillRect/>
          </a:stretch>
        </p:blipFill>
        <p:spPr>
          <a:xfrm>
            <a:off x="457200" y="3072384"/>
            <a:ext cx="347472" cy="347472"/>
          </a:xfrm>
          <a:prstGeom prst="rect">
            <a:avLst/>
          </a:prstGeom>
        </p:spPr>
      </p:pic>
      <p:sp>
        <p:nvSpPr>
          <p:cNvPr id="19" name="Rectangle 18"/>
          <p:cNvSpPr/>
          <p:nvPr/>
        </p:nvSpPr>
        <p:spPr>
          <a:xfrm>
            <a:off x="868680" y="3145536"/>
            <a:ext cx="54864"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4128" y="3118104"/>
            <a:ext cx="6217920" cy="347472"/>
          </a:xfrm>
          <a:prstGeom prst="rect">
            <a:avLst/>
          </a:prstGeom>
          <a:noFill/>
        </p:spPr>
        <p:txBody>
          <a:bodyPr wrap="square">
            <a:spAutoFit/>
          </a:bodyPr>
          <a:lstStyle/>
          <a:p>
            <a:pPr algn="l"/>
            <a:r>
              <a:rPr sz="1300" b="0" i="0">
                <a:solidFill>
                  <a:srgbClr val="444455"/>
                </a:solidFill>
              </a:rPr>
              <a:t>Transaction signee avec cle privee</a:t>
            </a:r>
          </a:p>
        </p:txBody>
      </p:sp>
      <p:sp>
        <p:nvSpPr>
          <p:cNvPr id="21" name="TextBox 20"/>
          <p:cNvSpPr txBox="1"/>
          <p:nvPr/>
        </p:nvSpPr>
        <p:spPr>
          <a:xfrm>
            <a:off x="868680" y="3483864"/>
            <a:ext cx="91440" cy="182880"/>
          </a:xfrm>
          <a:prstGeom prst="rect">
            <a:avLst/>
          </a:prstGeom>
          <a:noFill/>
        </p:spPr>
        <p:txBody>
          <a:bodyPr wrap="square">
            <a:spAutoFit/>
          </a:bodyPr>
          <a:lstStyle/>
          <a:p>
            <a:pPr algn="ctr"/>
            <a:r>
              <a:rPr sz="900" b="0" i="0">
                <a:solidFill>
                  <a:srgbClr val="C9A84C"/>
                </a:solidFill>
              </a:rPr>
              <a:t>|</a:t>
            </a:r>
          </a:p>
        </p:txBody>
      </p:sp>
      <p:pic>
        <p:nvPicPr>
          <p:cNvPr id="22" name="Picture 21" descr="link.png"/>
          <p:cNvPicPr>
            <a:picLocks noChangeAspect="1"/>
          </p:cNvPicPr>
          <p:nvPr/>
        </p:nvPicPr>
        <p:blipFill>
          <a:blip r:embed="rId6"/>
          <a:stretch>
            <a:fillRect/>
          </a:stretch>
        </p:blipFill>
        <p:spPr>
          <a:xfrm>
            <a:off x="457200" y="3639312"/>
            <a:ext cx="347472" cy="347472"/>
          </a:xfrm>
          <a:prstGeom prst="rect">
            <a:avLst/>
          </a:prstGeom>
        </p:spPr>
      </p:pic>
      <p:sp>
        <p:nvSpPr>
          <p:cNvPr id="23" name="Rectangle 22"/>
          <p:cNvSpPr/>
          <p:nvPr/>
        </p:nvSpPr>
        <p:spPr>
          <a:xfrm>
            <a:off x="868680" y="3712464"/>
            <a:ext cx="54864"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24128" y="3685032"/>
            <a:ext cx="6217920" cy="347472"/>
          </a:xfrm>
          <a:prstGeom prst="rect">
            <a:avLst/>
          </a:prstGeom>
          <a:noFill/>
        </p:spPr>
        <p:txBody>
          <a:bodyPr wrap="square">
            <a:spAutoFit/>
          </a:bodyPr>
          <a:lstStyle/>
          <a:p>
            <a:pPr algn="l"/>
            <a:r>
              <a:rPr sz="1300" b="0" i="0">
                <a:solidFill>
                  <a:srgbClr val="444455"/>
                </a:solidFill>
              </a:rPr>
              <a:t>Confirmee sur Polygon Amoy</a:t>
            </a:r>
          </a:p>
        </p:txBody>
      </p:sp>
      <p:sp>
        <p:nvSpPr>
          <p:cNvPr id="25" name="TextBox 24"/>
          <p:cNvSpPr txBox="1"/>
          <p:nvPr/>
        </p:nvSpPr>
        <p:spPr>
          <a:xfrm>
            <a:off x="868680" y="4050792"/>
            <a:ext cx="91440" cy="182880"/>
          </a:xfrm>
          <a:prstGeom prst="rect">
            <a:avLst/>
          </a:prstGeom>
          <a:noFill/>
        </p:spPr>
        <p:txBody>
          <a:bodyPr wrap="square">
            <a:spAutoFit/>
          </a:bodyPr>
          <a:lstStyle/>
          <a:p>
            <a:pPr algn="ctr"/>
            <a:r>
              <a:rPr sz="900" b="0" i="0">
                <a:solidFill>
                  <a:srgbClr val="C9A84C"/>
                </a:solidFill>
              </a:rPr>
              <a:t>|</a:t>
            </a:r>
          </a:p>
        </p:txBody>
      </p:sp>
      <p:pic>
        <p:nvPicPr>
          <p:cNvPr id="26" name="Picture 25" descr="database.png"/>
          <p:cNvPicPr>
            <a:picLocks noChangeAspect="1"/>
          </p:cNvPicPr>
          <p:nvPr/>
        </p:nvPicPr>
        <p:blipFill>
          <a:blip r:embed="rId7"/>
          <a:stretch>
            <a:fillRect/>
          </a:stretch>
        </p:blipFill>
        <p:spPr>
          <a:xfrm>
            <a:off x="457200" y="4206240"/>
            <a:ext cx="347472" cy="347472"/>
          </a:xfrm>
          <a:prstGeom prst="rect">
            <a:avLst/>
          </a:prstGeom>
        </p:spPr>
      </p:pic>
      <p:sp>
        <p:nvSpPr>
          <p:cNvPr id="27" name="Rectangle 26"/>
          <p:cNvSpPr/>
          <p:nvPr/>
        </p:nvSpPr>
        <p:spPr>
          <a:xfrm>
            <a:off x="868680" y="4279392"/>
            <a:ext cx="54864" cy="34747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4128" y="4251960"/>
            <a:ext cx="6217920" cy="347472"/>
          </a:xfrm>
          <a:prstGeom prst="rect">
            <a:avLst/>
          </a:prstGeom>
          <a:noFill/>
        </p:spPr>
        <p:txBody>
          <a:bodyPr wrap="square">
            <a:spAutoFit/>
          </a:bodyPr>
          <a:lstStyle/>
          <a:p>
            <a:pPr algn="l"/>
            <a:r>
              <a:rPr sz="1300" b="0" i="0">
                <a:solidFill>
                  <a:srgbClr val="444455"/>
                </a:solidFill>
              </a:rPr>
              <a:t>tx_hash sauvegarde en base</a:t>
            </a:r>
          </a:p>
        </p:txBody>
      </p:sp>
      <p:sp>
        <p:nvSpPr>
          <p:cNvPr id="29" name="TextBox 28"/>
          <p:cNvSpPr txBox="1"/>
          <p:nvPr/>
        </p:nvSpPr>
        <p:spPr>
          <a:xfrm>
            <a:off x="868680" y="4617720"/>
            <a:ext cx="91440" cy="182880"/>
          </a:xfrm>
          <a:prstGeom prst="rect">
            <a:avLst/>
          </a:prstGeom>
          <a:noFill/>
        </p:spPr>
        <p:txBody>
          <a:bodyPr wrap="square">
            <a:spAutoFit/>
          </a:bodyPr>
          <a:lstStyle/>
          <a:p>
            <a:pPr algn="ctr"/>
            <a:r>
              <a:rPr sz="900" b="0" i="0">
                <a:solidFill>
                  <a:srgbClr val="C9A84C"/>
                </a:solidFill>
              </a:rPr>
              <a:t>|</a:t>
            </a:r>
          </a:p>
        </p:txBody>
      </p:sp>
      <p:pic>
        <p:nvPicPr>
          <p:cNvPr id="30" name="Picture 29" descr="check-circle.png"/>
          <p:cNvPicPr>
            <a:picLocks noChangeAspect="1"/>
          </p:cNvPicPr>
          <p:nvPr/>
        </p:nvPicPr>
        <p:blipFill>
          <a:blip r:embed="rId8"/>
          <a:stretch>
            <a:fillRect/>
          </a:stretch>
        </p:blipFill>
        <p:spPr>
          <a:xfrm>
            <a:off x="457200" y="4773168"/>
            <a:ext cx="347472" cy="347472"/>
          </a:xfrm>
          <a:prstGeom prst="rect">
            <a:avLst/>
          </a:prstGeom>
        </p:spPr>
      </p:pic>
      <p:sp>
        <p:nvSpPr>
          <p:cNvPr id="31" name="Rectangle 30"/>
          <p:cNvSpPr/>
          <p:nvPr/>
        </p:nvSpPr>
        <p:spPr>
          <a:xfrm>
            <a:off x="868680" y="4846320"/>
            <a:ext cx="54864"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4128" y="4818888"/>
            <a:ext cx="6217920" cy="347472"/>
          </a:xfrm>
          <a:prstGeom prst="rect">
            <a:avLst/>
          </a:prstGeom>
          <a:noFill/>
        </p:spPr>
        <p:txBody>
          <a:bodyPr wrap="square">
            <a:spAutoFit/>
          </a:bodyPr>
          <a:lstStyle/>
          <a:p>
            <a:pPr algn="l"/>
            <a:r>
              <a:rPr sz="1300" b="1" i="0">
                <a:solidFill>
                  <a:srgbClr val="1A1A2E"/>
                </a:solidFill>
              </a:rPr>
              <a:t>Verifiable sur PolygonScan</a:t>
            </a:r>
          </a:p>
        </p:txBody>
      </p:sp>
      <p:sp>
        <p:nvSpPr>
          <p:cNvPr id="33" name="Rectangle 32"/>
          <p:cNvSpPr/>
          <p:nvPr/>
        </p:nvSpPr>
        <p:spPr>
          <a:xfrm>
            <a:off x="7680960" y="1353312"/>
            <a:ext cx="4160520" cy="42519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680960" y="1353312"/>
            <a:ext cx="416052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845552" y="1463040"/>
            <a:ext cx="3840480" cy="347472"/>
          </a:xfrm>
          <a:prstGeom prst="rect">
            <a:avLst/>
          </a:prstGeom>
          <a:noFill/>
        </p:spPr>
        <p:txBody>
          <a:bodyPr wrap="square">
            <a:spAutoFit/>
          </a:bodyPr>
          <a:lstStyle/>
          <a:p>
            <a:pPr algn="l"/>
            <a:r>
              <a:rPr sz="1300" b="1" i="0">
                <a:solidFill>
                  <a:srgbClr val="C9A84C"/>
                </a:solidFill>
              </a:rPr>
              <a:t>Contrat deploye</a:t>
            </a:r>
          </a:p>
        </p:txBody>
      </p:sp>
      <p:sp>
        <p:nvSpPr>
          <p:cNvPr id="36" name="TextBox 35"/>
          <p:cNvSpPr txBox="1"/>
          <p:nvPr/>
        </p:nvSpPr>
        <p:spPr>
          <a:xfrm>
            <a:off x="7845552" y="1874519"/>
            <a:ext cx="1188720" cy="292608"/>
          </a:xfrm>
          <a:prstGeom prst="rect">
            <a:avLst/>
          </a:prstGeom>
          <a:noFill/>
        </p:spPr>
        <p:txBody>
          <a:bodyPr wrap="square">
            <a:spAutoFit/>
          </a:bodyPr>
          <a:lstStyle/>
          <a:p>
            <a:pPr algn="l"/>
            <a:r>
              <a:rPr sz="1100" b="1" i="0">
                <a:solidFill>
                  <a:srgbClr val="C9A84C"/>
                </a:solidFill>
              </a:rPr>
              <a:t>Reseau :</a:t>
            </a:r>
          </a:p>
        </p:txBody>
      </p:sp>
      <p:sp>
        <p:nvSpPr>
          <p:cNvPr id="37" name="TextBox 36"/>
          <p:cNvSpPr txBox="1"/>
          <p:nvPr/>
        </p:nvSpPr>
        <p:spPr>
          <a:xfrm>
            <a:off x="9098280" y="1874519"/>
            <a:ext cx="2606040" cy="292608"/>
          </a:xfrm>
          <a:prstGeom prst="rect">
            <a:avLst/>
          </a:prstGeom>
          <a:noFill/>
        </p:spPr>
        <p:txBody>
          <a:bodyPr wrap="square">
            <a:spAutoFit/>
          </a:bodyPr>
          <a:lstStyle/>
          <a:p>
            <a:pPr algn="l"/>
            <a:r>
              <a:rPr sz="1100" b="0" i="0">
                <a:solidFill>
                  <a:srgbClr val="FFFFFF"/>
                </a:solidFill>
              </a:rPr>
              <a:t>Polygon Amoy Testnet</a:t>
            </a:r>
          </a:p>
        </p:txBody>
      </p:sp>
      <p:sp>
        <p:nvSpPr>
          <p:cNvPr id="38" name="TextBox 37"/>
          <p:cNvSpPr txBox="1"/>
          <p:nvPr/>
        </p:nvSpPr>
        <p:spPr>
          <a:xfrm>
            <a:off x="7845552" y="2148839"/>
            <a:ext cx="1188720" cy="292608"/>
          </a:xfrm>
          <a:prstGeom prst="rect">
            <a:avLst/>
          </a:prstGeom>
          <a:noFill/>
        </p:spPr>
        <p:txBody>
          <a:bodyPr wrap="square">
            <a:spAutoFit/>
          </a:bodyPr>
          <a:lstStyle/>
          <a:p>
            <a:pPr algn="l"/>
            <a:r>
              <a:rPr sz="1100" b="1" i="0">
                <a:solidFill>
                  <a:srgbClr val="C9A84C"/>
                </a:solidFill>
              </a:rPr>
              <a:t>Contrat :</a:t>
            </a:r>
          </a:p>
        </p:txBody>
      </p:sp>
      <p:sp>
        <p:nvSpPr>
          <p:cNvPr id="39" name="TextBox 38"/>
          <p:cNvSpPr txBox="1"/>
          <p:nvPr/>
        </p:nvSpPr>
        <p:spPr>
          <a:xfrm>
            <a:off x="9098280" y="2148839"/>
            <a:ext cx="2606040" cy="292608"/>
          </a:xfrm>
          <a:prstGeom prst="rect">
            <a:avLst/>
          </a:prstGeom>
          <a:noFill/>
        </p:spPr>
        <p:txBody>
          <a:bodyPr wrap="square">
            <a:spAutoFit/>
          </a:bodyPr>
          <a:lstStyle/>
          <a:p>
            <a:pPr algn="l"/>
            <a:r>
              <a:rPr sz="1100" b="0" i="0">
                <a:solidFill>
                  <a:srgbClr val="FFFFFF"/>
                </a:solidFill>
              </a:rPr>
              <a:t>0x75a23a...1315E</a:t>
            </a:r>
          </a:p>
        </p:txBody>
      </p:sp>
      <p:sp>
        <p:nvSpPr>
          <p:cNvPr id="40" name="TextBox 39"/>
          <p:cNvSpPr txBox="1"/>
          <p:nvPr/>
        </p:nvSpPr>
        <p:spPr>
          <a:xfrm>
            <a:off x="7845552" y="2423159"/>
            <a:ext cx="1188720" cy="292608"/>
          </a:xfrm>
          <a:prstGeom prst="rect">
            <a:avLst/>
          </a:prstGeom>
          <a:noFill/>
        </p:spPr>
        <p:txBody>
          <a:bodyPr wrap="square">
            <a:spAutoFit/>
          </a:bodyPr>
          <a:lstStyle/>
          <a:p>
            <a:pPr algn="l"/>
            <a:r>
              <a:rPr sz="1100" b="1" i="0">
                <a:solidFill>
                  <a:srgbClr val="C9A84C"/>
                </a:solidFill>
              </a:rPr>
              <a:t>Langage :</a:t>
            </a:r>
          </a:p>
        </p:txBody>
      </p:sp>
      <p:sp>
        <p:nvSpPr>
          <p:cNvPr id="41" name="TextBox 40"/>
          <p:cNvSpPr txBox="1"/>
          <p:nvPr/>
        </p:nvSpPr>
        <p:spPr>
          <a:xfrm>
            <a:off x="9098280" y="2423159"/>
            <a:ext cx="2606040" cy="292608"/>
          </a:xfrm>
          <a:prstGeom prst="rect">
            <a:avLst/>
          </a:prstGeom>
          <a:noFill/>
        </p:spPr>
        <p:txBody>
          <a:bodyPr wrap="square">
            <a:spAutoFit/>
          </a:bodyPr>
          <a:lstStyle/>
          <a:p>
            <a:pPr algn="l"/>
            <a:r>
              <a:rPr sz="1100" b="0" i="0">
                <a:solidFill>
                  <a:srgbClr val="FFFFFF"/>
                </a:solidFill>
              </a:rPr>
              <a:t>Solidity 0.8.20</a:t>
            </a:r>
          </a:p>
        </p:txBody>
      </p:sp>
      <p:sp>
        <p:nvSpPr>
          <p:cNvPr id="42" name="TextBox 41"/>
          <p:cNvSpPr txBox="1"/>
          <p:nvPr/>
        </p:nvSpPr>
        <p:spPr>
          <a:xfrm>
            <a:off x="7845552" y="2697479"/>
            <a:ext cx="1188720" cy="292608"/>
          </a:xfrm>
          <a:prstGeom prst="rect">
            <a:avLst/>
          </a:prstGeom>
          <a:noFill/>
        </p:spPr>
        <p:txBody>
          <a:bodyPr wrap="square">
            <a:spAutoFit/>
          </a:bodyPr>
          <a:lstStyle/>
          <a:p>
            <a:pPr algn="l"/>
            <a:r>
              <a:rPr sz="1100" b="1" i="0">
                <a:solidFill>
                  <a:srgbClr val="C9A84C"/>
                </a:solidFill>
              </a:rPr>
              <a:t>Lib :</a:t>
            </a:r>
          </a:p>
        </p:txBody>
      </p:sp>
      <p:sp>
        <p:nvSpPr>
          <p:cNvPr id="43" name="TextBox 42"/>
          <p:cNvSpPr txBox="1"/>
          <p:nvPr/>
        </p:nvSpPr>
        <p:spPr>
          <a:xfrm>
            <a:off x="9098280" y="2697479"/>
            <a:ext cx="2606040" cy="292608"/>
          </a:xfrm>
          <a:prstGeom prst="rect">
            <a:avLst/>
          </a:prstGeom>
          <a:noFill/>
        </p:spPr>
        <p:txBody>
          <a:bodyPr wrap="square">
            <a:spAutoFit/>
          </a:bodyPr>
          <a:lstStyle/>
          <a:p>
            <a:pPr algn="l"/>
            <a:r>
              <a:rPr sz="1100" b="0" i="0">
                <a:solidFill>
                  <a:srgbClr val="FFFFFF"/>
                </a:solidFill>
              </a:rPr>
              <a:t>OpenZeppelin Ownable</a:t>
            </a:r>
          </a:p>
        </p:txBody>
      </p:sp>
      <p:sp>
        <p:nvSpPr>
          <p:cNvPr id="44" name="TextBox 43"/>
          <p:cNvSpPr txBox="1"/>
          <p:nvPr/>
        </p:nvSpPr>
        <p:spPr>
          <a:xfrm>
            <a:off x="9098280" y="2971799"/>
            <a:ext cx="2606040" cy="292608"/>
          </a:xfrm>
          <a:prstGeom prst="rect">
            <a:avLst/>
          </a:prstGeom>
          <a:noFill/>
        </p:spPr>
        <p:txBody>
          <a:bodyPr wrap="square">
            <a:spAutoFit/>
          </a:bodyPr>
          <a:lstStyle/>
          <a:p>
            <a:pPr algn="l"/>
            <a:endParaRPr/>
          </a:p>
        </p:txBody>
      </p:sp>
      <p:sp>
        <p:nvSpPr>
          <p:cNvPr id="45" name="TextBox 44"/>
          <p:cNvSpPr txBox="1"/>
          <p:nvPr/>
        </p:nvSpPr>
        <p:spPr>
          <a:xfrm>
            <a:off x="7845552" y="3246119"/>
            <a:ext cx="1188720" cy="292608"/>
          </a:xfrm>
          <a:prstGeom prst="rect">
            <a:avLst/>
          </a:prstGeom>
          <a:noFill/>
        </p:spPr>
        <p:txBody>
          <a:bodyPr wrap="square">
            <a:spAutoFit/>
          </a:bodyPr>
          <a:lstStyle/>
          <a:p>
            <a:pPr algn="l"/>
            <a:r>
              <a:rPr sz="1100" b="1" i="0">
                <a:solidFill>
                  <a:srgbClr val="C9A84C"/>
                </a:solidFill>
              </a:rPr>
              <a:t>Fonction :</a:t>
            </a:r>
          </a:p>
        </p:txBody>
      </p:sp>
      <p:sp>
        <p:nvSpPr>
          <p:cNvPr id="46" name="TextBox 45"/>
          <p:cNvSpPr txBox="1"/>
          <p:nvPr/>
        </p:nvSpPr>
        <p:spPr>
          <a:xfrm>
            <a:off x="9098280" y="3246119"/>
            <a:ext cx="2606040" cy="292608"/>
          </a:xfrm>
          <a:prstGeom prst="rect">
            <a:avLst/>
          </a:prstGeom>
          <a:noFill/>
        </p:spPr>
        <p:txBody>
          <a:bodyPr wrap="square">
            <a:spAutoFit/>
          </a:bodyPr>
          <a:lstStyle/>
          <a:p>
            <a:pPr algn="l"/>
            <a:r>
              <a:rPr sz="1100" b="0" i="0">
                <a:solidFill>
                  <a:srgbClr val="FFFFFF"/>
                </a:solidFill>
              </a:rPr>
              <a:t>enregistrerDiplome()</a:t>
            </a:r>
          </a:p>
        </p:txBody>
      </p:sp>
      <p:sp>
        <p:nvSpPr>
          <p:cNvPr id="47" name="TextBox 46"/>
          <p:cNvSpPr txBox="1"/>
          <p:nvPr/>
        </p:nvSpPr>
        <p:spPr>
          <a:xfrm>
            <a:off x="9098280" y="3520439"/>
            <a:ext cx="2606040" cy="292608"/>
          </a:xfrm>
          <a:prstGeom prst="rect">
            <a:avLst/>
          </a:prstGeom>
          <a:noFill/>
        </p:spPr>
        <p:txBody>
          <a:bodyPr wrap="square">
            <a:spAutoFit/>
          </a:bodyPr>
          <a:lstStyle/>
          <a:p>
            <a:pPr algn="l"/>
            <a:r>
              <a:rPr sz="1100" b="0" i="0">
                <a:solidFill>
                  <a:srgbClr val="FFFFFF"/>
                </a:solidFill>
              </a:rPr>
              <a:t>revoquerDiplome()</a:t>
            </a:r>
          </a:p>
        </p:txBody>
      </p:sp>
      <p:sp>
        <p:nvSpPr>
          <p:cNvPr id="48" name="TextBox 47"/>
          <p:cNvSpPr txBox="1"/>
          <p:nvPr/>
        </p:nvSpPr>
        <p:spPr>
          <a:xfrm>
            <a:off x="9098280" y="3794759"/>
            <a:ext cx="2606040" cy="292608"/>
          </a:xfrm>
          <a:prstGeom prst="rect">
            <a:avLst/>
          </a:prstGeom>
          <a:noFill/>
        </p:spPr>
        <p:txBody>
          <a:bodyPr wrap="square">
            <a:spAutoFit/>
          </a:bodyPr>
          <a:lstStyle/>
          <a:p>
            <a:pPr algn="l"/>
            <a:r>
              <a:rPr sz="1100" b="0" i="0">
                <a:solidFill>
                  <a:srgbClr val="FFFFFF"/>
                </a:solidFill>
              </a:rPr>
              <a:t>verifierDiplome()</a:t>
            </a:r>
          </a:p>
        </p:txBody>
      </p:sp>
      <p:sp>
        <p:nvSpPr>
          <p:cNvPr id="49" name="TextBox 48"/>
          <p:cNvSpPr txBox="1"/>
          <p:nvPr/>
        </p:nvSpPr>
        <p:spPr>
          <a:xfrm>
            <a:off x="9098280" y="4069079"/>
            <a:ext cx="2606040" cy="292608"/>
          </a:xfrm>
          <a:prstGeom prst="rect">
            <a:avLst/>
          </a:prstGeom>
          <a:noFill/>
        </p:spPr>
        <p:txBody>
          <a:bodyPr wrap="square">
            <a:spAutoFit/>
          </a:bodyPr>
          <a:lstStyle/>
          <a:p>
            <a:pPr algn="l"/>
            <a:endParaRPr/>
          </a:p>
        </p:txBody>
      </p:sp>
      <p:sp>
        <p:nvSpPr>
          <p:cNvPr id="50" name="TextBox 49"/>
          <p:cNvSpPr txBox="1"/>
          <p:nvPr/>
        </p:nvSpPr>
        <p:spPr>
          <a:xfrm>
            <a:off x="7845552" y="4343399"/>
            <a:ext cx="1188720" cy="292608"/>
          </a:xfrm>
          <a:prstGeom prst="rect">
            <a:avLst/>
          </a:prstGeom>
          <a:noFill/>
        </p:spPr>
        <p:txBody>
          <a:bodyPr wrap="square">
            <a:spAutoFit/>
          </a:bodyPr>
          <a:lstStyle/>
          <a:p>
            <a:pPr algn="l"/>
            <a:r>
              <a:rPr sz="1100" b="1" i="0">
                <a:solidFill>
                  <a:srgbClr val="C9A84C"/>
                </a:solidFill>
              </a:rPr>
              <a:t>Pattern :</a:t>
            </a:r>
          </a:p>
        </p:txBody>
      </p:sp>
      <p:sp>
        <p:nvSpPr>
          <p:cNvPr id="51" name="TextBox 50"/>
          <p:cNvSpPr txBox="1"/>
          <p:nvPr/>
        </p:nvSpPr>
        <p:spPr>
          <a:xfrm>
            <a:off x="9098280" y="4343399"/>
            <a:ext cx="2606040" cy="292608"/>
          </a:xfrm>
          <a:prstGeom prst="rect">
            <a:avLst/>
          </a:prstGeom>
          <a:noFill/>
        </p:spPr>
        <p:txBody>
          <a:bodyPr wrap="square">
            <a:spAutoFit/>
          </a:bodyPr>
          <a:lstStyle/>
          <a:p>
            <a:pPr algn="l"/>
            <a:r>
              <a:rPr sz="1100" b="0" i="0">
                <a:solidFill>
                  <a:srgbClr val="FFFFFF"/>
                </a:solidFill>
              </a:rPr>
              <a:t>Fire &amp; forget</a:t>
            </a:r>
          </a:p>
        </p:txBody>
      </p:sp>
      <p:sp>
        <p:nvSpPr>
          <p:cNvPr id="52" name="TextBox 51"/>
          <p:cNvSpPr txBox="1"/>
          <p:nvPr/>
        </p:nvSpPr>
        <p:spPr>
          <a:xfrm>
            <a:off x="9098280" y="4617719"/>
            <a:ext cx="2606040" cy="292608"/>
          </a:xfrm>
          <a:prstGeom prst="rect">
            <a:avLst/>
          </a:prstGeom>
          <a:noFill/>
        </p:spPr>
        <p:txBody>
          <a:bodyPr wrap="square">
            <a:spAutoFit/>
          </a:bodyPr>
          <a:lstStyle/>
          <a:p>
            <a:pPr algn="l"/>
            <a:r>
              <a:rPr sz="1100" b="0" i="0">
                <a:solidFill>
                  <a:srgbClr val="FFFFFF"/>
                </a:solidFill>
              </a:rPr>
              <a:t>=&gt; ne bloque pas l'API</a:t>
            </a:r>
          </a:p>
        </p:txBody>
      </p:sp>
      <p:sp>
        <p:nvSpPr>
          <p:cNvPr id="53" name="TextBox 52"/>
          <p:cNvSpPr txBox="1"/>
          <p:nvPr/>
        </p:nvSpPr>
        <p:spPr>
          <a:xfrm>
            <a:off x="9098280" y="4892039"/>
            <a:ext cx="2606040" cy="292608"/>
          </a:xfrm>
          <a:prstGeom prst="rect">
            <a:avLst/>
          </a:prstGeom>
          <a:noFill/>
        </p:spPr>
        <p:txBody>
          <a:bodyPr wrap="square">
            <a:spAutoFit/>
          </a:bodyPr>
          <a:lstStyle/>
          <a:p>
            <a:pPr algn="l"/>
            <a:endParaRPr/>
          </a:p>
        </p:txBody>
      </p:sp>
      <p:sp>
        <p:nvSpPr>
          <p:cNvPr id="54" name="TextBox 53"/>
          <p:cNvSpPr txBox="1"/>
          <p:nvPr/>
        </p:nvSpPr>
        <p:spPr>
          <a:xfrm>
            <a:off x="7845552" y="5166359"/>
            <a:ext cx="1188720" cy="292608"/>
          </a:xfrm>
          <a:prstGeom prst="rect">
            <a:avLst/>
          </a:prstGeom>
          <a:noFill/>
        </p:spPr>
        <p:txBody>
          <a:bodyPr wrap="square">
            <a:spAutoFit/>
          </a:bodyPr>
          <a:lstStyle/>
          <a:p>
            <a:pPr algn="l"/>
            <a:r>
              <a:rPr sz="1100" b="1" i="0">
                <a:solidFill>
                  <a:srgbClr val="C9A84C"/>
                </a:solidFill>
              </a:rPr>
              <a:t>Preuve :</a:t>
            </a:r>
          </a:p>
        </p:txBody>
      </p:sp>
      <p:sp>
        <p:nvSpPr>
          <p:cNvPr id="55" name="TextBox 54"/>
          <p:cNvSpPr txBox="1"/>
          <p:nvPr/>
        </p:nvSpPr>
        <p:spPr>
          <a:xfrm>
            <a:off x="9098280" y="5166359"/>
            <a:ext cx="2606040" cy="292608"/>
          </a:xfrm>
          <a:prstGeom prst="rect">
            <a:avLst/>
          </a:prstGeom>
          <a:noFill/>
        </p:spPr>
        <p:txBody>
          <a:bodyPr wrap="square">
            <a:spAutoFit/>
          </a:bodyPr>
          <a:lstStyle/>
          <a:p>
            <a:pPr algn="l"/>
            <a:r>
              <a:rPr sz="1100" b="0" i="0">
                <a:solidFill>
                  <a:srgbClr val="FFFFFF"/>
                </a:solidFill>
              </a:rPr>
              <a:t>PolygonScan public</a:t>
            </a:r>
          </a:p>
        </p:txBody>
      </p:sp>
      <p:sp>
        <p:nvSpPr>
          <p:cNvPr id="56" name="TextBox 55"/>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11</a:t>
            </a:r>
            <a:r>
              <a:rPr sz="900" b="0" i="0" dirty="0">
                <a:solidFill>
                  <a:srgbClr val="C9A84C"/>
                </a:solidFill>
              </a:rPr>
              <a:t>/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6</a:t>
            </a:r>
            <a:r>
              <a:rPr sz="900" b="1" i="0" dirty="0">
                <a:solidFill>
                  <a:srgbClr val="1A1A2E"/>
                </a:solidFill>
              </a:rPr>
              <a:t> </a:t>
            </a:r>
            <a:r>
              <a:rPr lang="fr-FR" sz="900" b="1" i="0" dirty="0">
                <a:solidFill>
                  <a:srgbClr val="1A1A2E"/>
                </a:solidFill>
              </a:rPr>
              <a:t>-</a:t>
            </a:r>
            <a:r>
              <a:rPr sz="900" b="1" i="0" dirty="0">
                <a:solidFill>
                  <a:srgbClr val="1A1A2E"/>
                </a:solidFill>
              </a:rPr>
              <a:t> VERIFICATION</a:t>
            </a:r>
          </a:p>
        </p:txBody>
      </p:sp>
      <p:sp>
        <p:nvSpPr>
          <p:cNvPr id="6" name="TextBox 5"/>
          <p:cNvSpPr txBox="1"/>
          <p:nvPr/>
        </p:nvSpPr>
        <p:spPr>
          <a:xfrm>
            <a:off x="374904" y="564846"/>
            <a:ext cx="10058400" cy="523220"/>
          </a:xfrm>
          <a:prstGeom prst="rect">
            <a:avLst/>
          </a:prstGeom>
          <a:noFill/>
        </p:spPr>
        <p:txBody>
          <a:bodyPr wrap="square">
            <a:spAutoFit/>
          </a:bodyPr>
          <a:lstStyle/>
          <a:p>
            <a:pPr algn="l"/>
            <a:r>
              <a:rPr sz="2800" b="1" i="0" dirty="0">
                <a:solidFill>
                  <a:srgbClr val="FFFFFF"/>
                </a:solidFill>
              </a:rPr>
              <a:t>Verification </a:t>
            </a:r>
            <a:r>
              <a:rPr sz="2800" b="1" i="0" dirty="0" err="1">
                <a:solidFill>
                  <a:srgbClr val="FFFFFF"/>
                </a:solidFill>
              </a:rPr>
              <a:t>publique</a:t>
            </a:r>
            <a:r>
              <a:rPr sz="2800" b="1" i="0" dirty="0">
                <a:solidFill>
                  <a:srgbClr val="FFFFFF"/>
                </a:solidFill>
              </a:rPr>
              <a:t> </a:t>
            </a:r>
            <a:r>
              <a:rPr lang="fr-FR" sz="2800" b="1" i="0" dirty="0">
                <a:solidFill>
                  <a:srgbClr val="FFFFFF"/>
                </a:solidFill>
              </a:rPr>
              <a:t>-</a:t>
            </a:r>
            <a:r>
              <a:rPr sz="2800" b="1" i="0" dirty="0">
                <a:solidFill>
                  <a:srgbClr val="FFFFFF"/>
                </a:solidFill>
              </a:rPr>
              <a:t> 3 </a:t>
            </a:r>
            <a:r>
              <a:rPr sz="2800" b="1" i="0" dirty="0" err="1">
                <a:solidFill>
                  <a:srgbClr val="FFFFFF"/>
                </a:solidFill>
              </a:rPr>
              <a:t>methodes</a:t>
            </a:r>
            <a:endParaRPr sz="2800" b="1" i="0" dirty="0">
              <a:solidFill>
                <a:srgbClr val="FFFFFF"/>
              </a:solidFill>
            </a:endParaRPr>
          </a:p>
        </p:txBody>
      </p:sp>
      <p:sp>
        <p:nvSpPr>
          <p:cNvPr id="7" name="Rectangle 6"/>
          <p:cNvSpPr/>
          <p:nvPr/>
        </p:nvSpPr>
        <p:spPr>
          <a:xfrm>
            <a:off x="347472" y="1389888"/>
            <a:ext cx="3749039"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389888"/>
            <a:ext cx="3749039"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smartphone.png"/>
          <p:cNvPicPr>
            <a:picLocks noChangeAspect="1"/>
          </p:cNvPicPr>
          <p:nvPr/>
        </p:nvPicPr>
        <p:blipFill>
          <a:blip r:embed="rId3"/>
          <a:stretch>
            <a:fillRect/>
          </a:stretch>
        </p:blipFill>
        <p:spPr>
          <a:xfrm>
            <a:off x="530352" y="1481328"/>
            <a:ext cx="640080" cy="640080"/>
          </a:xfrm>
          <a:prstGeom prst="rect">
            <a:avLst/>
          </a:prstGeom>
        </p:spPr>
      </p:pic>
      <p:sp>
        <p:nvSpPr>
          <p:cNvPr id="10" name="TextBox 9"/>
          <p:cNvSpPr txBox="1"/>
          <p:nvPr/>
        </p:nvSpPr>
        <p:spPr>
          <a:xfrm>
            <a:off x="1353312" y="1508760"/>
            <a:ext cx="2606040" cy="777240"/>
          </a:xfrm>
          <a:prstGeom prst="rect">
            <a:avLst/>
          </a:prstGeom>
          <a:noFill/>
        </p:spPr>
        <p:txBody>
          <a:bodyPr wrap="square">
            <a:spAutoFit/>
          </a:bodyPr>
          <a:lstStyle/>
          <a:p>
            <a:pPr algn="l"/>
            <a:r>
              <a:rPr sz="1400" b="1" i="0">
                <a:solidFill>
                  <a:srgbClr val="C9A84C"/>
                </a:solidFill>
              </a:rPr>
              <a:t>QR Code / Lien unique</a:t>
            </a:r>
          </a:p>
        </p:txBody>
      </p:sp>
      <p:sp>
        <p:nvSpPr>
          <p:cNvPr id="11" name="Rectangle 10"/>
          <p:cNvSpPr/>
          <p:nvPr/>
        </p:nvSpPr>
        <p:spPr>
          <a:xfrm>
            <a:off x="484632" y="2350008"/>
            <a:ext cx="3474720" cy="36576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2395728"/>
            <a:ext cx="3383280" cy="274320"/>
          </a:xfrm>
          <a:prstGeom prst="rect">
            <a:avLst/>
          </a:prstGeom>
          <a:noFill/>
        </p:spPr>
        <p:txBody>
          <a:bodyPr wrap="square">
            <a:spAutoFit/>
          </a:bodyPr>
          <a:lstStyle/>
          <a:p>
            <a:pPr algn="l"/>
            <a:r>
              <a:rPr sz="1100" b="1" i="0">
                <a:solidFill>
                  <a:srgbClr val="1A1A2E"/>
                </a:solidFill>
              </a:rPr>
              <a:t>GET /verify/{INUB-YYYY-XXXX}</a:t>
            </a:r>
          </a:p>
        </p:txBody>
      </p:sp>
      <p:sp>
        <p:nvSpPr>
          <p:cNvPr id="13" name="TextBox 12"/>
          <p:cNvSpPr txBox="1"/>
          <p:nvPr/>
        </p:nvSpPr>
        <p:spPr>
          <a:xfrm>
            <a:off x="530352" y="2816352"/>
            <a:ext cx="3383280" cy="2286000"/>
          </a:xfrm>
          <a:prstGeom prst="rect">
            <a:avLst/>
          </a:prstGeom>
          <a:noFill/>
        </p:spPr>
        <p:txBody>
          <a:bodyPr wrap="square">
            <a:spAutoFit/>
          </a:bodyPr>
          <a:lstStyle/>
          <a:p>
            <a:pPr algn="l"/>
            <a:r>
              <a:rPr sz="1300" b="0" i="0">
                <a:solidFill>
                  <a:srgbClr val="444455"/>
                </a:solidFill>
              </a:rPr>
              <a:t>Scan du QR code imprime
sur le diplome physique.
Resultat instantane.
30 req/min par IP.</a:t>
            </a:r>
          </a:p>
        </p:txBody>
      </p:sp>
      <p:sp>
        <p:nvSpPr>
          <p:cNvPr id="14" name="Rectangle 13"/>
          <p:cNvSpPr/>
          <p:nvPr/>
        </p:nvSpPr>
        <p:spPr>
          <a:xfrm>
            <a:off x="4325112" y="1389888"/>
            <a:ext cx="3749039"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25112" y="1389888"/>
            <a:ext cx="3749039"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ock.png"/>
          <p:cNvPicPr>
            <a:picLocks noChangeAspect="1"/>
          </p:cNvPicPr>
          <p:nvPr/>
        </p:nvPicPr>
        <p:blipFill>
          <a:blip r:embed="rId4"/>
          <a:stretch>
            <a:fillRect/>
          </a:stretch>
        </p:blipFill>
        <p:spPr>
          <a:xfrm>
            <a:off x="4507992" y="1481328"/>
            <a:ext cx="640080" cy="640080"/>
          </a:xfrm>
          <a:prstGeom prst="rect">
            <a:avLst/>
          </a:prstGeom>
        </p:spPr>
      </p:pic>
      <p:sp>
        <p:nvSpPr>
          <p:cNvPr id="17" name="TextBox 16"/>
          <p:cNvSpPr txBox="1"/>
          <p:nvPr/>
        </p:nvSpPr>
        <p:spPr>
          <a:xfrm>
            <a:off x="5330952" y="1508760"/>
            <a:ext cx="2606040" cy="777240"/>
          </a:xfrm>
          <a:prstGeom prst="rect">
            <a:avLst/>
          </a:prstGeom>
          <a:noFill/>
        </p:spPr>
        <p:txBody>
          <a:bodyPr wrap="square">
            <a:spAutoFit/>
          </a:bodyPr>
          <a:lstStyle/>
          <a:p>
            <a:pPr algn="l"/>
            <a:r>
              <a:rPr sz="1400" b="1" i="0">
                <a:solidFill>
                  <a:srgbClr val="C9A84C"/>
                </a:solidFill>
              </a:rPr>
              <a:t>Hash SHA-256</a:t>
            </a:r>
          </a:p>
        </p:txBody>
      </p:sp>
      <p:sp>
        <p:nvSpPr>
          <p:cNvPr id="18" name="Rectangle 17"/>
          <p:cNvSpPr/>
          <p:nvPr/>
        </p:nvSpPr>
        <p:spPr>
          <a:xfrm>
            <a:off x="4462272" y="2350008"/>
            <a:ext cx="3474720" cy="36576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2395728"/>
            <a:ext cx="3383280" cy="274320"/>
          </a:xfrm>
          <a:prstGeom prst="rect">
            <a:avLst/>
          </a:prstGeom>
          <a:noFill/>
        </p:spPr>
        <p:txBody>
          <a:bodyPr wrap="square">
            <a:spAutoFit/>
          </a:bodyPr>
          <a:lstStyle/>
          <a:p>
            <a:pPr algn="l"/>
            <a:r>
              <a:rPr sz="1100" b="1" i="0">
                <a:solidFill>
                  <a:srgbClr val="1A1A2E"/>
                </a:solidFill>
              </a:rPr>
              <a:t>POST /verify/hash</a:t>
            </a:r>
          </a:p>
        </p:txBody>
      </p:sp>
      <p:sp>
        <p:nvSpPr>
          <p:cNvPr id="20" name="TextBox 19"/>
          <p:cNvSpPr txBox="1"/>
          <p:nvPr/>
        </p:nvSpPr>
        <p:spPr>
          <a:xfrm>
            <a:off x="4507992" y="2816352"/>
            <a:ext cx="3383280" cy="2286000"/>
          </a:xfrm>
          <a:prstGeom prst="rect">
            <a:avLst/>
          </a:prstGeom>
          <a:noFill/>
        </p:spPr>
        <p:txBody>
          <a:bodyPr wrap="square">
            <a:spAutoFit/>
          </a:bodyPr>
          <a:lstStyle/>
          <a:p>
            <a:pPr algn="l"/>
            <a:r>
              <a:rPr sz="1300" b="0" i="0">
                <a:solidFill>
                  <a:srgbClr val="444455"/>
                </a:solidFill>
              </a:rPr>
              <a:t>Soumettre directement
le hash du fichier.
Pour les integrateurs
techniques. 10 req/min.</a:t>
            </a:r>
          </a:p>
        </p:txBody>
      </p:sp>
      <p:sp>
        <p:nvSpPr>
          <p:cNvPr id="21" name="Rectangle 20"/>
          <p:cNvSpPr/>
          <p:nvPr/>
        </p:nvSpPr>
        <p:spPr>
          <a:xfrm>
            <a:off x="8302752" y="1389888"/>
            <a:ext cx="3749039"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302752" y="1389888"/>
            <a:ext cx="3749039"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file-text.png"/>
          <p:cNvPicPr>
            <a:picLocks noChangeAspect="1"/>
          </p:cNvPicPr>
          <p:nvPr/>
        </p:nvPicPr>
        <p:blipFill>
          <a:blip r:embed="rId5"/>
          <a:stretch>
            <a:fillRect/>
          </a:stretch>
        </p:blipFill>
        <p:spPr>
          <a:xfrm>
            <a:off x="8485632" y="1481328"/>
            <a:ext cx="640080" cy="640080"/>
          </a:xfrm>
          <a:prstGeom prst="rect">
            <a:avLst/>
          </a:prstGeom>
        </p:spPr>
      </p:pic>
      <p:sp>
        <p:nvSpPr>
          <p:cNvPr id="24" name="TextBox 23"/>
          <p:cNvSpPr txBox="1"/>
          <p:nvPr/>
        </p:nvSpPr>
        <p:spPr>
          <a:xfrm>
            <a:off x="9308592" y="1508760"/>
            <a:ext cx="2606040" cy="777240"/>
          </a:xfrm>
          <a:prstGeom prst="rect">
            <a:avLst/>
          </a:prstGeom>
          <a:noFill/>
        </p:spPr>
        <p:txBody>
          <a:bodyPr wrap="square">
            <a:spAutoFit/>
          </a:bodyPr>
          <a:lstStyle/>
          <a:p>
            <a:pPr algn="l"/>
            <a:r>
              <a:rPr sz="1400" b="1" i="0">
                <a:solidFill>
                  <a:srgbClr val="C9A84C"/>
                </a:solidFill>
              </a:rPr>
              <a:t>Upload PDF</a:t>
            </a:r>
          </a:p>
        </p:txBody>
      </p:sp>
      <p:sp>
        <p:nvSpPr>
          <p:cNvPr id="25" name="Rectangle 24"/>
          <p:cNvSpPr/>
          <p:nvPr/>
        </p:nvSpPr>
        <p:spPr>
          <a:xfrm>
            <a:off x="8439912" y="2350008"/>
            <a:ext cx="3474720" cy="36576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85632" y="2395728"/>
            <a:ext cx="3383280" cy="274320"/>
          </a:xfrm>
          <a:prstGeom prst="rect">
            <a:avLst/>
          </a:prstGeom>
          <a:noFill/>
        </p:spPr>
        <p:txBody>
          <a:bodyPr wrap="square">
            <a:spAutoFit/>
          </a:bodyPr>
          <a:lstStyle/>
          <a:p>
            <a:pPr algn="l"/>
            <a:r>
              <a:rPr sz="1100" b="1" i="0">
                <a:solidFill>
                  <a:srgbClr val="1A1A2E"/>
                </a:solidFill>
              </a:rPr>
              <a:t>POST /verify/upload</a:t>
            </a:r>
          </a:p>
        </p:txBody>
      </p:sp>
      <p:sp>
        <p:nvSpPr>
          <p:cNvPr id="27" name="TextBox 26"/>
          <p:cNvSpPr txBox="1"/>
          <p:nvPr/>
        </p:nvSpPr>
        <p:spPr>
          <a:xfrm>
            <a:off x="8485632" y="2816352"/>
            <a:ext cx="3383280" cy="2286000"/>
          </a:xfrm>
          <a:prstGeom prst="rect">
            <a:avLst/>
          </a:prstGeom>
          <a:noFill/>
        </p:spPr>
        <p:txBody>
          <a:bodyPr wrap="square">
            <a:spAutoFit/>
          </a:bodyPr>
          <a:lstStyle/>
          <a:p>
            <a:pPr algn="l"/>
            <a:r>
              <a:rPr sz="1300" b="0" i="0">
                <a:solidFill>
                  <a:srgbClr val="444455"/>
                </a:solidFill>
              </a:rPr>
              <a:t>Uploader le fichier PDF.
Le serveur calcule le hash
et compare. Preuve
cryptographique. 5 req/min.</a:t>
            </a:r>
          </a:p>
        </p:txBody>
      </p:sp>
      <p:sp>
        <p:nvSpPr>
          <p:cNvPr id="28" name="Rectangle 27"/>
          <p:cNvSpPr/>
          <p:nvPr/>
        </p:nvSpPr>
        <p:spPr>
          <a:xfrm>
            <a:off x="347472" y="5486400"/>
            <a:ext cx="11475720"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0352" y="5559552"/>
            <a:ext cx="2286000" cy="347472"/>
          </a:xfrm>
          <a:prstGeom prst="rect">
            <a:avLst/>
          </a:prstGeom>
          <a:noFill/>
        </p:spPr>
        <p:txBody>
          <a:bodyPr wrap="square">
            <a:spAutoFit/>
          </a:bodyPr>
          <a:lstStyle/>
          <a:p>
            <a:pPr algn="l"/>
            <a:r>
              <a:rPr sz="1200" b="1" i="0">
                <a:solidFill>
                  <a:srgbClr val="C9A84C"/>
                </a:solidFill>
              </a:rPr>
              <a:t>Resultats possibles :</a:t>
            </a:r>
          </a:p>
        </p:txBody>
      </p:sp>
      <p:pic>
        <p:nvPicPr>
          <p:cNvPr id="30" name="Picture 29" descr="check-circle.png"/>
          <p:cNvPicPr>
            <a:picLocks noChangeAspect="1"/>
          </p:cNvPicPr>
          <p:nvPr/>
        </p:nvPicPr>
        <p:blipFill>
          <a:blip r:embed="rId6"/>
          <a:stretch>
            <a:fillRect/>
          </a:stretch>
        </p:blipFill>
        <p:spPr>
          <a:xfrm>
            <a:off x="2926080" y="5577840"/>
            <a:ext cx="365760" cy="365760"/>
          </a:xfrm>
          <a:prstGeom prst="rect">
            <a:avLst/>
          </a:prstGeom>
        </p:spPr>
      </p:pic>
      <p:sp>
        <p:nvSpPr>
          <p:cNvPr id="31" name="TextBox 30"/>
          <p:cNvSpPr txBox="1"/>
          <p:nvPr/>
        </p:nvSpPr>
        <p:spPr>
          <a:xfrm>
            <a:off x="3364992" y="5623560"/>
            <a:ext cx="1691640" cy="347472"/>
          </a:xfrm>
          <a:prstGeom prst="rect">
            <a:avLst/>
          </a:prstGeom>
          <a:noFill/>
        </p:spPr>
        <p:txBody>
          <a:bodyPr wrap="square">
            <a:spAutoFit/>
          </a:bodyPr>
          <a:lstStyle/>
          <a:p>
            <a:pPr algn="l"/>
            <a:r>
              <a:rPr sz="1300" b="1" i="0">
                <a:solidFill>
                  <a:srgbClr val="2D7A3A"/>
                </a:solidFill>
              </a:rPr>
              <a:t>AUTHENTIQUE</a:t>
            </a:r>
          </a:p>
        </p:txBody>
      </p:sp>
      <p:pic>
        <p:nvPicPr>
          <p:cNvPr id="32" name="Picture 31" descr="x-circle.png"/>
          <p:cNvPicPr>
            <a:picLocks noChangeAspect="1"/>
          </p:cNvPicPr>
          <p:nvPr/>
        </p:nvPicPr>
        <p:blipFill>
          <a:blip r:embed="rId7"/>
          <a:stretch>
            <a:fillRect/>
          </a:stretch>
        </p:blipFill>
        <p:spPr>
          <a:xfrm>
            <a:off x="5074920" y="5577840"/>
            <a:ext cx="365760" cy="365760"/>
          </a:xfrm>
          <a:prstGeom prst="rect">
            <a:avLst/>
          </a:prstGeom>
        </p:spPr>
      </p:pic>
      <p:sp>
        <p:nvSpPr>
          <p:cNvPr id="33" name="TextBox 32"/>
          <p:cNvSpPr txBox="1"/>
          <p:nvPr/>
        </p:nvSpPr>
        <p:spPr>
          <a:xfrm>
            <a:off x="5513832" y="5623560"/>
            <a:ext cx="1691640" cy="347472"/>
          </a:xfrm>
          <a:prstGeom prst="rect">
            <a:avLst/>
          </a:prstGeom>
          <a:noFill/>
        </p:spPr>
        <p:txBody>
          <a:bodyPr wrap="square">
            <a:spAutoFit/>
          </a:bodyPr>
          <a:lstStyle/>
          <a:p>
            <a:pPr algn="l"/>
            <a:r>
              <a:rPr sz="1300" b="1" i="0">
                <a:solidFill>
                  <a:srgbClr val="B91C1C"/>
                </a:solidFill>
              </a:rPr>
              <a:t>REVOQUE</a:t>
            </a:r>
          </a:p>
        </p:txBody>
      </p:sp>
      <p:pic>
        <p:nvPicPr>
          <p:cNvPr id="34" name="Picture 33" descr="alert.png"/>
          <p:cNvPicPr>
            <a:picLocks noChangeAspect="1"/>
          </p:cNvPicPr>
          <p:nvPr/>
        </p:nvPicPr>
        <p:blipFill>
          <a:blip r:embed="rId8"/>
          <a:stretch>
            <a:fillRect/>
          </a:stretch>
        </p:blipFill>
        <p:spPr>
          <a:xfrm>
            <a:off x="7223760" y="5577840"/>
            <a:ext cx="365760" cy="365760"/>
          </a:xfrm>
          <a:prstGeom prst="rect">
            <a:avLst/>
          </a:prstGeom>
        </p:spPr>
      </p:pic>
      <p:sp>
        <p:nvSpPr>
          <p:cNvPr id="35" name="TextBox 34"/>
          <p:cNvSpPr txBox="1"/>
          <p:nvPr/>
        </p:nvSpPr>
        <p:spPr>
          <a:xfrm>
            <a:off x="7662672" y="5623560"/>
            <a:ext cx="1691640" cy="347472"/>
          </a:xfrm>
          <a:prstGeom prst="rect">
            <a:avLst/>
          </a:prstGeom>
          <a:noFill/>
        </p:spPr>
        <p:txBody>
          <a:bodyPr wrap="square">
            <a:spAutoFit/>
          </a:bodyPr>
          <a:lstStyle/>
          <a:p>
            <a:pPr algn="l"/>
            <a:r>
              <a:rPr sz="1300" b="1" i="0">
                <a:solidFill>
                  <a:srgbClr val="C2710C"/>
                </a:solidFill>
              </a:rPr>
              <a:t>NON TROUVE</a:t>
            </a:r>
          </a:p>
        </p:txBody>
      </p:sp>
      <p:pic>
        <p:nvPicPr>
          <p:cNvPr id="36" name="Picture 35" descr="shield.png"/>
          <p:cNvPicPr>
            <a:picLocks noChangeAspect="1"/>
          </p:cNvPicPr>
          <p:nvPr/>
        </p:nvPicPr>
        <p:blipFill>
          <a:blip r:embed="rId9"/>
          <a:stretch>
            <a:fillRect/>
          </a:stretch>
        </p:blipFill>
        <p:spPr>
          <a:xfrm>
            <a:off x="9372600" y="5577840"/>
            <a:ext cx="365760" cy="365760"/>
          </a:xfrm>
          <a:prstGeom prst="rect">
            <a:avLst/>
          </a:prstGeom>
        </p:spPr>
      </p:pic>
      <p:sp>
        <p:nvSpPr>
          <p:cNvPr id="37" name="TextBox 36"/>
          <p:cNvSpPr txBox="1"/>
          <p:nvPr/>
        </p:nvSpPr>
        <p:spPr>
          <a:xfrm>
            <a:off x="9811512" y="5623560"/>
            <a:ext cx="1691640" cy="347472"/>
          </a:xfrm>
          <a:prstGeom prst="rect">
            <a:avLst/>
          </a:prstGeom>
          <a:noFill/>
        </p:spPr>
        <p:txBody>
          <a:bodyPr wrap="square">
            <a:spAutoFit/>
          </a:bodyPr>
          <a:lstStyle/>
          <a:p>
            <a:pPr algn="l"/>
            <a:r>
              <a:rPr sz="1300" b="1" i="0">
                <a:solidFill>
                  <a:srgbClr val="B91C1C"/>
                </a:solidFill>
              </a:rPr>
              <a:t>FALSIFIE</a:t>
            </a:r>
          </a:p>
        </p:txBody>
      </p:sp>
      <p:sp>
        <p:nvSpPr>
          <p:cNvPr id="38" name="TextBox 37"/>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2 </a:t>
            </a:r>
            <a:r>
              <a:rPr sz="900" b="0" i="0" dirty="0">
                <a:solidFill>
                  <a:srgbClr val="C9A84C"/>
                </a:solidFill>
              </a:rPr>
              <a:t>/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6</a:t>
            </a:r>
            <a:r>
              <a:rPr sz="900" b="1" i="0" dirty="0">
                <a:solidFill>
                  <a:srgbClr val="1A1A2E"/>
                </a:solidFill>
              </a:rPr>
              <a:t> </a:t>
            </a:r>
            <a:r>
              <a:rPr lang="fr-FR" sz="900" b="1" i="0" dirty="0">
                <a:solidFill>
                  <a:srgbClr val="1A1A2E"/>
                </a:solidFill>
              </a:rPr>
              <a:t>-</a:t>
            </a:r>
            <a:r>
              <a:rPr sz="900" b="1" i="0" dirty="0">
                <a:solidFill>
                  <a:srgbClr val="1A1A2E"/>
                </a:solidFill>
              </a:rPr>
              <a:t> API</a:t>
            </a:r>
          </a:p>
        </p:txBody>
      </p:sp>
      <p:sp>
        <p:nvSpPr>
          <p:cNvPr id="5" name="TextBox 4"/>
          <p:cNvSpPr txBox="1"/>
          <p:nvPr/>
        </p:nvSpPr>
        <p:spPr>
          <a:xfrm>
            <a:off x="457200" y="640080"/>
            <a:ext cx="10058400" cy="685800"/>
          </a:xfrm>
          <a:prstGeom prst="rect">
            <a:avLst/>
          </a:prstGeom>
          <a:noFill/>
        </p:spPr>
        <p:txBody>
          <a:bodyPr wrap="square">
            <a:spAutoFit/>
          </a:bodyPr>
          <a:lstStyle/>
          <a:p>
            <a:pPr algn="l"/>
            <a:r>
              <a:rPr sz="2800" b="1" i="0">
                <a:solidFill>
                  <a:srgbClr val="FFFFFF"/>
                </a:solidFill>
              </a:rPr>
              <a:t>Une API REST complete et documentee</a:t>
            </a:r>
          </a:p>
        </p:txBody>
      </p:sp>
      <p:sp>
        <p:nvSpPr>
          <p:cNvPr id="6" name="Rectangle 5"/>
          <p:cNvSpPr/>
          <p:nvPr/>
        </p:nvSpPr>
        <p:spPr>
          <a:xfrm>
            <a:off x="34747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554480"/>
            <a:ext cx="2606040" cy="685800"/>
          </a:xfrm>
          <a:prstGeom prst="rect">
            <a:avLst/>
          </a:prstGeom>
          <a:noFill/>
        </p:spPr>
        <p:txBody>
          <a:bodyPr wrap="square">
            <a:spAutoFit/>
          </a:bodyPr>
          <a:lstStyle/>
          <a:p>
            <a:pPr algn="ctr"/>
            <a:r>
              <a:rPr sz="3800" b="1" i="0">
                <a:solidFill>
                  <a:srgbClr val="C9A84C"/>
                </a:solidFill>
              </a:rPr>
              <a:t>12</a:t>
            </a:r>
          </a:p>
        </p:txBody>
      </p:sp>
      <p:sp>
        <p:nvSpPr>
          <p:cNvPr id="9" name="TextBox 8"/>
          <p:cNvSpPr txBox="1"/>
          <p:nvPr/>
        </p:nvSpPr>
        <p:spPr>
          <a:xfrm>
            <a:off x="347472" y="2176272"/>
            <a:ext cx="2606040" cy="320040"/>
          </a:xfrm>
          <a:prstGeom prst="rect">
            <a:avLst/>
          </a:prstGeom>
          <a:noFill/>
        </p:spPr>
        <p:txBody>
          <a:bodyPr wrap="square">
            <a:spAutoFit/>
          </a:bodyPr>
          <a:lstStyle/>
          <a:p>
            <a:pPr algn="ctr"/>
            <a:endParaRPr/>
          </a:p>
        </p:txBody>
      </p:sp>
      <p:sp>
        <p:nvSpPr>
          <p:cNvPr id="10" name="TextBox 9"/>
          <p:cNvSpPr txBox="1"/>
          <p:nvPr/>
        </p:nvSpPr>
        <p:spPr>
          <a:xfrm>
            <a:off x="347472" y="2267712"/>
            <a:ext cx="2606040" cy="292608"/>
          </a:xfrm>
          <a:prstGeom prst="rect">
            <a:avLst/>
          </a:prstGeom>
          <a:noFill/>
        </p:spPr>
        <p:txBody>
          <a:bodyPr wrap="square">
            <a:spAutoFit/>
          </a:bodyPr>
          <a:lstStyle/>
          <a:p>
            <a:pPr algn="ctr"/>
            <a:r>
              <a:rPr sz="1100" b="0" i="0" dirty="0">
                <a:solidFill>
                  <a:srgbClr val="F4F4F8"/>
                </a:solidFill>
              </a:rPr>
              <a:t>modules
</a:t>
            </a:r>
            <a:r>
              <a:rPr sz="1100" b="0" i="0" dirty="0" err="1">
                <a:solidFill>
                  <a:srgbClr val="F4F4F8"/>
                </a:solidFill>
              </a:rPr>
              <a:t>fonctionnels</a:t>
            </a:r>
            <a:endParaRPr sz="1100" b="0" i="0" dirty="0">
              <a:solidFill>
                <a:srgbClr val="F4F4F8"/>
              </a:solidFill>
            </a:endParaRPr>
          </a:p>
        </p:txBody>
      </p:sp>
      <p:sp>
        <p:nvSpPr>
          <p:cNvPr id="11" name="Rectangle 10"/>
          <p:cNvSpPr/>
          <p:nvPr/>
        </p:nvSpPr>
        <p:spPr>
          <a:xfrm>
            <a:off x="322783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2783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27832" y="1554480"/>
            <a:ext cx="2606040" cy="685800"/>
          </a:xfrm>
          <a:prstGeom prst="rect">
            <a:avLst/>
          </a:prstGeom>
          <a:noFill/>
        </p:spPr>
        <p:txBody>
          <a:bodyPr wrap="square">
            <a:spAutoFit/>
          </a:bodyPr>
          <a:lstStyle/>
          <a:p>
            <a:pPr algn="ctr"/>
            <a:r>
              <a:rPr sz="3800" b="1" i="0">
                <a:solidFill>
                  <a:srgbClr val="C9A84C"/>
                </a:solidFill>
              </a:rPr>
              <a:t>50+</a:t>
            </a:r>
          </a:p>
        </p:txBody>
      </p:sp>
      <p:sp>
        <p:nvSpPr>
          <p:cNvPr id="14" name="TextBox 13"/>
          <p:cNvSpPr txBox="1"/>
          <p:nvPr/>
        </p:nvSpPr>
        <p:spPr>
          <a:xfrm>
            <a:off x="3227832" y="2176272"/>
            <a:ext cx="2606040" cy="320040"/>
          </a:xfrm>
          <a:prstGeom prst="rect">
            <a:avLst/>
          </a:prstGeom>
          <a:noFill/>
        </p:spPr>
        <p:txBody>
          <a:bodyPr wrap="square">
            <a:spAutoFit/>
          </a:bodyPr>
          <a:lstStyle/>
          <a:p>
            <a:pPr algn="ctr"/>
            <a:r>
              <a:rPr sz="1300" b="0" i="0">
                <a:solidFill>
                  <a:srgbClr val="FFFFFF"/>
                </a:solidFill>
              </a:rPr>
              <a:t>routes</a:t>
            </a:r>
          </a:p>
        </p:txBody>
      </p:sp>
      <p:sp>
        <p:nvSpPr>
          <p:cNvPr id="15" name="TextBox 14"/>
          <p:cNvSpPr txBox="1"/>
          <p:nvPr/>
        </p:nvSpPr>
        <p:spPr>
          <a:xfrm>
            <a:off x="3227832" y="2468880"/>
            <a:ext cx="2606040" cy="292608"/>
          </a:xfrm>
          <a:prstGeom prst="rect">
            <a:avLst/>
          </a:prstGeom>
          <a:noFill/>
        </p:spPr>
        <p:txBody>
          <a:bodyPr wrap="square">
            <a:spAutoFit/>
          </a:bodyPr>
          <a:lstStyle/>
          <a:p>
            <a:pPr algn="ctr"/>
            <a:r>
              <a:rPr sz="1100" b="0" i="0" dirty="0">
                <a:solidFill>
                  <a:srgbClr val="F4F4F8"/>
                </a:solidFill>
              </a:rPr>
              <a:t>endpoints
</a:t>
            </a:r>
            <a:r>
              <a:rPr sz="1100" b="0" i="0" dirty="0" err="1">
                <a:solidFill>
                  <a:srgbClr val="F4F4F8"/>
                </a:solidFill>
              </a:rPr>
              <a:t>documentes</a:t>
            </a:r>
            <a:endParaRPr sz="1100" b="0" i="0" dirty="0">
              <a:solidFill>
                <a:srgbClr val="F4F4F8"/>
              </a:solidFill>
            </a:endParaRPr>
          </a:p>
        </p:txBody>
      </p:sp>
      <p:sp>
        <p:nvSpPr>
          <p:cNvPr id="16" name="Rectangle 15"/>
          <p:cNvSpPr/>
          <p:nvPr/>
        </p:nvSpPr>
        <p:spPr>
          <a:xfrm>
            <a:off x="610819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0819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08192" y="1554480"/>
            <a:ext cx="2606040" cy="685800"/>
          </a:xfrm>
          <a:prstGeom prst="rect">
            <a:avLst/>
          </a:prstGeom>
          <a:noFill/>
        </p:spPr>
        <p:txBody>
          <a:bodyPr wrap="square">
            <a:spAutoFit/>
          </a:bodyPr>
          <a:lstStyle/>
          <a:p>
            <a:pPr algn="ctr"/>
            <a:r>
              <a:rPr sz="3800" b="1" i="0">
                <a:solidFill>
                  <a:srgbClr val="C9A84C"/>
                </a:solidFill>
              </a:rPr>
              <a:t>25</a:t>
            </a:r>
          </a:p>
        </p:txBody>
      </p:sp>
      <p:sp>
        <p:nvSpPr>
          <p:cNvPr id="19" name="TextBox 18"/>
          <p:cNvSpPr txBox="1"/>
          <p:nvPr/>
        </p:nvSpPr>
        <p:spPr>
          <a:xfrm>
            <a:off x="6108192" y="2176272"/>
            <a:ext cx="2606040" cy="320040"/>
          </a:xfrm>
          <a:prstGeom prst="rect">
            <a:avLst/>
          </a:prstGeom>
          <a:noFill/>
        </p:spPr>
        <p:txBody>
          <a:bodyPr wrap="square">
            <a:spAutoFit/>
          </a:bodyPr>
          <a:lstStyle/>
          <a:p>
            <a:pPr algn="ctr"/>
            <a:r>
              <a:rPr sz="1300" b="0" i="0">
                <a:solidFill>
                  <a:srgbClr val="FFFFFF"/>
                </a:solidFill>
              </a:rPr>
              <a:t>permiss.</a:t>
            </a:r>
          </a:p>
        </p:txBody>
      </p:sp>
      <p:sp>
        <p:nvSpPr>
          <p:cNvPr id="20" name="TextBox 19"/>
          <p:cNvSpPr txBox="1"/>
          <p:nvPr/>
        </p:nvSpPr>
        <p:spPr>
          <a:xfrm>
            <a:off x="6108192" y="2468880"/>
            <a:ext cx="2606040" cy="292608"/>
          </a:xfrm>
          <a:prstGeom prst="rect">
            <a:avLst/>
          </a:prstGeom>
          <a:noFill/>
        </p:spPr>
        <p:txBody>
          <a:bodyPr wrap="square">
            <a:spAutoFit/>
          </a:bodyPr>
          <a:lstStyle/>
          <a:p>
            <a:pPr algn="ctr"/>
            <a:r>
              <a:rPr sz="1100" b="0" i="0">
                <a:solidFill>
                  <a:srgbClr val="F4F4F8"/>
                </a:solidFill>
              </a:rPr>
              <a:t>droits
granulaires</a:t>
            </a:r>
          </a:p>
        </p:txBody>
      </p:sp>
      <p:sp>
        <p:nvSpPr>
          <p:cNvPr id="21" name="Rectangle 20"/>
          <p:cNvSpPr/>
          <p:nvPr/>
        </p:nvSpPr>
        <p:spPr>
          <a:xfrm>
            <a:off x="898855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8855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88552" y="1554480"/>
            <a:ext cx="2606040" cy="685800"/>
          </a:xfrm>
          <a:prstGeom prst="rect">
            <a:avLst/>
          </a:prstGeom>
          <a:noFill/>
        </p:spPr>
        <p:txBody>
          <a:bodyPr wrap="square">
            <a:spAutoFit/>
          </a:bodyPr>
          <a:lstStyle/>
          <a:p>
            <a:pPr algn="ctr"/>
            <a:r>
              <a:rPr sz="3800" b="1" i="0">
                <a:solidFill>
                  <a:srgbClr val="C9A84C"/>
                </a:solidFill>
              </a:rPr>
              <a:t>60+</a:t>
            </a:r>
          </a:p>
        </p:txBody>
      </p:sp>
      <p:sp>
        <p:nvSpPr>
          <p:cNvPr id="24" name="TextBox 23"/>
          <p:cNvSpPr txBox="1"/>
          <p:nvPr/>
        </p:nvSpPr>
        <p:spPr>
          <a:xfrm>
            <a:off x="8988552" y="2176272"/>
            <a:ext cx="2606040" cy="320040"/>
          </a:xfrm>
          <a:prstGeom prst="rect">
            <a:avLst/>
          </a:prstGeom>
          <a:noFill/>
        </p:spPr>
        <p:txBody>
          <a:bodyPr wrap="square">
            <a:spAutoFit/>
          </a:bodyPr>
          <a:lstStyle/>
          <a:p>
            <a:pPr algn="ctr"/>
            <a:r>
              <a:rPr sz="1300" b="0" i="0">
                <a:solidFill>
                  <a:srgbClr val="FFFFFF"/>
                </a:solidFill>
              </a:rPr>
              <a:t>jest</a:t>
            </a:r>
          </a:p>
        </p:txBody>
      </p:sp>
      <p:sp>
        <p:nvSpPr>
          <p:cNvPr id="25" name="TextBox 24"/>
          <p:cNvSpPr txBox="1"/>
          <p:nvPr/>
        </p:nvSpPr>
        <p:spPr>
          <a:xfrm>
            <a:off x="8988552" y="2468880"/>
            <a:ext cx="2606040" cy="292608"/>
          </a:xfrm>
          <a:prstGeom prst="rect">
            <a:avLst/>
          </a:prstGeom>
          <a:noFill/>
        </p:spPr>
        <p:txBody>
          <a:bodyPr wrap="square">
            <a:spAutoFit/>
          </a:bodyPr>
          <a:lstStyle/>
          <a:p>
            <a:pPr algn="ctr"/>
            <a:r>
              <a:rPr sz="1100" b="0" i="0">
                <a:solidFill>
                  <a:srgbClr val="F4F4F8"/>
                </a:solidFill>
              </a:rPr>
              <a:t>tests
automatiques</a:t>
            </a:r>
          </a:p>
        </p:txBody>
      </p:sp>
      <p:sp>
        <p:nvSpPr>
          <p:cNvPr id="26" name="TextBox 25"/>
          <p:cNvSpPr txBox="1"/>
          <p:nvPr/>
        </p:nvSpPr>
        <p:spPr>
          <a:xfrm>
            <a:off x="457200" y="3063240"/>
            <a:ext cx="11338560" cy="411480"/>
          </a:xfrm>
          <a:prstGeom prst="rect">
            <a:avLst/>
          </a:prstGeom>
          <a:noFill/>
        </p:spPr>
        <p:txBody>
          <a:bodyPr wrap="square">
            <a:spAutoFit/>
          </a:bodyPr>
          <a:lstStyle/>
          <a:p>
            <a:pPr algn="l"/>
            <a:r>
              <a:rPr sz="1400" b="0" i="0">
                <a:solidFill>
                  <a:srgbClr val="F4F4F8"/>
                </a:solidFill>
              </a:rPr>
              <a:t>Chaque action correspond a un endpoint precise, protege par un droit d'acces specifique.</a:t>
            </a:r>
          </a:p>
        </p:txBody>
      </p:sp>
      <p:sp>
        <p:nvSpPr>
          <p:cNvPr id="27" name="Rectangle 26"/>
          <p:cNvSpPr/>
          <p:nvPr/>
        </p:nvSpPr>
        <p:spPr>
          <a:xfrm>
            <a:off x="347472" y="3611880"/>
            <a:ext cx="3749039" cy="25146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47472" y="3611880"/>
            <a:ext cx="3749039" cy="54864"/>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globe.png"/>
          <p:cNvPicPr>
            <a:picLocks noChangeAspect="1"/>
          </p:cNvPicPr>
          <p:nvPr/>
        </p:nvPicPr>
        <p:blipFill>
          <a:blip r:embed="rId3"/>
          <a:stretch>
            <a:fillRect/>
          </a:stretch>
        </p:blipFill>
        <p:spPr>
          <a:xfrm>
            <a:off x="512064" y="3749039"/>
            <a:ext cx="594360" cy="594360"/>
          </a:xfrm>
          <a:prstGeom prst="rect">
            <a:avLst/>
          </a:prstGeom>
        </p:spPr>
      </p:pic>
      <p:sp>
        <p:nvSpPr>
          <p:cNvPr id="30" name="TextBox 29"/>
          <p:cNvSpPr txBox="1"/>
          <p:nvPr/>
        </p:nvSpPr>
        <p:spPr>
          <a:xfrm>
            <a:off x="1261872" y="3749039"/>
            <a:ext cx="2697480" cy="640080"/>
          </a:xfrm>
          <a:prstGeom prst="rect">
            <a:avLst/>
          </a:prstGeom>
          <a:noFill/>
        </p:spPr>
        <p:txBody>
          <a:bodyPr wrap="square">
            <a:spAutoFit/>
          </a:bodyPr>
          <a:lstStyle/>
          <a:p>
            <a:pPr algn="l"/>
            <a:r>
              <a:rPr sz="1400" b="1" i="0">
                <a:solidFill>
                  <a:srgbClr val="2D7A3A"/>
                </a:solidFill>
              </a:rPr>
              <a:t>Zone Publique
(sans connexion)</a:t>
            </a:r>
          </a:p>
        </p:txBody>
      </p:sp>
      <p:sp>
        <p:nvSpPr>
          <p:cNvPr id="31" name="TextBox 30"/>
          <p:cNvSpPr txBox="1"/>
          <p:nvPr/>
        </p:nvSpPr>
        <p:spPr>
          <a:xfrm>
            <a:off x="530352" y="4434840"/>
            <a:ext cx="3383280" cy="1554480"/>
          </a:xfrm>
          <a:prstGeom prst="rect">
            <a:avLst/>
          </a:prstGeom>
          <a:noFill/>
        </p:spPr>
        <p:txBody>
          <a:bodyPr wrap="square">
            <a:spAutoFit/>
          </a:bodyPr>
          <a:lstStyle/>
          <a:p>
            <a:pPr algn="l"/>
            <a:r>
              <a:rPr sz="1300" b="0" i="0">
                <a:solidFill>
                  <a:srgbClr val="F4F4F8"/>
                </a:solidFill>
              </a:rPr>
              <a:t>Verifier un diplome
Telecharger rapport PDF
Scanner QR code</a:t>
            </a:r>
          </a:p>
        </p:txBody>
      </p:sp>
      <p:sp>
        <p:nvSpPr>
          <p:cNvPr id="32" name="Rectangle 31"/>
          <p:cNvSpPr/>
          <p:nvPr/>
        </p:nvSpPr>
        <p:spPr>
          <a:xfrm>
            <a:off x="4325112" y="3611880"/>
            <a:ext cx="3749039" cy="25146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25112" y="3611880"/>
            <a:ext cx="3749039"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users.png"/>
          <p:cNvPicPr>
            <a:picLocks noChangeAspect="1"/>
          </p:cNvPicPr>
          <p:nvPr/>
        </p:nvPicPr>
        <p:blipFill>
          <a:blip r:embed="rId4"/>
          <a:stretch>
            <a:fillRect/>
          </a:stretch>
        </p:blipFill>
        <p:spPr>
          <a:xfrm>
            <a:off x="4489704" y="3749039"/>
            <a:ext cx="594360" cy="594360"/>
          </a:xfrm>
          <a:prstGeom prst="rect">
            <a:avLst/>
          </a:prstGeom>
        </p:spPr>
      </p:pic>
      <p:sp>
        <p:nvSpPr>
          <p:cNvPr id="35" name="TextBox 34"/>
          <p:cNvSpPr txBox="1"/>
          <p:nvPr/>
        </p:nvSpPr>
        <p:spPr>
          <a:xfrm>
            <a:off x="5239512" y="3749039"/>
            <a:ext cx="2697480" cy="640080"/>
          </a:xfrm>
          <a:prstGeom prst="rect">
            <a:avLst/>
          </a:prstGeom>
          <a:noFill/>
        </p:spPr>
        <p:txBody>
          <a:bodyPr wrap="square">
            <a:spAutoFit/>
          </a:bodyPr>
          <a:lstStyle/>
          <a:p>
            <a:pPr algn="l"/>
            <a:r>
              <a:rPr sz="1400" b="1" i="0">
                <a:solidFill>
                  <a:srgbClr val="C9A84C"/>
                </a:solidFill>
              </a:rPr>
              <a:t>Zone Staff
(connexion requise)</a:t>
            </a:r>
          </a:p>
        </p:txBody>
      </p:sp>
      <p:sp>
        <p:nvSpPr>
          <p:cNvPr id="36" name="TextBox 35"/>
          <p:cNvSpPr txBox="1"/>
          <p:nvPr/>
        </p:nvSpPr>
        <p:spPr>
          <a:xfrm>
            <a:off x="4507992" y="4434840"/>
            <a:ext cx="3383280" cy="1554480"/>
          </a:xfrm>
          <a:prstGeom prst="rect">
            <a:avLst/>
          </a:prstGeom>
          <a:noFill/>
        </p:spPr>
        <p:txBody>
          <a:bodyPr wrap="square">
            <a:spAutoFit/>
          </a:bodyPr>
          <a:lstStyle/>
          <a:p>
            <a:pPr algn="l"/>
            <a:r>
              <a:rPr sz="1300" b="0" i="0">
                <a:solidFill>
                  <a:srgbClr val="F4F4F8"/>
                </a:solidFill>
              </a:rPr>
              <a:t>Creer / valider diplomes
Gerer les etudiants
Voir l'historique</a:t>
            </a:r>
          </a:p>
        </p:txBody>
      </p:sp>
      <p:sp>
        <p:nvSpPr>
          <p:cNvPr id="37" name="Rectangle 36"/>
          <p:cNvSpPr/>
          <p:nvPr/>
        </p:nvSpPr>
        <p:spPr>
          <a:xfrm>
            <a:off x="8302752" y="3611880"/>
            <a:ext cx="3749039" cy="25146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302752" y="3611880"/>
            <a:ext cx="3749039" cy="54864"/>
          </a:xfrm>
          <a:prstGeom prst="rect">
            <a:avLst/>
          </a:prstGeom>
          <a:solidFill>
            <a:srgbClr val="7E5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shield.png"/>
          <p:cNvPicPr>
            <a:picLocks noChangeAspect="1"/>
          </p:cNvPicPr>
          <p:nvPr/>
        </p:nvPicPr>
        <p:blipFill>
          <a:blip r:embed="rId5"/>
          <a:stretch>
            <a:fillRect/>
          </a:stretch>
        </p:blipFill>
        <p:spPr>
          <a:xfrm>
            <a:off x="8467344" y="3749039"/>
            <a:ext cx="594360" cy="594360"/>
          </a:xfrm>
          <a:prstGeom prst="rect">
            <a:avLst/>
          </a:prstGeom>
        </p:spPr>
      </p:pic>
      <p:sp>
        <p:nvSpPr>
          <p:cNvPr id="40" name="TextBox 39"/>
          <p:cNvSpPr txBox="1"/>
          <p:nvPr/>
        </p:nvSpPr>
        <p:spPr>
          <a:xfrm>
            <a:off x="9217152" y="3749039"/>
            <a:ext cx="2697480" cy="640080"/>
          </a:xfrm>
          <a:prstGeom prst="rect">
            <a:avLst/>
          </a:prstGeom>
          <a:noFill/>
        </p:spPr>
        <p:txBody>
          <a:bodyPr wrap="square">
            <a:spAutoFit/>
          </a:bodyPr>
          <a:lstStyle/>
          <a:p>
            <a:pPr algn="l"/>
            <a:r>
              <a:rPr sz="1400" b="1" i="0">
                <a:solidFill>
                  <a:srgbClr val="7E57C2"/>
                </a:solidFill>
              </a:rPr>
              <a:t>Zone Admin
(super admin)</a:t>
            </a:r>
          </a:p>
        </p:txBody>
      </p:sp>
      <p:sp>
        <p:nvSpPr>
          <p:cNvPr id="41" name="TextBox 40"/>
          <p:cNvSpPr txBox="1"/>
          <p:nvPr/>
        </p:nvSpPr>
        <p:spPr>
          <a:xfrm>
            <a:off x="8485632" y="4434840"/>
            <a:ext cx="3383280" cy="1554480"/>
          </a:xfrm>
          <a:prstGeom prst="rect">
            <a:avLst/>
          </a:prstGeom>
          <a:noFill/>
        </p:spPr>
        <p:txBody>
          <a:bodyPr wrap="square">
            <a:spAutoFit/>
          </a:bodyPr>
          <a:lstStyle/>
          <a:p>
            <a:pPr algn="l"/>
            <a:r>
              <a:rPr sz="1300" b="0" i="0">
                <a:solidFill>
                  <a:srgbClr val="F4F4F8"/>
                </a:solidFill>
              </a:rPr>
              <a:t>Gerer les universites
Gerer les comptes staff
Journal d'audit</a:t>
            </a:r>
          </a:p>
        </p:txBody>
      </p:sp>
      <p:sp>
        <p:nvSpPr>
          <p:cNvPr id="42" name="TextBox 41"/>
          <p:cNvSpPr txBox="1"/>
          <p:nvPr/>
        </p:nvSpPr>
        <p:spPr>
          <a:xfrm>
            <a:off x="347472" y="6291072"/>
            <a:ext cx="11475720" cy="274320"/>
          </a:xfrm>
          <a:prstGeom prst="rect">
            <a:avLst/>
          </a:prstGeom>
          <a:noFill/>
        </p:spPr>
        <p:txBody>
          <a:bodyPr wrap="square">
            <a:spAutoFit/>
          </a:bodyPr>
          <a:lstStyle/>
          <a:p>
            <a:pPr algn="ctr"/>
            <a:r>
              <a:rPr sz="1100" b="0" i="0">
                <a:solidFill>
                  <a:srgbClr val="C9A84C"/>
                </a:solidFill>
              </a:rPr>
              <a:t>Documentation interactive : http://localhost:3000/api/docs</a:t>
            </a:r>
          </a:p>
        </p:txBody>
      </p:sp>
      <p:sp>
        <p:nvSpPr>
          <p:cNvPr id="43" name="TextBox 42"/>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3</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7</a:t>
            </a:r>
            <a:r>
              <a:rPr sz="900" b="1" i="0" dirty="0">
                <a:solidFill>
                  <a:srgbClr val="1A1A2E"/>
                </a:solidFill>
              </a:rPr>
              <a:t> </a:t>
            </a:r>
            <a:r>
              <a:rPr lang="fr-FR" sz="900" b="1" i="0" dirty="0">
                <a:solidFill>
                  <a:srgbClr val="1A1A2E"/>
                </a:solidFill>
              </a:rPr>
              <a:t>-</a:t>
            </a:r>
            <a:r>
              <a:rPr sz="900" b="1" i="0" dirty="0">
                <a:solidFill>
                  <a:srgbClr val="1A1A2E"/>
                </a:solidFill>
              </a:rPr>
              <a:t> INFRASTRUCTURE</a:t>
            </a:r>
          </a:p>
        </p:txBody>
      </p:sp>
      <p:sp>
        <p:nvSpPr>
          <p:cNvPr id="6" name="TextBox 5"/>
          <p:cNvSpPr txBox="1"/>
          <p:nvPr/>
        </p:nvSpPr>
        <p:spPr>
          <a:xfrm>
            <a:off x="347472" y="521477"/>
            <a:ext cx="9144000" cy="685800"/>
          </a:xfrm>
          <a:prstGeom prst="rect">
            <a:avLst/>
          </a:prstGeom>
          <a:noFill/>
        </p:spPr>
        <p:txBody>
          <a:bodyPr wrap="square">
            <a:spAutoFit/>
          </a:bodyPr>
          <a:lstStyle/>
          <a:p>
            <a:pPr algn="l"/>
            <a:r>
              <a:rPr sz="2800" b="1" i="0" dirty="0">
                <a:solidFill>
                  <a:srgbClr val="FFFFFF"/>
                </a:solidFill>
              </a:rPr>
              <a:t>Infrastructure &amp; Choix du stockage</a:t>
            </a:r>
          </a:p>
        </p:txBody>
      </p:sp>
      <p:sp>
        <p:nvSpPr>
          <p:cNvPr id="7" name="Rectangle 6"/>
          <p:cNvSpPr/>
          <p:nvPr/>
        </p:nvSpPr>
        <p:spPr>
          <a:xfrm>
            <a:off x="347472" y="1389888"/>
            <a:ext cx="5623560" cy="1389888"/>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389888"/>
            <a:ext cx="54864" cy="1389888"/>
          </a:xfrm>
          <a:prstGeom prst="rect">
            <a:avLst/>
          </a:prstGeom>
          <a:solidFill>
            <a:srgbClr val="0091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docker.png"/>
          <p:cNvPicPr>
            <a:picLocks noChangeAspect="1"/>
          </p:cNvPicPr>
          <p:nvPr/>
        </p:nvPicPr>
        <p:blipFill>
          <a:blip r:embed="rId3"/>
          <a:stretch>
            <a:fillRect/>
          </a:stretch>
        </p:blipFill>
        <p:spPr>
          <a:xfrm>
            <a:off x="484632" y="1481328"/>
            <a:ext cx="918049" cy="658368"/>
          </a:xfrm>
          <a:prstGeom prst="rect">
            <a:avLst/>
          </a:prstGeom>
        </p:spPr>
      </p:pic>
      <p:sp>
        <p:nvSpPr>
          <p:cNvPr id="10" name="TextBox 9"/>
          <p:cNvSpPr txBox="1"/>
          <p:nvPr/>
        </p:nvSpPr>
        <p:spPr>
          <a:xfrm>
            <a:off x="1371600" y="1463040"/>
            <a:ext cx="4434840" cy="365760"/>
          </a:xfrm>
          <a:prstGeom prst="rect">
            <a:avLst/>
          </a:prstGeom>
          <a:noFill/>
        </p:spPr>
        <p:txBody>
          <a:bodyPr wrap="square">
            <a:spAutoFit/>
          </a:bodyPr>
          <a:lstStyle/>
          <a:p>
            <a:pPr algn="l"/>
            <a:r>
              <a:rPr sz="1400" b="1" i="0">
                <a:solidFill>
                  <a:srgbClr val="1A1A2E"/>
                </a:solidFill>
              </a:rPr>
              <a:t>Docker Compose</a:t>
            </a:r>
          </a:p>
        </p:txBody>
      </p:sp>
      <p:sp>
        <p:nvSpPr>
          <p:cNvPr id="11" name="TextBox 10"/>
          <p:cNvSpPr txBox="1"/>
          <p:nvPr/>
        </p:nvSpPr>
        <p:spPr>
          <a:xfrm>
            <a:off x="1371600" y="1828800"/>
            <a:ext cx="4434840" cy="822960"/>
          </a:xfrm>
          <a:prstGeom prst="rect">
            <a:avLst/>
          </a:prstGeom>
          <a:noFill/>
        </p:spPr>
        <p:txBody>
          <a:bodyPr wrap="square">
            <a:spAutoFit/>
          </a:bodyPr>
          <a:lstStyle/>
          <a:p>
            <a:pPr algn="l"/>
            <a:r>
              <a:rPr sz="1200" b="0" i="0">
                <a:solidFill>
                  <a:srgbClr val="444455"/>
                </a:solidFill>
              </a:rPr>
              <a:t>4 services : backend, frontend, PostgreSQL, pgAdmin.
Hot-reload en dev. Volumes persistants.</a:t>
            </a:r>
          </a:p>
        </p:txBody>
      </p:sp>
      <p:sp>
        <p:nvSpPr>
          <p:cNvPr id="12" name="Rectangle 11"/>
          <p:cNvSpPr/>
          <p:nvPr/>
        </p:nvSpPr>
        <p:spPr>
          <a:xfrm>
            <a:off x="6172200" y="1389888"/>
            <a:ext cx="5623560" cy="1389888"/>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72200" y="1389888"/>
            <a:ext cx="54864" cy="1389888"/>
          </a:xfrm>
          <a:prstGeom prst="rect">
            <a:avLst/>
          </a:prstGeom>
          <a:solidFill>
            <a:srgbClr val="834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polygon.png"/>
          <p:cNvPicPr>
            <a:picLocks noChangeAspect="1"/>
          </p:cNvPicPr>
          <p:nvPr/>
        </p:nvPicPr>
        <p:blipFill>
          <a:blip r:embed="rId4"/>
          <a:stretch>
            <a:fillRect/>
          </a:stretch>
        </p:blipFill>
        <p:spPr>
          <a:xfrm>
            <a:off x="6309360" y="1481328"/>
            <a:ext cx="658368" cy="658368"/>
          </a:xfrm>
          <a:prstGeom prst="rect">
            <a:avLst/>
          </a:prstGeom>
        </p:spPr>
      </p:pic>
      <p:sp>
        <p:nvSpPr>
          <p:cNvPr id="15" name="TextBox 14"/>
          <p:cNvSpPr txBox="1"/>
          <p:nvPr/>
        </p:nvSpPr>
        <p:spPr>
          <a:xfrm>
            <a:off x="7196328" y="1463040"/>
            <a:ext cx="4434840" cy="365760"/>
          </a:xfrm>
          <a:prstGeom prst="rect">
            <a:avLst/>
          </a:prstGeom>
          <a:noFill/>
        </p:spPr>
        <p:txBody>
          <a:bodyPr wrap="square">
            <a:spAutoFit/>
          </a:bodyPr>
          <a:lstStyle/>
          <a:p>
            <a:pPr algn="l"/>
            <a:r>
              <a:rPr sz="1400" b="1" i="0">
                <a:solidFill>
                  <a:srgbClr val="1A1A2E"/>
                </a:solidFill>
              </a:rPr>
              <a:t>Polygon Amoy</a:t>
            </a:r>
          </a:p>
        </p:txBody>
      </p:sp>
      <p:sp>
        <p:nvSpPr>
          <p:cNvPr id="16" name="TextBox 15"/>
          <p:cNvSpPr txBox="1"/>
          <p:nvPr/>
        </p:nvSpPr>
        <p:spPr>
          <a:xfrm>
            <a:off x="7196328" y="1828800"/>
            <a:ext cx="4434840" cy="822960"/>
          </a:xfrm>
          <a:prstGeom prst="rect">
            <a:avLst/>
          </a:prstGeom>
          <a:noFill/>
        </p:spPr>
        <p:txBody>
          <a:bodyPr wrap="square">
            <a:spAutoFit/>
          </a:bodyPr>
          <a:lstStyle/>
          <a:p>
            <a:pPr algn="l"/>
            <a:r>
              <a:rPr sz="1200" b="0" i="0">
                <a:solidFill>
                  <a:srgbClr val="444455"/>
                </a:solidFill>
              </a:rPr>
              <a:t>Testnet EVM. Contrat : 0x75a23a...1315E.
Verifiable sur amoy.polygonscan.com</a:t>
            </a:r>
          </a:p>
        </p:txBody>
      </p:sp>
      <p:sp>
        <p:nvSpPr>
          <p:cNvPr id="17" name="TextBox 16"/>
          <p:cNvSpPr txBox="1"/>
          <p:nvPr/>
        </p:nvSpPr>
        <p:spPr>
          <a:xfrm>
            <a:off x="347472" y="2944368"/>
            <a:ext cx="11475720" cy="411480"/>
          </a:xfrm>
          <a:prstGeom prst="rect">
            <a:avLst/>
          </a:prstGeom>
          <a:noFill/>
        </p:spPr>
        <p:txBody>
          <a:bodyPr wrap="square">
            <a:spAutoFit/>
          </a:bodyPr>
          <a:lstStyle/>
          <a:p>
            <a:pPr algn="l"/>
            <a:r>
              <a:rPr sz="1500" b="1" i="0">
                <a:solidFill>
                  <a:srgbClr val="1A1A2E"/>
                </a:solidFill>
              </a:rPr>
              <a:t>Choix du stockage PDF : Cloudflare R2 vs AWS S3</a:t>
            </a:r>
          </a:p>
        </p:txBody>
      </p:sp>
      <p:sp>
        <p:nvSpPr>
          <p:cNvPr id="18" name="Rectangle 17"/>
          <p:cNvSpPr/>
          <p:nvPr/>
        </p:nvSpPr>
        <p:spPr>
          <a:xfrm>
            <a:off x="347472" y="3364992"/>
            <a:ext cx="114757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47472" y="3493008"/>
            <a:ext cx="5349240" cy="2578608"/>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7472" y="3493008"/>
            <a:ext cx="5349240" cy="54864"/>
          </a:xfrm>
          <a:prstGeom prst="rect">
            <a:avLst/>
          </a:prstGeom>
          <a:solidFill>
            <a:srgbClr val="F48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cloudflare.png"/>
          <p:cNvPicPr>
            <a:picLocks noChangeAspect="1"/>
          </p:cNvPicPr>
          <p:nvPr/>
        </p:nvPicPr>
        <p:blipFill>
          <a:blip r:embed="rId5"/>
          <a:stretch>
            <a:fillRect/>
          </a:stretch>
        </p:blipFill>
        <p:spPr>
          <a:xfrm>
            <a:off x="457200" y="3584448"/>
            <a:ext cx="475488" cy="475488"/>
          </a:xfrm>
          <a:prstGeom prst="rect">
            <a:avLst/>
          </a:prstGeom>
        </p:spPr>
      </p:pic>
      <p:sp>
        <p:nvSpPr>
          <p:cNvPr id="22" name="TextBox 21"/>
          <p:cNvSpPr txBox="1"/>
          <p:nvPr/>
        </p:nvSpPr>
        <p:spPr>
          <a:xfrm>
            <a:off x="1481328" y="3584448"/>
            <a:ext cx="4069080" cy="307777"/>
          </a:xfrm>
          <a:prstGeom prst="rect">
            <a:avLst/>
          </a:prstGeom>
          <a:noFill/>
        </p:spPr>
        <p:txBody>
          <a:bodyPr wrap="square">
            <a:spAutoFit/>
          </a:bodyPr>
          <a:lstStyle/>
          <a:p>
            <a:pPr algn="l"/>
            <a:r>
              <a:rPr sz="1400" b="1" i="0" dirty="0">
                <a:solidFill>
                  <a:srgbClr val="1A1A2E"/>
                </a:solidFill>
              </a:rPr>
              <a:t>Cloudflare R2   </a:t>
            </a:r>
            <a:r>
              <a:rPr lang="fr-FR" sz="1400" b="1" i="0" dirty="0">
                <a:solidFill>
                  <a:srgbClr val="1A1A2E"/>
                </a:solidFill>
              </a:rPr>
              <a:t>-</a:t>
            </a:r>
            <a:r>
              <a:rPr sz="1400" b="1" i="0" dirty="0">
                <a:solidFill>
                  <a:srgbClr val="1A1A2E"/>
                </a:solidFill>
              </a:rPr>
              <a:t>   ACTUEL</a:t>
            </a:r>
          </a:p>
        </p:txBody>
      </p:sp>
      <p:pic>
        <p:nvPicPr>
          <p:cNvPr id="23" name="Picture 22" descr="check.png"/>
          <p:cNvPicPr>
            <a:picLocks noChangeAspect="1"/>
          </p:cNvPicPr>
          <p:nvPr/>
        </p:nvPicPr>
        <p:blipFill>
          <a:blip r:embed="rId6"/>
          <a:stretch>
            <a:fillRect/>
          </a:stretch>
        </p:blipFill>
        <p:spPr>
          <a:xfrm>
            <a:off x="438912" y="4096512"/>
            <a:ext cx="292608" cy="292608"/>
          </a:xfrm>
          <a:prstGeom prst="rect">
            <a:avLst/>
          </a:prstGeom>
        </p:spPr>
      </p:pic>
      <p:sp>
        <p:nvSpPr>
          <p:cNvPr id="24" name="TextBox 23"/>
          <p:cNvSpPr txBox="1"/>
          <p:nvPr/>
        </p:nvSpPr>
        <p:spPr>
          <a:xfrm>
            <a:off x="804672" y="4114800"/>
            <a:ext cx="4754880" cy="347472"/>
          </a:xfrm>
          <a:prstGeom prst="rect">
            <a:avLst/>
          </a:prstGeom>
          <a:noFill/>
        </p:spPr>
        <p:txBody>
          <a:bodyPr wrap="square">
            <a:spAutoFit/>
          </a:bodyPr>
          <a:lstStyle/>
          <a:p>
            <a:pPr algn="l"/>
            <a:r>
              <a:rPr sz="1200" b="0" i="0">
                <a:solidFill>
                  <a:srgbClr val="2D7A3A"/>
                </a:solidFill>
              </a:rPr>
              <a:t>10 GB/mois gratuits, 0 frais de sortie</a:t>
            </a:r>
          </a:p>
        </p:txBody>
      </p:sp>
      <p:pic>
        <p:nvPicPr>
          <p:cNvPr id="25" name="Picture 24" descr="check.png"/>
          <p:cNvPicPr>
            <a:picLocks noChangeAspect="1"/>
          </p:cNvPicPr>
          <p:nvPr/>
        </p:nvPicPr>
        <p:blipFill>
          <a:blip r:embed="rId6"/>
          <a:stretch>
            <a:fillRect/>
          </a:stretch>
        </p:blipFill>
        <p:spPr>
          <a:xfrm>
            <a:off x="438912" y="4535424"/>
            <a:ext cx="292608" cy="292608"/>
          </a:xfrm>
          <a:prstGeom prst="rect">
            <a:avLst/>
          </a:prstGeom>
        </p:spPr>
      </p:pic>
      <p:sp>
        <p:nvSpPr>
          <p:cNvPr id="26" name="TextBox 25"/>
          <p:cNvSpPr txBox="1"/>
          <p:nvPr/>
        </p:nvSpPr>
        <p:spPr>
          <a:xfrm>
            <a:off x="804672" y="4553712"/>
            <a:ext cx="4754880" cy="347472"/>
          </a:xfrm>
          <a:prstGeom prst="rect">
            <a:avLst/>
          </a:prstGeom>
          <a:noFill/>
        </p:spPr>
        <p:txBody>
          <a:bodyPr wrap="square">
            <a:spAutoFit/>
          </a:bodyPr>
          <a:lstStyle/>
          <a:p>
            <a:pPr algn="l"/>
            <a:r>
              <a:rPr sz="1200" b="0" i="0">
                <a:solidFill>
                  <a:srgbClr val="2D7A3A"/>
                </a:solidFill>
              </a:rPr>
              <a:t>API 100% compatible AWS S3</a:t>
            </a:r>
          </a:p>
        </p:txBody>
      </p:sp>
      <p:pic>
        <p:nvPicPr>
          <p:cNvPr id="27" name="Picture 26" descr="check.png"/>
          <p:cNvPicPr>
            <a:picLocks noChangeAspect="1"/>
          </p:cNvPicPr>
          <p:nvPr/>
        </p:nvPicPr>
        <p:blipFill>
          <a:blip r:embed="rId6"/>
          <a:stretch>
            <a:fillRect/>
          </a:stretch>
        </p:blipFill>
        <p:spPr>
          <a:xfrm>
            <a:off x="438912" y="4974336"/>
            <a:ext cx="292608" cy="292608"/>
          </a:xfrm>
          <a:prstGeom prst="rect">
            <a:avLst/>
          </a:prstGeom>
        </p:spPr>
      </p:pic>
      <p:sp>
        <p:nvSpPr>
          <p:cNvPr id="28" name="TextBox 27"/>
          <p:cNvSpPr txBox="1"/>
          <p:nvPr/>
        </p:nvSpPr>
        <p:spPr>
          <a:xfrm>
            <a:off x="804672" y="4992624"/>
            <a:ext cx="4754880" cy="276999"/>
          </a:xfrm>
          <a:prstGeom prst="rect">
            <a:avLst/>
          </a:prstGeom>
          <a:noFill/>
        </p:spPr>
        <p:txBody>
          <a:bodyPr wrap="square">
            <a:spAutoFit/>
          </a:bodyPr>
          <a:lstStyle/>
          <a:p>
            <a:pPr algn="l"/>
            <a:r>
              <a:rPr sz="1200" b="0" i="0" dirty="0" err="1">
                <a:solidFill>
                  <a:srgbClr val="2D7A3A"/>
                </a:solidFill>
              </a:rPr>
              <a:t>Presigned</a:t>
            </a:r>
            <a:r>
              <a:rPr sz="1200" b="0" i="0" dirty="0">
                <a:solidFill>
                  <a:srgbClr val="2D7A3A"/>
                </a:solidFill>
              </a:rPr>
              <a:t> URLs (TTL 15 min) </a:t>
            </a:r>
            <a:r>
              <a:rPr lang="fr-FR" sz="1200" b="0" i="0" dirty="0">
                <a:solidFill>
                  <a:srgbClr val="2D7A3A"/>
                </a:solidFill>
              </a:rPr>
              <a:t>-</a:t>
            </a:r>
            <a:r>
              <a:rPr sz="1200" b="0" i="0" dirty="0">
                <a:solidFill>
                  <a:srgbClr val="2D7A3A"/>
                </a:solidFill>
              </a:rPr>
              <a:t> PDF inaccessible </a:t>
            </a:r>
            <a:r>
              <a:rPr sz="1200" b="0" i="0" dirty="0" err="1">
                <a:solidFill>
                  <a:srgbClr val="2D7A3A"/>
                </a:solidFill>
              </a:rPr>
              <a:t>en</a:t>
            </a:r>
            <a:r>
              <a:rPr sz="1200" b="0" i="0" dirty="0">
                <a:solidFill>
                  <a:srgbClr val="2D7A3A"/>
                </a:solidFill>
              </a:rPr>
              <a:t> direct</a:t>
            </a:r>
          </a:p>
        </p:txBody>
      </p:sp>
      <p:pic>
        <p:nvPicPr>
          <p:cNvPr id="29" name="Picture 28" descr="check.png"/>
          <p:cNvPicPr>
            <a:picLocks noChangeAspect="1"/>
          </p:cNvPicPr>
          <p:nvPr/>
        </p:nvPicPr>
        <p:blipFill>
          <a:blip r:embed="rId6"/>
          <a:stretch>
            <a:fillRect/>
          </a:stretch>
        </p:blipFill>
        <p:spPr>
          <a:xfrm>
            <a:off x="438912" y="5413248"/>
            <a:ext cx="292608" cy="292608"/>
          </a:xfrm>
          <a:prstGeom prst="rect">
            <a:avLst/>
          </a:prstGeom>
        </p:spPr>
      </p:pic>
      <p:sp>
        <p:nvSpPr>
          <p:cNvPr id="30" name="TextBox 29"/>
          <p:cNvSpPr txBox="1"/>
          <p:nvPr/>
        </p:nvSpPr>
        <p:spPr>
          <a:xfrm>
            <a:off x="804672" y="5431536"/>
            <a:ext cx="4754880" cy="347472"/>
          </a:xfrm>
          <a:prstGeom prst="rect">
            <a:avLst/>
          </a:prstGeom>
          <a:noFill/>
        </p:spPr>
        <p:txBody>
          <a:bodyPr wrap="square">
            <a:spAutoFit/>
          </a:bodyPr>
          <a:lstStyle/>
          <a:p>
            <a:pPr algn="l"/>
            <a:r>
              <a:rPr sz="1200" b="0" i="0">
                <a:solidFill>
                  <a:srgbClr val="2D7A3A"/>
                </a:solidFill>
              </a:rPr>
              <a:t>Parfait pour le developpement et la phase MVP</a:t>
            </a:r>
          </a:p>
        </p:txBody>
      </p:sp>
      <p:sp>
        <p:nvSpPr>
          <p:cNvPr id="31" name="Rectangle 30"/>
          <p:cNvSpPr/>
          <p:nvPr/>
        </p:nvSpPr>
        <p:spPr>
          <a:xfrm>
            <a:off x="5989320" y="3493008"/>
            <a:ext cx="5897880" cy="2578608"/>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989320" y="3493008"/>
            <a:ext cx="5897880" cy="5486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aws.png"/>
          <p:cNvPicPr>
            <a:picLocks noChangeAspect="1"/>
          </p:cNvPicPr>
          <p:nvPr/>
        </p:nvPicPr>
        <p:blipFill>
          <a:blip r:embed="rId7"/>
          <a:stretch>
            <a:fillRect/>
          </a:stretch>
        </p:blipFill>
        <p:spPr>
          <a:xfrm>
            <a:off x="6108192" y="3584448"/>
            <a:ext cx="905691" cy="475488"/>
          </a:xfrm>
          <a:prstGeom prst="rect">
            <a:avLst/>
          </a:prstGeom>
        </p:spPr>
      </p:pic>
      <p:sp>
        <p:nvSpPr>
          <p:cNvPr id="34" name="TextBox 33"/>
          <p:cNvSpPr txBox="1"/>
          <p:nvPr/>
        </p:nvSpPr>
        <p:spPr>
          <a:xfrm>
            <a:off x="7360920" y="3584448"/>
            <a:ext cx="4343400" cy="307777"/>
          </a:xfrm>
          <a:prstGeom prst="rect">
            <a:avLst/>
          </a:prstGeom>
          <a:noFill/>
        </p:spPr>
        <p:txBody>
          <a:bodyPr wrap="square">
            <a:spAutoFit/>
          </a:bodyPr>
          <a:lstStyle/>
          <a:p>
            <a:pPr algn="l"/>
            <a:r>
              <a:rPr sz="1400" b="1" i="0" dirty="0">
                <a:solidFill>
                  <a:srgbClr val="1A1A2E"/>
                </a:solidFill>
              </a:rPr>
              <a:t>AWS S3   </a:t>
            </a:r>
            <a:r>
              <a:rPr lang="fr-FR" sz="1400" b="1" i="0" dirty="0">
                <a:solidFill>
                  <a:srgbClr val="1A1A2E"/>
                </a:solidFill>
              </a:rPr>
              <a:t>-</a:t>
            </a:r>
            <a:r>
              <a:rPr sz="1400" b="1" i="0" dirty="0">
                <a:solidFill>
                  <a:srgbClr val="1A1A2E"/>
                </a:solidFill>
              </a:rPr>
              <a:t>   OPTION PRODUCTION</a:t>
            </a:r>
          </a:p>
        </p:txBody>
      </p:sp>
      <p:pic>
        <p:nvPicPr>
          <p:cNvPr id="35" name="Picture 34" descr="check.png"/>
          <p:cNvPicPr>
            <a:picLocks noChangeAspect="1"/>
          </p:cNvPicPr>
          <p:nvPr/>
        </p:nvPicPr>
        <p:blipFill>
          <a:blip r:embed="rId6"/>
          <a:stretch>
            <a:fillRect/>
          </a:stretch>
        </p:blipFill>
        <p:spPr>
          <a:xfrm>
            <a:off x="6080760" y="4096512"/>
            <a:ext cx="292608" cy="292608"/>
          </a:xfrm>
          <a:prstGeom prst="rect">
            <a:avLst/>
          </a:prstGeom>
        </p:spPr>
      </p:pic>
      <p:sp>
        <p:nvSpPr>
          <p:cNvPr id="36" name="TextBox 35"/>
          <p:cNvSpPr txBox="1"/>
          <p:nvPr/>
        </p:nvSpPr>
        <p:spPr>
          <a:xfrm>
            <a:off x="6446520" y="4114800"/>
            <a:ext cx="5257800" cy="347472"/>
          </a:xfrm>
          <a:prstGeom prst="rect">
            <a:avLst/>
          </a:prstGeom>
          <a:noFill/>
        </p:spPr>
        <p:txBody>
          <a:bodyPr wrap="square">
            <a:spAutoFit/>
          </a:bodyPr>
          <a:lstStyle/>
          <a:p>
            <a:pPr algn="l"/>
            <a:r>
              <a:rPr sz="1200" b="0" i="0">
                <a:solidFill>
                  <a:srgbClr val="2D7A3A"/>
                </a:solidFill>
              </a:rPr>
              <a:t>Ecosysteme mature, SLA 99.999%</a:t>
            </a:r>
          </a:p>
        </p:txBody>
      </p:sp>
      <p:pic>
        <p:nvPicPr>
          <p:cNvPr id="37" name="Picture 36" descr="check.png"/>
          <p:cNvPicPr>
            <a:picLocks noChangeAspect="1"/>
          </p:cNvPicPr>
          <p:nvPr/>
        </p:nvPicPr>
        <p:blipFill>
          <a:blip r:embed="rId6"/>
          <a:stretch>
            <a:fillRect/>
          </a:stretch>
        </p:blipFill>
        <p:spPr>
          <a:xfrm>
            <a:off x="6080760" y="4535424"/>
            <a:ext cx="292608" cy="292608"/>
          </a:xfrm>
          <a:prstGeom prst="rect">
            <a:avLst/>
          </a:prstGeom>
        </p:spPr>
      </p:pic>
      <p:sp>
        <p:nvSpPr>
          <p:cNvPr id="38" name="TextBox 37"/>
          <p:cNvSpPr txBox="1"/>
          <p:nvPr/>
        </p:nvSpPr>
        <p:spPr>
          <a:xfrm>
            <a:off x="6446520" y="4553712"/>
            <a:ext cx="5257800" cy="347472"/>
          </a:xfrm>
          <a:prstGeom prst="rect">
            <a:avLst/>
          </a:prstGeom>
          <a:noFill/>
        </p:spPr>
        <p:txBody>
          <a:bodyPr wrap="square">
            <a:spAutoFit/>
          </a:bodyPr>
          <a:lstStyle/>
          <a:p>
            <a:pPr algn="l"/>
            <a:r>
              <a:rPr sz="1200" b="0" i="0">
                <a:solidFill>
                  <a:srgbClr val="2D7A3A"/>
                </a:solidFill>
              </a:rPr>
              <a:t>Integration CloudFront CDN native</a:t>
            </a:r>
          </a:p>
        </p:txBody>
      </p:sp>
      <p:pic>
        <p:nvPicPr>
          <p:cNvPr id="39" name="Picture 38" descr="x-circle.png"/>
          <p:cNvPicPr>
            <a:picLocks noChangeAspect="1"/>
          </p:cNvPicPr>
          <p:nvPr/>
        </p:nvPicPr>
        <p:blipFill>
          <a:blip r:embed="rId8"/>
          <a:stretch>
            <a:fillRect/>
          </a:stretch>
        </p:blipFill>
        <p:spPr>
          <a:xfrm>
            <a:off x="6080760" y="4974336"/>
            <a:ext cx="292608" cy="292608"/>
          </a:xfrm>
          <a:prstGeom prst="rect">
            <a:avLst/>
          </a:prstGeom>
        </p:spPr>
      </p:pic>
      <p:sp>
        <p:nvSpPr>
          <p:cNvPr id="40" name="TextBox 39"/>
          <p:cNvSpPr txBox="1"/>
          <p:nvPr/>
        </p:nvSpPr>
        <p:spPr>
          <a:xfrm>
            <a:off x="6446520" y="4992624"/>
            <a:ext cx="5257800" cy="347472"/>
          </a:xfrm>
          <a:prstGeom prst="rect">
            <a:avLst/>
          </a:prstGeom>
          <a:noFill/>
        </p:spPr>
        <p:txBody>
          <a:bodyPr wrap="square">
            <a:spAutoFit/>
          </a:bodyPr>
          <a:lstStyle/>
          <a:p>
            <a:pPr algn="l"/>
            <a:r>
              <a:rPr sz="1200" b="0" i="0">
                <a:solidFill>
                  <a:srgbClr val="B91C1C"/>
                </a:solidFill>
              </a:rPr>
              <a:t>Frais de sortie de donnees (egress)</a:t>
            </a:r>
          </a:p>
        </p:txBody>
      </p:sp>
      <p:pic>
        <p:nvPicPr>
          <p:cNvPr id="41" name="Picture 40" descr="zap.png"/>
          <p:cNvPicPr>
            <a:picLocks noChangeAspect="1"/>
          </p:cNvPicPr>
          <p:nvPr/>
        </p:nvPicPr>
        <p:blipFill>
          <a:blip r:embed="rId9"/>
          <a:stretch>
            <a:fillRect/>
          </a:stretch>
        </p:blipFill>
        <p:spPr>
          <a:xfrm>
            <a:off x="6080760" y="5413248"/>
            <a:ext cx="292608" cy="292608"/>
          </a:xfrm>
          <a:prstGeom prst="rect">
            <a:avLst/>
          </a:prstGeom>
        </p:spPr>
      </p:pic>
      <p:sp>
        <p:nvSpPr>
          <p:cNvPr id="42" name="TextBox 41"/>
          <p:cNvSpPr txBox="1"/>
          <p:nvPr/>
        </p:nvSpPr>
        <p:spPr>
          <a:xfrm>
            <a:off x="6446520" y="5431536"/>
            <a:ext cx="5257800" cy="347472"/>
          </a:xfrm>
          <a:prstGeom prst="rect">
            <a:avLst/>
          </a:prstGeom>
          <a:noFill/>
        </p:spPr>
        <p:txBody>
          <a:bodyPr wrap="square">
            <a:spAutoFit/>
          </a:bodyPr>
          <a:lstStyle/>
          <a:p>
            <a:pPr algn="l"/>
            <a:r>
              <a:rPr sz="1200" b="0" i="0">
                <a:solidFill>
                  <a:srgbClr val="C9A84C"/>
                </a:solidFill>
              </a:rPr>
              <a:t>Migration : 0 ligne de code (meme API S3)</a:t>
            </a:r>
          </a:p>
        </p:txBody>
      </p:sp>
      <p:sp>
        <p:nvSpPr>
          <p:cNvPr id="43" name="Rectangle 42"/>
          <p:cNvSpPr/>
          <p:nvPr/>
        </p:nvSpPr>
        <p:spPr>
          <a:xfrm>
            <a:off x="347472" y="6172200"/>
            <a:ext cx="11475720" cy="3840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2920" y="6236208"/>
            <a:ext cx="11247120" cy="274320"/>
          </a:xfrm>
          <a:prstGeom prst="rect">
            <a:avLst/>
          </a:prstGeom>
          <a:noFill/>
        </p:spPr>
        <p:txBody>
          <a:bodyPr wrap="square">
            <a:spAutoFit/>
          </a:bodyPr>
          <a:lstStyle/>
          <a:p>
            <a:pPr algn="ctr"/>
            <a:r>
              <a:rPr sz="1200" b="1" i="0">
                <a:solidFill>
                  <a:srgbClr val="C9A84C"/>
                </a:solidFill>
              </a:rPr>
              <a:t>Le choix Cloudflare R2 vs AWS S3 est une decision de configuration, pas de code — l'API est identique.</a:t>
            </a:r>
          </a:p>
        </p:txBody>
      </p:sp>
      <p:sp>
        <p:nvSpPr>
          <p:cNvPr id="45" name="TextBox 44"/>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4</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7</a:t>
            </a:r>
            <a:r>
              <a:rPr sz="900" b="1" i="0" dirty="0">
                <a:solidFill>
                  <a:srgbClr val="1A1A2E"/>
                </a:solidFill>
              </a:rPr>
              <a:t> </a:t>
            </a:r>
            <a:r>
              <a:rPr lang="fr-FR" sz="900" b="1" i="0" dirty="0">
                <a:solidFill>
                  <a:srgbClr val="1A1A2E"/>
                </a:solidFill>
              </a:rPr>
              <a:t>-</a:t>
            </a:r>
            <a:r>
              <a:rPr sz="900" b="1" i="0" dirty="0">
                <a:solidFill>
                  <a:srgbClr val="1A1A2E"/>
                </a:solidFill>
              </a:rPr>
              <a:t> QUALITE</a:t>
            </a:r>
          </a:p>
        </p:txBody>
      </p:sp>
      <p:sp>
        <p:nvSpPr>
          <p:cNvPr id="5" name="TextBox 4"/>
          <p:cNvSpPr txBox="1"/>
          <p:nvPr/>
        </p:nvSpPr>
        <p:spPr>
          <a:xfrm>
            <a:off x="457200" y="640080"/>
            <a:ext cx="10058400" cy="685800"/>
          </a:xfrm>
          <a:prstGeom prst="rect">
            <a:avLst/>
          </a:prstGeom>
          <a:noFill/>
        </p:spPr>
        <p:txBody>
          <a:bodyPr wrap="square">
            <a:spAutoFit/>
          </a:bodyPr>
          <a:lstStyle/>
          <a:p>
            <a:pPr algn="l"/>
            <a:r>
              <a:rPr sz="2800" b="1" i="0">
                <a:solidFill>
                  <a:srgbClr val="FFFFFF"/>
                </a:solidFill>
              </a:rPr>
              <a:t>Qualite du code &amp; tests automatiques</a:t>
            </a:r>
          </a:p>
        </p:txBody>
      </p:sp>
      <p:sp>
        <p:nvSpPr>
          <p:cNvPr id="6" name="TextBox 5"/>
          <p:cNvSpPr txBox="1"/>
          <p:nvPr/>
        </p:nvSpPr>
        <p:spPr>
          <a:xfrm>
            <a:off x="457200" y="1463040"/>
            <a:ext cx="11338560" cy="323165"/>
          </a:xfrm>
          <a:prstGeom prst="rect">
            <a:avLst/>
          </a:prstGeom>
          <a:noFill/>
        </p:spPr>
        <p:txBody>
          <a:bodyPr wrap="square">
            <a:spAutoFit/>
          </a:bodyPr>
          <a:lstStyle/>
          <a:p>
            <a:pPr algn="l"/>
            <a:r>
              <a:rPr sz="1500" b="0" i="0" dirty="0">
                <a:solidFill>
                  <a:srgbClr val="F4F4F8"/>
                </a:solidFill>
              </a:rPr>
              <a:t>60+ tests </a:t>
            </a:r>
            <a:r>
              <a:rPr sz="1500" b="0" i="0" dirty="0" err="1">
                <a:solidFill>
                  <a:srgbClr val="F4F4F8"/>
                </a:solidFill>
              </a:rPr>
              <a:t>unitaires</a:t>
            </a:r>
            <a:r>
              <a:rPr sz="1500" b="0" i="0" dirty="0">
                <a:solidFill>
                  <a:srgbClr val="F4F4F8"/>
                </a:solidFill>
              </a:rPr>
              <a:t> </a:t>
            </a:r>
            <a:r>
              <a:rPr lang="fr-FR" sz="1500" b="0" i="0" dirty="0">
                <a:solidFill>
                  <a:srgbClr val="F4F4F8"/>
                </a:solidFill>
              </a:rPr>
              <a:t>-</a:t>
            </a:r>
            <a:r>
              <a:rPr sz="1500" b="0" i="0" dirty="0">
                <a:solidFill>
                  <a:srgbClr val="F4F4F8"/>
                </a:solidFill>
              </a:rPr>
              <a:t> </a:t>
            </a:r>
            <a:r>
              <a:rPr sz="1500" b="0" i="0" dirty="0" err="1">
                <a:solidFill>
                  <a:srgbClr val="F4F4F8"/>
                </a:solidFill>
              </a:rPr>
              <a:t>chaque</a:t>
            </a:r>
            <a:r>
              <a:rPr sz="1500" b="0" i="0" dirty="0">
                <a:solidFill>
                  <a:srgbClr val="F4F4F8"/>
                </a:solidFill>
              </a:rPr>
              <a:t> service </a:t>
            </a:r>
            <a:r>
              <a:rPr sz="1500" b="0" i="0" dirty="0" err="1">
                <a:solidFill>
                  <a:srgbClr val="F4F4F8"/>
                </a:solidFill>
              </a:rPr>
              <a:t>metier</a:t>
            </a:r>
            <a:r>
              <a:rPr sz="1500" b="0" i="0" dirty="0">
                <a:solidFill>
                  <a:srgbClr val="F4F4F8"/>
                </a:solidFill>
              </a:rPr>
              <a:t> est teste </a:t>
            </a:r>
            <a:r>
              <a:rPr sz="1500" b="0" i="0" dirty="0" err="1">
                <a:solidFill>
                  <a:srgbClr val="F4F4F8"/>
                </a:solidFill>
              </a:rPr>
              <a:t>independamment</a:t>
            </a:r>
            <a:r>
              <a:rPr sz="1500" b="0" i="0" dirty="0">
                <a:solidFill>
                  <a:srgbClr val="F4F4F8"/>
                </a:solidFill>
              </a:rPr>
              <a:t>.</a:t>
            </a:r>
          </a:p>
        </p:txBody>
      </p:sp>
      <p:sp>
        <p:nvSpPr>
          <p:cNvPr id="7" name="Rectangle 6"/>
          <p:cNvSpPr/>
          <p:nvPr/>
        </p:nvSpPr>
        <p:spPr>
          <a:xfrm>
            <a:off x="347472" y="2011680"/>
            <a:ext cx="5669280" cy="20574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2011680"/>
            <a:ext cx="5669280" cy="54864"/>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x-circle.png"/>
          <p:cNvPicPr>
            <a:picLocks noChangeAspect="1"/>
          </p:cNvPicPr>
          <p:nvPr/>
        </p:nvPicPr>
        <p:blipFill>
          <a:blip r:embed="rId3"/>
          <a:stretch>
            <a:fillRect/>
          </a:stretch>
        </p:blipFill>
        <p:spPr>
          <a:xfrm>
            <a:off x="484632" y="2121408"/>
            <a:ext cx="457200" cy="457200"/>
          </a:xfrm>
          <a:prstGeom prst="rect">
            <a:avLst/>
          </a:prstGeom>
        </p:spPr>
      </p:pic>
      <p:sp>
        <p:nvSpPr>
          <p:cNvPr id="10" name="TextBox 9"/>
          <p:cNvSpPr txBox="1"/>
          <p:nvPr/>
        </p:nvSpPr>
        <p:spPr>
          <a:xfrm>
            <a:off x="1097280" y="2148840"/>
            <a:ext cx="4800600" cy="384048"/>
          </a:xfrm>
          <a:prstGeom prst="rect">
            <a:avLst/>
          </a:prstGeom>
          <a:noFill/>
        </p:spPr>
        <p:txBody>
          <a:bodyPr wrap="square">
            <a:spAutoFit/>
          </a:bodyPr>
          <a:lstStyle/>
          <a:p>
            <a:pPr algn="l"/>
            <a:r>
              <a:rPr sz="1300" b="1" i="0">
                <a:solidFill>
                  <a:srgbClr val="B91C1C"/>
                </a:solidFill>
              </a:rPr>
              <a:t>Ce qu'on ne PEUT PAS faire</a:t>
            </a:r>
          </a:p>
        </p:txBody>
      </p:sp>
      <p:sp>
        <p:nvSpPr>
          <p:cNvPr id="11" name="TextBox 10"/>
          <p:cNvSpPr txBox="1"/>
          <p:nvPr/>
        </p:nvSpPr>
        <p:spPr>
          <a:xfrm>
            <a:off x="484632" y="2633472"/>
            <a:ext cx="5394960" cy="301752"/>
          </a:xfrm>
          <a:prstGeom prst="rect">
            <a:avLst/>
          </a:prstGeom>
          <a:noFill/>
        </p:spPr>
        <p:txBody>
          <a:bodyPr wrap="square">
            <a:spAutoFit/>
          </a:bodyPr>
          <a:lstStyle/>
          <a:p>
            <a:pPr algn="l"/>
            <a:r>
              <a:rPr sz="1100" b="0" i="0">
                <a:solidFill>
                  <a:srgbClr val="F4F4F8"/>
                </a:solidFill>
              </a:rPr>
              <a:t>  Creer deux fois le meme diplome (meme PDF)</a:t>
            </a:r>
          </a:p>
        </p:txBody>
      </p:sp>
      <p:sp>
        <p:nvSpPr>
          <p:cNvPr id="12" name="TextBox 11"/>
          <p:cNvSpPr txBox="1"/>
          <p:nvPr/>
        </p:nvSpPr>
        <p:spPr>
          <a:xfrm>
            <a:off x="484632" y="2962656"/>
            <a:ext cx="5394960" cy="301752"/>
          </a:xfrm>
          <a:prstGeom prst="rect">
            <a:avLst/>
          </a:prstGeom>
          <a:noFill/>
        </p:spPr>
        <p:txBody>
          <a:bodyPr wrap="square">
            <a:spAutoFit/>
          </a:bodyPr>
          <a:lstStyle/>
          <a:p>
            <a:pPr algn="l"/>
            <a:r>
              <a:rPr sz="1100" b="0" i="0">
                <a:solidFill>
                  <a:srgbClr val="F4F4F8"/>
                </a:solidFill>
              </a:rPr>
              <a:t>  Valider sans avoir uploade un PDF</a:t>
            </a:r>
          </a:p>
        </p:txBody>
      </p:sp>
      <p:sp>
        <p:nvSpPr>
          <p:cNvPr id="13" name="TextBox 12"/>
          <p:cNvSpPr txBox="1"/>
          <p:nvPr/>
        </p:nvSpPr>
        <p:spPr>
          <a:xfrm>
            <a:off x="484632" y="3291840"/>
            <a:ext cx="5394960" cy="301752"/>
          </a:xfrm>
          <a:prstGeom prst="rect">
            <a:avLst/>
          </a:prstGeom>
          <a:noFill/>
        </p:spPr>
        <p:txBody>
          <a:bodyPr wrap="square">
            <a:spAutoFit/>
          </a:bodyPr>
          <a:lstStyle/>
          <a:p>
            <a:pPr algn="l"/>
            <a:r>
              <a:rPr sz="1100" b="0" i="0">
                <a:solidFill>
                  <a:srgbClr val="F4F4F8"/>
                </a:solidFill>
              </a:rPr>
              <a:t>  Voir les diplomes d'une autre universite</a:t>
            </a:r>
          </a:p>
        </p:txBody>
      </p:sp>
      <p:sp>
        <p:nvSpPr>
          <p:cNvPr id="14" name="TextBox 13"/>
          <p:cNvSpPr txBox="1"/>
          <p:nvPr/>
        </p:nvSpPr>
        <p:spPr>
          <a:xfrm>
            <a:off x="484632" y="3621024"/>
            <a:ext cx="5394960" cy="301752"/>
          </a:xfrm>
          <a:prstGeom prst="rect">
            <a:avLst/>
          </a:prstGeom>
          <a:noFill/>
        </p:spPr>
        <p:txBody>
          <a:bodyPr wrap="square">
            <a:spAutoFit/>
          </a:bodyPr>
          <a:lstStyle/>
          <a:p>
            <a:pPr algn="l"/>
            <a:r>
              <a:rPr sz="1100" b="0" i="0">
                <a:solidFill>
                  <a:srgbClr val="F4F4F8"/>
                </a:solidFill>
              </a:rPr>
              <a:t>  Se connecter apres 5 echecs (15 min de blocage)</a:t>
            </a:r>
          </a:p>
        </p:txBody>
      </p:sp>
      <p:sp>
        <p:nvSpPr>
          <p:cNvPr id="15" name="Rectangle 14"/>
          <p:cNvSpPr/>
          <p:nvPr/>
        </p:nvSpPr>
        <p:spPr>
          <a:xfrm>
            <a:off x="6291072" y="2011680"/>
            <a:ext cx="5669280" cy="20574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91072" y="2011680"/>
            <a:ext cx="5669280" cy="54864"/>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heck-circle.png"/>
          <p:cNvPicPr>
            <a:picLocks noChangeAspect="1"/>
          </p:cNvPicPr>
          <p:nvPr/>
        </p:nvPicPr>
        <p:blipFill>
          <a:blip r:embed="rId4"/>
          <a:stretch>
            <a:fillRect/>
          </a:stretch>
        </p:blipFill>
        <p:spPr>
          <a:xfrm>
            <a:off x="6428232" y="2121408"/>
            <a:ext cx="457200" cy="457200"/>
          </a:xfrm>
          <a:prstGeom prst="rect">
            <a:avLst/>
          </a:prstGeom>
        </p:spPr>
      </p:pic>
      <p:sp>
        <p:nvSpPr>
          <p:cNvPr id="18" name="TextBox 17"/>
          <p:cNvSpPr txBox="1"/>
          <p:nvPr/>
        </p:nvSpPr>
        <p:spPr>
          <a:xfrm>
            <a:off x="7040880" y="2148840"/>
            <a:ext cx="4800600" cy="384048"/>
          </a:xfrm>
          <a:prstGeom prst="rect">
            <a:avLst/>
          </a:prstGeom>
          <a:noFill/>
        </p:spPr>
        <p:txBody>
          <a:bodyPr wrap="square">
            <a:spAutoFit/>
          </a:bodyPr>
          <a:lstStyle/>
          <a:p>
            <a:pPr algn="l"/>
            <a:r>
              <a:rPr sz="1300" b="1" i="0">
                <a:solidFill>
                  <a:srgbClr val="2D7A3A"/>
                </a:solidFill>
              </a:rPr>
              <a:t>Ce qu'on peut TOUJOURS faire</a:t>
            </a:r>
          </a:p>
        </p:txBody>
      </p:sp>
      <p:sp>
        <p:nvSpPr>
          <p:cNvPr id="19" name="TextBox 18"/>
          <p:cNvSpPr txBox="1"/>
          <p:nvPr/>
        </p:nvSpPr>
        <p:spPr>
          <a:xfrm>
            <a:off x="6428232" y="2633472"/>
            <a:ext cx="5394960" cy="301752"/>
          </a:xfrm>
          <a:prstGeom prst="rect">
            <a:avLst/>
          </a:prstGeom>
          <a:noFill/>
        </p:spPr>
        <p:txBody>
          <a:bodyPr wrap="square">
            <a:spAutoFit/>
          </a:bodyPr>
          <a:lstStyle/>
          <a:p>
            <a:pPr algn="l"/>
            <a:r>
              <a:rPr sz="1100" b="0" i="0">
                <a:solidFill>
                  <a:srgbClr val="F4F4F8"/>
                </a:solidFill>
              </a:rPr>
              <a:t>  Verifier n'importe quel diplome sans compte</a:t>
            </a:r>
          </a:p>
        </p:txBody>
      </p:sp>
      <p:sp>
        <p:nvSpPr>
          <p:cNvPr id="20" name="TextBox 19"/>
          <p:cNvSpPr txBox="1"/>
          <p:nvPr/>
        </p:nvSpPr>
        <p:spPr>
          <a:xfrm>
            <a:off x="6428232" y="2962656"/>
            <a:ext cx="5394960" cy="301752"/>
          </a:xfrm>
          <a:prstGeom prst="rect">
            <a:avLst/>
          </a:prstGeom>
          <a:noFill/>
        </p:spPr>
        <p:txBody>
          <a:bodyPr wrap="square">
            <a:spAutoFit/>
          </a:bodyPr>
          <a:lstStyle/>
          <a:p>
            <a:pPr algn="l"/>
            <a:r>
              <a:rPr sz="1100" b="0" i="0">
                <a:solidFill>
                  <a:srgbClr val="F4F4F8"/>
                </a:solidFill>
              </a:rPr>
              <a:t>  Telecharger le rapport PDF de verification</a:t>
            </a:r>
          </a:p>
        </p:txBody>
      </p:sp>
      <p:sp>
        <p:nvSpPr>
          <p:cNvPr id="21" name="TextBox 20"/>
          <p:cNvSpPr txBox="1"/>
          <p:nvPr/>
        </p:nvSpPr>
        <p:spPr>
          <a:xfrm>
            <a:off x="6428232" y="3291840"/>
            <a:ext cx="5394960" cy="301752"/>
          </a:xfrm>
          <a:prstGeom prst="rect">
            <a:avLst/>
          </a:prstGeom>
          <a:noFill/>
        </p:spPr>
        <p:txBody>
          <a:bodyPr wrap="square">
            <a:spAutoFit/>
          </a:bodyPr>
          <a:lstStyle/>
          <a:p>
            <a:pPr algn="l"/>
            <a:r>
              <a:rPr sz="1100" b="0" i="0">
                <a:solidFill>
                  <a:srgbClr val="F4F4F8"/>
                </a:solidFill>
              </a:rPr>
              <a:t>  Scanner le QR code depuis un mobile</a:t>
            </a:r>
          </a:p>
        </p:txBody>
      </p:sp>
      <p:sp>
        <p:nvSpPr>
          <p:cNvPr id="22" name="TextBox 21"/>
          <p:cNvSpPr txBox="1"/>
          <p:nvPr/>
        </p:nvSpPr>
        <p:spPr>
          <a:xfrm>
            <a:off x="6428232" y="3621024"/>
            <a:ext cx="5394960" cy="301752"/>
          </a:xfrm>
          <a:prstGeom prst="rect">
            <a:avLst/>
          </a:prstGeom>
          <a:noFill/>
        </p:spPr>
        <p:txBody>
          <a:bodyPr wrap="square">
            <a:spAutoFit/>
          </a:bodyPr>
          <a:lstStyle/>
          <a:p>
            <a:pPr algn="l"/>
            <a:r>
              <a:rPr sz="1100" b="0" i="0">
                <a:solidFill>
                  <a:srgbClr val="F4F4F8"/>
                </a:solidFill>
              </a:rPr>
              <a:t>  Consulter l'historique complet des actions</a:t>
            </a:r>
          </a:p>
        </p:txBody>
      </p:sp>
      <p:sp>
        <p:nvSpPr>
          <p:cNvPr id="23" name="Rectangle 22"/>
          <p:cNvSpPr/>
          <p:nvPr/>
        </p:nvSpPr>
        <p:spPr>
          <a:xfrm>
            <a:off x="347472" y="4251960"/>
            <a:ext cx="5669280" cy="20574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47472" y="4251960"/>
            <a:ext cx="566928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code.png"/>
          <p:cNvPicPr>
            <a:picLocks noChangeAspect="1"/>
          </p:cNvPicPr>
          <p:nvPr/>
        </p:nvPicPr>
        <p:blipFill>
          <a:blip r:embed="rId5"/>
          <a:stretch>
            <a:fillRect/>
          </a:stretch>
        </p:blipFill>
        <p:spPr>
          <a:xfrm>
            <a:off x="484632" y="4361688"/>
            <a:ext cx="457200" cy="457200"/>
          </a:xfrm>
          <a:prstGeom prst="rect">
            <a:avLst/>
          </a:prstGeom>
        </p:spPr>
      </p:pic>
      <p:sp>
        <p:nvSpPr>
          <p:cNvPr id="26" name="TextBox 25"/>
          <p:cNvSpPr txBox="1"/>
          <p:nvPr/>
        </p:nvSpPr>
        <p:spPr>
          <a:xfrm>
            <a:off x="1097280" y="4389120"/>
            <a:ext cx="4800600" cy="384048"/>
          </a:xfrm>
          <a:prstGeom prst="rect">
            <a:avLst/>
          </a:prstGeom>
          <a:noFill/>
        </p:spPr>
        <p:txBody>
          <a:bodyPr wrap="square">
            <a:spAutoFit/>
          </a:bodyPr>
          <a:lstStyle/>
          <a:p>
            <a:pPr algn="l"/>
            <a:r>
              <a:rPr sz="1300" b="1" i="0">
                <a:solidFill>
                  <a:srgbClr val="C9A84C"/>
                </a:solidFill>
              </a:rPr>
              <a:t>Garanties du code</a:t>
            </a:r>
          </a:p>
        </p:txBody>
      </p:sp>
      <p:sp>
        <p:nvSpPr>
          <p:cNvPr id="27" name="TextBox 26"/>
          <p:cNvSpPr txBox="1"/>
          <p:nvPr/>
        </p:nvSpPr>
        <p:spPr>
          <a:xfrm>
            <a:off x="484632" y="4873752"/>
            <a:ext cx="5394960" cy="301752"/>
          </a:xfrm>
          <a:prstGeom prst="rect">
            <a:avLst/>
          </a:prstGeom>
          <a:noFill/>
        </p:spPr>
        <p:txBody>
          <a:bodyPr wrap="square">
            <a:spAutoFit/>
          </a:bodyPr>
          <a:lstStyle/>
          <a:p>
            <a:pPr algn="l"/>
            <a:r>
              <a:rPr sz="1100" b="0" i="0">
                <a:solidFill>
                  <a:srgbClr val="F4F4F8"/>
                </a:solidFill>
              </a:rPr>
              <a:t>  TypeScript strict — 0 erreur de type</a:t>
            </a:r>
          </a:p>
        </p:txBody>
      </p:sp>
      <p:sp>
        <p:nvSpPr>
          <p:cNvPr id="28" name="TextBox 27"/>
          <p:cNvSpPr txBox="1"/>
          <p:nvPr/>
        </p:nvSpPr>
        <p:spPr>
          <a:xfrm>
            <a:off x="484632" y="5202936"/>
            <a:ext cx="5394960" cy="301752"/>
          </a:xfrm>
          <a:prstGeom prst="rect">
            <a:avLst/>
          </a:prstGeom>
          <a:noFill/>
        </p:spPr>
        <p:txBody>
          <a:bodyPr wrap="square">
            <a:spAutoFit/>
          </a:bodyPr>
          <a:lstStyle/>
          <a:p>
            <a:pPr algn="l"/>
            <a:r>
              <a:rPr sz="1100" b="0" i="0">
                <a:solidFill>
                  <a:srgbClr val="F4F4F8"/>
                </a:solidFill>
              </a:rPr>
              <a:t>  Validation des donnees a chaque entree API</a:t>
            </a:r>
          </a:p>
        </p:txBody>
      </p:sp>
      <p:sp>
        <p:nvSpPr>
          <p:cNvPr id="29" name="TextBox 28"/>
          <p:cNvSpPr txBox="1"/>
          <p:nvPr/>
        </p:nvSpPr>
        <p:spPr>
          <a:xfrm>
            <a:off x="484632" y="5532120"/>
            <a:ext cx="5394960" cy="301752"/>
          </a:xfrm>
          <a:prstGeom prst="rect">
            <a:avLst/>
          </a:prstGeom>
          <a:noFill/>
        </p:spPr>
        <p:txBody>
          <a:bodyPr wrap="square">
            <a:spAutoFit/>
          </a:bodyPr>
          <a:lstStyle/>
          <a:p>
            <a:pPr algn="l"/>
            <a:r>
              <a:rPr sz="1100" b="0" i="0">
                <a:solidFill>
                  <a:srgbClr val="F4F4F8"/>
                </a:solidFill>
              </a:rPr>
              <a:t>  Journal d'audit sur toute modification</a:t>
            </a:r>
          </a:p>
        </p:txBody>
      </p:sp>
      <p:sp>
        <p:nvSpPr>
          <p:cNvPr id="30" name="TextBox 29"/>
          <p:cNvSpPr txBox="1"/>
          <p:nvPr/>
        </p:nvSpPr>
        <p:spPr>
          <a:xfrm>
            <a:off x="484632" y="5861304"/>
            <a:ext cx="5394960" cy="301752"/>
          </a:xfrm>
          <a:prstGeom prst="rect">
            <a:avLst/>
          </a:prstGeom>
          <a:noFill/>
        </p:spPr>
        <p:txBody>
          <a:bodyPr wrap="square">
            <a:spAutoFit/>
          </a:bodyPr>
          <a:lstStyle/>
          <a:p>
            <a:pPr algn="l"/>
            <a:r>
              <a:rPr sz="1100" b="0" i="0">
                <a:solidFill>
                  <a:srgbClr val="F4F4F8"/>
                </a:solidFill>
              </a:rPr>
              <a:t>  Secrets jamais codes en dur (fichier .env)</a:t>
            </a:r>
          </a:p>
        </p:txBody>
      </p:sp>
      <p:sp>
        <p:nvSpPr>
          <p:cNvPr id="31" name="Rectangle 30"/>
          <p:cNvSpPr/>
          <p:nvPr/>
        </p:nvSpPr>
        <p:spPr>
          <a:xfrm>
            <a:off x="6291072" y="4251960"/>
            <a:ext cx="5669280" cy="20574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91072" y="4251960"/>
            <a:ext cx="5669280" cy="54864"/>
          </a:xfrm>
          <a:prstGeom prst="rect">
            <a:avLst/>
          </a:prstGeom>
          <a:solidFill>
            <a:srgbClr val="22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server.png"/>
          <p:cNvPicPr>
            <a:picLocks noChangeAspect="1"/>
          </p:cNvPicPr>
          <p:nvPr/>
        </p:nvPicPr>
        <p:blipFill>
          <a:blip r:embed="rId6"/>
          <a:stretch>
            <a:fillRect/>
          </a:stretch>
        </p:blipFill>
        <p:spPr>
          <a:xfrm>
            <a:off x="6428232" y="4361688"/>
            <a:ext cx="457200" cy="457200"/>
          </a:xfrm>
          <a:prstGeom prst="rect">
            <a:avLst/>
          </a:prstGeom>
        </p:spPr>
      </p:pic>
      <p:sp>
        <p:nvSpPr>
          <p:cNvPr id="34" name="TextBox 33"/>
          <p:cNvSpPr txBox="1"/>
          <p:nvPr/>
        </p:nvSpPr>
        <p:spPr>
          <a:xfrm>
            <a:off x="7040880" y="4389120"/>
            <a:ext cx="4800600" cy="384048"/>
          </a:xfrm>
          <a:prstGeom prst="rect">
            <a:avLst/>
          </a:prstGeom>
          <a:noFill/>
        </p:spPr>
        <p:txBody>
          <a:bodyPr wrap="square">
            <a:spAutoFit/>
          </a:bodyPr>
          <a:lstStyle/>
          <a:p>
            <a:pPr algn="l"/>
            <a:r>
              <a:rPr sz="1300" b="1" i="0">
                <a:solidFill>
                  <a:srgbClr val="225C8A"/>
                </a:solidFill>
              </a:rPr>
              <a:t>Environnement maitrise</a:t>
            </a:r>
          </a:p>
        </p:txBody>
      </p:sp>
      <p:sp>
        <p:nvSpPr>
          <p:cNvPr id="35" name="TextBox 34"/>
          <p:cNvSpPr txBox="1"/>
          <p:nvPr/>
        </p:nvSpPr>
        <p:spPr>
          <a:xfrm>
            <a:off x="6428232" y="4873752"/>
            <a:ext cx="5394960" cy="301752"/>
          </a:xfrm>
          <a:prstGeom prst="rect">
            <a:avLst/>
          </a:prstGeom>
          <a:noFill/>
        </p:spPr>
        <p:txBody>
          <a:bodyPr wrap="square">
            <a:spAutoFit/>
          </a:bodyPr>
          <a:lstStyle/>
          <a:p>
            <a:pPr algn="l"/>
            <a:r>
              <a:rPr sz="1100" b="0" i="0">
                <a:solidFill>
                  <a:srgbClr val="F4F4F8"/>
                </a:solidFill>
              </a:rPr>
              <a:t>  Docker : meme config dev et production</a:t>
            </a:r>
          </a:p>
        </p:txBody>
      </p:sp>
      <p:sp>
        <p:nvSpPr>
          <p:cNvPr id="36" name="TextBox 35"/>
          <p:cNvSpPr txBox="1"/>
          <p:nvPr/>
        </p:nvSpPr>
        <p:spPr>
          <a:xfrm>
            <a:off x="6428232" y="5202936"/>
            <a:ext cx="5394960" cy="301752"/>
          </a:xfrm>
          <a:prstGeom prst="rect">
            <a:avLst/>
          </a:prstGeom>
          <a:noFill/>
        </p:spPr>
        <p:txBody>
          <a:bodyPr wrap="square">
            <a:spAutoFit/>
          </a:bodyPr>
          <a:lstStyle/>
          <a:p>
            <a:pPr algn="l"/>
            <a:r>
              <a:rPr sz="1100" b="0" i="0">
                <a:solidFill>
                  <a:srgbClr val="F4F4F8"/>
                </a:solidFill>
              </a:rPr>
              <a:t>  Migrations Prisma versionnees et rejouables</a:t>
            </a:r>
          </a:p>
        </p:txBody>
      </p:sp>
      <p:sp>
        <p:nvSpPr>
          <p:cNvPr id="37" name="TextBox 36"/>
          <p:cNvSpPr txBox="1"/>
          <p:nvPr/>
        </p:nvSpPr>
        <p:spPr>
          <a:xfrm>
            <a:off x="6428232" y="5532120"/>
            <a:ext cx="5394960" cy="301752"/>
          </a:xfrm>
          <a:prstGeom prst="rect">
            <a:avLst/>
          </a:prstGeom>
          <a:noFill/>
        </p:spPr>
        <p:txBody>
          <a:bodyPr wrap="square">
            <a:spAutoFit/>
          </a:bodyPr>
          <a:lstStyle/>
          <a:p>
            <a:pPr algn="l"/>
            <a:r>
              <a:rPr sz="1100" b="0" i="0">
                <a:solidFill>
                  <a:srgbClr val="F4F4F8"/>
                </a:solidFill>
              </a:rPr>
              <a:t>  Variables d'env documentees dans .env.example</a:t>
            </a:r>
          </a:p>
        </p:txBody>
      </p:sp>
      <p:sp>
        <p:nvSpPr>
          <p:cNvPr id="38" name="TextBox 37"/>
          <p:cNvSpPr txBox="1"/>
          <p:nvPr/>
        </p:nvSpPr>
        <p:spPr>
          <a:xfrm>
            <a:off x="6428232" y="5861304"/>
            <a:ext cx="5394960" cy="301752"/>
          </a:xfrm>
          <a:prstGeom prst="rect">
            <a:avLst/>
          </a:prstGeom>
          <a:noFill/>
        </p:spPr>
        <p:txBody>
          <a:bodyPr wrap="square">
            <a:spAutoFit/>
          </a:bodyPr>
          <a:lstStyle/>
          <a:p>
            <a:pPr algn="l"/>
            <a:r>
              <a:rPr sz="1100" b="0" i="0">
                <a:solidFill>
                  <a:srgbClr val="F4F4F8"/>
                </a:solidFill>
              </a:rPr>
              <a:t>  Swagger : contrat API toujours a jour</a:t>
            </a:r>
          </a:p>
        </p:txBody>
      </p:sp>
      <p:sp>
        <p:nvSpPr>
          <p:cNvPr id="39" name="TextBox 38"/>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5</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4AF97-B050-5F27-350C-8ADA7CF816F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375C325-80E3-2231-7F22-16222F9427A1}"/>
              </a:ext>
            </a:extLst>
          </p:cNvPr>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2177067-FE9D-A521-3F44-3FB1D5607275}"/>
              </a:ext>
            </a:extLst>
          </p:cNvPr>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9CAA3DF9-0855-DD41-4F7E-238B8300A044}"/>
              </a:ext>
            </a:extLst>
          </p:cNvPr>
          <p:cNvSpPr/>
          <p:nvPr/>
        </p:nvSpPr>
        <p:spPr>
          <a:xfrm>
            <a:off x="320039" y="201168"/>
            <a:ext cx="2511374" cy="2399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8A8964D-50AD-C044-1109-A57380A48C90}"/>
              </a:ext>
            </a:extLst>
          </p:cNvPr>
          <p:cNvSpPr txBox="1"/>
          <p:nvPr/>
        </p:nvSpPr>
        <p:spPr>
          <a:xfrm>
            <a:off x="393191" y="210312"/>
            <a:ext cx="2511374" cy="230832"/>
          </a:xfrm>
          <a:prstGeom prst="rect">
            <a:avLst/>
          </a:prstGeom>
          <a:noFill/>
        </p:spPr>
        <p:txBody>
          <a:bodyPr wrap="square">
            <a:spAutoFit/>
          </a:bodyPr>
          <a:lstStyle/>
          <a:p>
            <a:r>
              <a:rPr sz="900" b="1" i="0" dirty="0">
                <a:solidFill>
                  <a:srgbClr val="1A1A2E"/>
                </a:solidFill>
              </a:rPr>
              <a:t>0</a:t>
            </a:r>
            <a:r>
              <a:rPr lang="fr-FR" sz="900" b="1" i="0" dirty="0">
                <a:solidFill>
                  <a:srgbClr val="1A1A2E"/>
                </a:solidFill>
              </a:rPr>
              <a:t>8</a:t>
            </a:r>
            <a:r>
              <a:rPr sz="900" b="1" i="0" dirty="0">
                <a:solidFill>
                  <a:srgbClr val="1A1A2E"/>
                </a:solidFill>
              </a:rPr>
              <a:t> </a:t>
            </a:r>
            <a:r>
              <a:rPr lang="fr-FR" sz="900" b="1" i="0" dirty="0">
                <a:solidFill>
                  <a:srgbClr val="1A1A2E"/>
                </a:solidFill>
              </a:rPr>
              <a:t>-</a:t>
            </a:r>
            <a:r>
              <a:rPr sz="900" b="1" i="0" dirty="0">
                <a:solidFill>
                  <a:srgbClr val="1A1A2E"/>
                </a:solidFill>
              </a:rPr>
              <a:t> </a:t>
            </a:r>
            <a:r>
              <a:rPr lang="fr-CM" sz="900" dirty="0"/>
              <a:t>PLANIFICATION &amp; AVANCEMENT DU PROJET</a:t>
            </a:r>
            <a:endParaRPr sz="900" b="1" i="0" dirty="0">
              <a:solidFill>
                <a:srgbClr val="1A1A2E"/>
              </a:solidFill>
            </a:endParaRPr>
          </a:p>
        </p:txBody>
      </p:sp>
      <p:sp>
        <p:nvSpPr>
          <p:cNvPr id="6" name="TextBox 5">
            <a:extLst>
              <a:ext uri="{FF2B5EF4-FFF2-40B4-BE49-F238E27FC236}">
                <a16:creationId xmlns:a16="http://schemas.microsoft.com/office/drawing/2014/main" id="{66C60829-594E-91E7-34B3-341088C2993C}"/>
              </a:ext>
            </a:extLst>
          </p:cNvPr>
          <p:cNvSpPr txBox="1"/>
          <p:nvPr/>
        </p:nvSpPr>
        <p:spPr>
          <a:xfrm>
            <a:off x="201167" y="576072"/>
            <a:ext cx="10475797" cy="523220"/>
          </a:xfrm>
          <a:prstGeom prst="rect">
            <a:avLst/>
          </a:prstGeom>
          <a:noFill/>
        </p:spPr>
        <p:txBody>
          <a:bodyPr wrap="square">
            <a:spAutoFit/>
          </a:bodyPr>
          <a:lstStyle/>
          <a:p>
            <a:r>
              <a:rPr lang="fr-CM" sz="2800" b="1" dirty="0">
                <a:solidFill>
                  <a:schemeClr val="bg1"/>
                </a:solidFill>
              </a:rPr>
              <a:t>Géré via GitHub </a:t>
            </a:r>
            <a:r>
              <a:rPr lang="fr-CM" sz="2800" b="1" dirty="0" err="1">
                <a:solidFill>
                  <a:schemeClr val="bg1"/>
                </a:solidFill>
              </a:rPr>
              <a:t>Projects</a:t>
            </a:r>
            <a:r>
              <a:rPr lang="fr-CM" sz="2800" b="1" dirty="0">
                <a:solidFill>
                  <a:schemeClr val="bg1"/>
                </a:solidFill>
              </a:rPr>
              <a:t> - 69 issues, 8 </a:t>
            </a:r>
            <a:r>
              <a:rPr lang="fr-CM" sz="2800" b="1" dirty="0" err="1">
                <a:solidFill>
                  <a:schemeClr val="bg1"/>
                </a:solidFill>
              </a:rPr>
              <a:t>milestones</a:t>
            </a:r>
            <a:r>
              <a:rPr lang="fr-CM" sz="2800" b="1" dirty="0">
                <a:solidFill>
                  <a:schemeClr val="bg1"/>
                </a:solidFill>
              </a:rPr>
              <a:t>, 2 développeurs</a:t>
            </a:r>
            <a:endParaRPr sz="2800" b="1" i="0" dirty="0">
              <a:solidFill>
                <a:schemeClr val="bg1"/>
              </a:solidFill>
            </a:endParaRPr>
          </a:p>
        </p:txBody>
      </p:sp>
      <p:sp>
        <p:nvSpPr>
          <p:cNvPr id="49" name="TextBox 48">
            <a:extLst>
              <a:ext uri="{FF2B5EF4-FFF2-40B4-BE49-F238E27FC236}">
                <a16:creationId xmlns:a16="http://schemas.microsoft.com/office/drawing/2014/main" id="{0BBFD64C-BC5B-E8A7-815F-245E389963D7}"/>
              </a:ext>
            </a:extLst>
          </p:cNvPr>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16 / 2</a:t>
            </a:r>
            <a:r>
              <a:rPr lang="fr-FR" sz="900" b="0" i="0" dirty="0">
                <a:solidFill>
                  <a:srgbClr val="C9A84C"/>
                </a:solidFill>
              </a:rPr>
              <a:t>4</a:t>
            </a:r>
            <a:endParaRPr sz="900" b="0" i="0" dirty="0">
              <a:solidFill>
                <a:srgbClr val="C9A84C"/>
              </a:solidFill>
            </a:endParaRPr>
          </a:p>
        </p:txBody>
      </p:sp>
      <p:pic>
        <p:nvPicPr>
          <p:cNvPr id="50" name="Image 49">
            <a:extLst>
              <a:ext uri="{FF2B5EF4-FFF2-40B4-BE49-F238E27FC236}">
                <a16:creationId xmlns:a16="http://schemas.microsoft.com/office/drawing/2014/main" id="{57A3F4C9-1516-C6A8-804C-1BF1A18376E4}"/>
              </a:ext>
            </a:extLst>
          </p:cNvPr>
          <p:cNvPicPr>
            <a:picLocks noChangeAspect="1"/>
          </p:cNvPicPr>
          <p:nvPr/>
        </p:nvPicPr>
        <p:blipFill>
          <a:blip r:embed="rId3"/>
          <a:stretch>
            <a:fillRect/>
          </a:stretch>
        </p:blipFill>
        <p:spPr>
          <a:xfrm>
            <a:off x="201168" y="1197864"/>
            <a:ext cx="11173967" cy="5586984"/>
          </a:xfrm>
          <a:prstGeom prst="rect">
            <a:avLst/>
          </a:prstGeom>
        </p:spPr>
      </p:pic>
    </p:spTree>
    <p:extLst>
      <p:ext uri="{BB962C8B-B14F-4D97-AF65-F5344CB8AC3E}">
        <p14:creationId xmlns:p14="http://schemas.microsoft.com/office/powerpoint/2010/main" val="902187933"/>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02639-7ADB-0532-9E1D-C330FE85859F}"/>
            </a:ext>
          </a:extLst>
        </p:cNvPr>
        <p:cNvGrpSpPr/>
        <p:nvPr/>
      </p:nvGrpSpPr>
      <p:grpSpPr>
        <a:xfrm>
          <a:off x="0" y="0"/>
          <a:ext cx="0" cy="0"/>
          <a:chOff x="0" y="0"/>
          <a:chExt cx="0" cy="0"/>
        </a:xfrm>
      </p:grpSpPr>
      <p:pic>
        <p:nvPicPr>
          <p:cNvPr id="8" name="Image 7">
            <a:extLst>
              <a:ext uri="{FF2B5EF4-FFF2-40B4-BE49-F238E27FC236}">
                <a16:creationId xmlns:a16="http://schemas.microsoft.com/office/drawing/2014/main" id="{4E619B1A-6E05-1CF4-572F-451BB4554CA0}"/>
              </a:ext>
            </a:extLst>
          </p:cNvPr>
          <p:cNvPicPr>
            <a:picLocks noChangeAspect="1"/>
          </p:cNvPicPr>
          <p:nvPr/>
        </p:nvPicPr>
        <p:blipFill>
          <a:blip r:embed="rId3"/>
          <a:stretch>
            <a:fillRect/>
          </a:stretch>
        </p:blipFill>
        <p:spPr>
          <a:xfrm>
            <a:off x="201169" y="1188720"/>
            <a:ext cx="11804904" cy="5669280"/>
          </a:xfrm>
          <a:prstGeom prst="rect">
            <a:avLst/>
          </a:prstGeom>
        </p:spPr>
      </p:pic>
      <p:sp>
        <p:nvSpPr>
          <p:cNvPr id="2" name="Rectangle 1">
            <a:extLst>
              <a:ext uri="{FF2B5EF4-FFF2-40B4-BE49-F238E27FC236}">
                <a16:creationId xmlns:a16="http://schemas.microsoft.com/office/drawing/2014/main" id="{DCD95518-7C2E-0668-AEBB-B0F87F411C17}"/>
              </a:ext>
            </a:extLst>
          </p:cNvPr>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EB5FE4E-1AA7-9474-F2B6-A34C10A88C30}"/>
              </a:ext>
            </a:extLst>
          </p:cNvPr>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58300F32-129E-BC8E-E6EC-3079E5190775}"/>
              </a:ext>
            </a:extLst>
          </p:cNvPr>
          <p:cNvSpPr/>
          <p:nvPr/>
        </p:nvSpPr>
        <p:spPr>
          <a:xfrm>
            <a:off x="320039" y="201168"/>
            <a:ext cx="2359153" cy="3017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FDA3E3F-78A2-A1F3-227D-946DFA5A27E7}"/>
              </a:ext>
            </a:extLst>
          </p:cNvPr>
          <p:cNvSpPr txBox="1"/>
          <p:nvPr/>
        </p:nvSpPr>
        <p:spPr>
          <a:xfrm>
            <a:off x="393192" y="210312"/>
            <a:ext cx="2286000" cy="230832"/>
          </a:xfrm>
          <a:prstGeom prst="rect">
            <a:avLst/>
          </a:prstGeom>
          <a:noFill/>
        </p:spPr>
        <p:txBody>
          <a:bodyPr wrap="square">
            <a:spAutoFit/>
          </a:bodyPr>
          <a:lstStyle/>
          <a:p>
            <a:r>
              <a:rPr sz="900" b="1" i="0" dirty="0">
                <a:solidFill>
                  <a:srgbClr val="1A1A2E"/>
                </a:solidFill>
              </a:rPr>
              <a:t>0</a:t>
            </a:r>
            <a:r>
              <a:rPr lang="fr-FR" sz="900" b="1" i="0" dirty="0">
                <a:solidFill>
                  <a:srgbClr val="1A1A2E"/>
                </a:solidFill>
              </a:rPr>
              <a:t>8</a:t>
            </a:r>
            <a:r>
              <a:rPr sz="900" b="1" i="0" dirty="0">
                <a:solidFill>
                  <a:srgbClr val="1A1A2E"/>
                </a:solidFill>
              </a:rPr>
              <a:t> </a:t>
            </a:r>
            <a:r>
              <a:rPr lang="fr-FR" sz="900" b="1" i="0" dirty="0">
                <a:solidFill>
                  <a:srgbClr val="1A1A2E"/>
                </a:solidFill>
              </a:rPr>
              <a:t>-</a:t>
            </a:r>
            <a:r>
              <a:rPr sz="900" b="1" i="0" dirty="0">
                <a:solidFill>
                  <a:srgbClr val="1A1A2E"/>
                </a:solidFill>
              </a:rPr>
              <a:t> </a:t>
            </a:r>
            <a:r>
              <a:rPr lang="fr-CM" sz="900" dirty="0"/>
              <a:t>GANTT </a:t>
            </a:r>
            <a:endParaRPr sz="900" b="1" i="0" dirty="0">
              <a:solidFill>
                <a:srgbClr val="1A1A2E"/>
              </a:solidFill>
            </a:endParaRPr>
          </a:p>
        </p:txBody>
      </p:sp>
      <p:sp>
        <p:nvSpPr>
          <p:cNvPr id="49" name="TextBox 48">
            <a:extLst>
              <a:ext uri="{FF2B5EF4-FFF2-40B4-BE49-F238E27FC236}">
                <a16:creationId xmlns:a16="http://schemas.microsoft.com/office/drawing/2014/main" id="{95990D9A-FEDF-C4CE-0333-64AB2BA412E6}"/>
              </a:ext>
            </a:extLst>
          </p:cNvPr>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7</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extLst>
      <p:ext uri="{BB962C8B-B14F-4D97-AF65-F5344CB8AC3E}">
        <p14:creationId xmlns:p14="http://schemas.microsoft.com/office/powerpoint/2010/main" val="2921094877"/>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9</a:t>
            </a:r>
            <a:r>
              <a:rPr sz="900" b="1" i="0" dirty="0">
                <a:solidFill>
                  <a:srgbClr val="1A1A2E"/>
                </a:solidFill>
              </a:rPr>
              <a:t> </a:t>
            </a:r>
            <a:r>
              <a:rPr lang="fr-FR" sz="900" b="1" i="0" dirty="0">
                <a:solidFill>
                  <a:srgbClr val="1A1A2E"/>
                </a:solidFill>
              </a:rPr>
              <a:t>-</a:t>
            </a:r>
            <a:r>
              <a:rPr sz="900" b="1" i="0" dirty="0">
                <a:solidFill>
                  <a:srgbClr val="1A1A2E"/>
                </a:solidFill>
              </a:rPr>
              <a:t> DEMO</a:t>
            </a:r>
          </a:p>
        </p:txBody>
      </p:sp>
      <p:sp>
        <p:nvSpPr>
          <p:cNvPr id="5" name="TextBox 4"/>
          <p:cNvSpPr txBox="1"/>
          <p:nvPr/>
        </p:nvSpPr>
        <p:spPr>
          <a:xfrm>
            <a:off x="457200" y="640080"/>
            <a:ext cx="9144000" cy="685800"/>
          </a:xfrm>
          <a:prstGeom prst="rect">
            <a:avLst/>
          </a:prstGeom>
          <a:noFill/>
        </p:spPr>
        <p:txBody>
          <a:bodyPr wrap="square">
            <a:spAutoFit/>
          </a:bodyPr>
          <a:lstStyle/>
          <a:p>
            <a:pPr algn="l"/>
            <a:r>
              <a:rPr sz="2800" b="1" i="0">
                <a:solidFill>
                  <a:srgbClr val="FFFFFF"/>
                </a:solidFill>
              </a:rPr>
              <a:t>Demonstration en direct</a:t>
            </a:r>
          </a:p>
        </p:txBody>
      </p:sp>
      <p:sp>
        <p:nvSpPr>
          <p:cNvPr id="6" name="Rectangle 5"/>
          <p:cNvSpPr/>
          <p:nvPr/>
        </p:nvSpPr>
        <p:spPr>
          <a:xfrm>
            <a:off x="347472" y="1554480"/>
            <a:ext cx="2852928" cy="3703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 y="1554480"/>
            <a:ext cx="2852928"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key.png"/>
          <p:cNvPicPr>
            <a:picLocks noChangeAspect="1"/>
          </p:cNvPicPr>
          <p:nvPr/>
        </p:nvPicPr>
        <p:blipFill>
          <a:blip r:embed="rId3"/>
          <a:stretch>
            <a:fillRect/>
          </a:stretch>
        </p:blipFill>
        <p:spPr>
          <a:xfrm>
            <a:off x="484632" y="1691640"/>
            <a:ext cx="594360" cy="594360"/>
          </a:xfrm>
          <a:prstGeom prst="rect">
            <a:avLst/>
          </a:prstGeom>
        </p:spPr>
      </p:pic>
      <p:sp>
        <p:nvSpPr>
          <p:cNvPr id="9" name="TextBox 8"/>
          <p:cNvSpPr txBox="1"/>
          <p:nvPr/>
        </p:nvSpPr>
        <p:spPr>
          <a:xfrm>
            <a:off x="1170432" y="1691640"/>
            <a:ext cx="457200" cy="548640"/>
          </a:xfrm>
          <a:prstGeom prst="rect">
            <a:avLst/>
          </a:prstGeom>
          <a:noFill/>
        </p:spPr>
        <p:txBody>
          <a:bodyPr wrap="square">
            <a:spAutoFit/>
          </a:bodyPr>
          <a:lstStyle/>
          <a:p>
            <a:pPr algn="l"/>
            <a:r>
              <a:rPr sz="2800" b="1" i="0">
                <a:solidFill>
                  <a:srgbClr val="C9A84C"/>
                </a:solidFill>
              </a:rPr>
              <a:t>1</a:t>
            </a:r>
          </a:p>
        </p:txBody>
      </p:sp>
      <p:sp>
        <p:nvSpPr>
          <p:cNvPr id="10" name="TextBox 9"/>
          <p:cNvSpPr txBox="1"/>
          <p:nvPr/>
        </p:nvSpPr>
        <p:spPr>
          <a:xfrm>
            <a:off x="484632" y="2377440"/>
            <a:ext cx="2606040" cy="457200"/>
          </a:xfrm>
          <a:prstGeom prst="rect">
            <a:avLst/>
          </a:prstGeom>
          <a:noFill/>
        </p:spPr>
        <p:txBody>
          <a:bodyPr wrap="square">
            <a:spAutoFit/>
          </a:bodyPr>
          <a:lstStyle/>
          <a:p>
            <a:pPr algn="l"/>
            <a:r>
              <a:rPr sz="1400" b="1" i="0">
                <a:solidFill>
                  <a:srgbClr val="FFFFFF"/>
                </a:solidFill>
              </a:rPr>
              <a:t>Connexion</a:t>
            </a:r>
          </a:p>
        </p:txBody>
      </p:sp>
      <p:sp>
        <p:nvSpPr>
          <p:cNvPr id="11" name="TextBox 10"/>
          <p:cNvSpPr txBox="1"/>
          <p:nvPr/>
        </p:nvSpPr>
        <p:spPr>
          <a:xfrm>
            <a:off x="484632" y="2880360"/>
            <a:ext cx="2606040" cy="822960"/>
          </a:xfrm>
          <a:prstGeom prst="rect">
            <a:avLst/>
          </a:prstGeom>
          <a:noFill/>
        </p:spPr>
        <p:txBody>
          <a:bodyPr wrap="square">
            <a:spAutoFit/>
          </a:bodyPr>
          <a:lstStyle/>
          <a:p>
            <a:pPr algn="l"/>
            <a:r>
              <a:rPr sz="1300" b="0" i="0">
                <a:solidFill>
                  <a:srgbClr val="F4F4F8"/>
                </a:solidFill>
              </a:rPr>
              <a:t>admin@inubil.com
Admin123!</a:t>
            </a:r>
          </a:p>
        </p:txBody>
      </p:sp>
      <p:sp>
        <p:nvSpPr>
          <p:cNvPr id="14" name="Rectangle 13"/>
          <p:cNvSpPr/>
          <p:nvPr/>
        </p:nvSpPr>
        <p:spPr>
          <a:xfrm>
            <a:off x="3401568" y="1554480"/>
            <a:ext cx="2852928" cy="3703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401568" y="1554480"/>
            <a:ext cx="2852928"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ile-text.png"/>
          <p:cNvPicPr>
            <a:picLocks noChangeAspect="1"/>
          </p:cNvPicPr>
          <p:nvPr/>
        </p:nvPicPr>
        <p:blipFill>
          <a:blip r:embed="rId4"/>
          <a:stretch>
            <a:fillRect/>
          </a:stretch>
        </p:blipFill>
        <p:spPr>
          <a:xfrm>
            <a:off x="3538728" y="1691640"/>
            <a:ext cx="594360" cy="594360"/>
          </a:xfrm>
          <a:prstGeom prst="rect">
            <a:avLst/>
          </a:prstGeom>
        </p:spPr>
      </p:pic>
      <p:sp>
        <p:nvSpPr>
          <p:cNvPr id="17" name="TextBox 16"/>
          <p:cNvSpPr txBox="1"/>
          <p:nvPr/>
        </p:nvSpPr>
        <p:spPr>
          <a:xfrm>
            <a:off x="4224528" y="1691640"/>
            <a:ext cx="457200" cy="548640"/>
          </a:xfrm>
          <a:prstGeom prst="rect">
            <a:avLst/>
          </a:prstGeom>
          <a:noFill/>
        </p:spPr>
        <p:txBody>
          <a:bodyPr wrap="square">
            <a:spAutoFit/>
          </a:bodyPr>
          <a:lstStyle/>
          <a:p>
            <a:pPr algn="l"/>
            <a:r>
              <a:rPr sz="2800" b="1" i="0">
                <a:solidFill>
                  <a:srgbClr val="C9A84C"/>
                </a:solidFill>
              </a:rPr>
              <a:t>2</a:t>
            </a:r>
          </a:p>
        </p:txBody>
      </p:sp>
      <p:sp>
        <p:nvSpPr>
          <p:cNvPr id="18" name="TextBox 17"/>
          <p:cNvSpPr txBox="1"/>
          <p:nvPr/>
        </p:nvSpPr>
        <p:spPr>
          <a:xfrm>
            <a:off x="3538728" y="2377440"/>
            <a:ext cx="2606040" cy="457200"/>
          </a:xfrm>
          <a:prstGeom prst="rect">
            <a:avLst/>
          </a:prstGeom>
          <a:noFill/>
        </p:spPr>
        <p:txBody>
          <a:bodyPr wrap="square">
            <a:spAutoFit/>
          </a:bodyPr>
          <a:lstStyle/>
          <a:p>
            <a:pPr algn="l"/>
            <a:r>
              <a:rPr sz="1400" b="1" i="0">
                <a:solidFill>
                  <a:srgbClr val="FFFFFF"/>
                </a:solidFill>
              </a:rPr>
              <a:t>Creer un diplome</a:t>
            </a:r>
          </a:p>
        </p:txBody>
      </p:sp>
      <p:sp>
        <p:nvSpPr>
          <p:cNvPr id="19" name="TextBox 18"/>
          <p:cNvSpPr txBox="1"/>
          <p:nvPr/>
        </p:nvSpPr>
        <p:spPr>
          <a:xfrm>
            <a:off x="3538728" y="2880360"/>
            <a:ext cx="2606040" cy="822960"/>
          </a:xfrm>
          <a:prstGeom prst="rect">
            <a:avLst/>
          </a:prstGeom>
          <a:noFill/>
        </p:spPr>
        <p:txBody>
          <a:bodyPr wrap="square">
            <a:spAutoFit/>
          </a:bodyPr>
          <a:lstStyle/>
          <a:p>
            <a:pPr algn="l"/>
            <a:r>
              <a:rPr sz="1300" b="0" i="0">
                <a:solidFill>
                  <a:srgbClr val="F4F4F8"/>
                </a:solidFill>
              </a:rPr>
              <a:t>Remplir le formulaire
pour un etudiant</a:t>
            </a:r>
          </a:p>
        </p:txBody>
      </p:sp>
      <p:sp>
        <p:nvSpPr>
          <p:cNvPr id="22" name="Rectangle 21"/>
          <p:cNvSpPr/>
          <p:nvPr/>
        </p:nvSpPr>
        <p:spPr>
          <a:xfrm>
            <a:off x="6455664" y="1554480"/>
            <a:ext cx="2852928" cy="3703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55664" y="1554480"/>
            <a:ext cx="2852928"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check-circle.png"/>
          <p:cNvPicPr>
            <a:picLocks noChangeAspect="1"/>
          </p:cNvPicPr>
          <p:nvPr/>
        </p:nvPicPr>
        <p:blipFill>
          <a:blip r:embed="rId5"/>
          <a:stretch>
            <a:fillRect/>
          </a:stretch>
        </p:blipFill>
        <p:spPr>
          <a:xfrm>
            <a:off x="6592824" y="1691640"/>
            <a:ext cx="594360" cy="594360"/>
          </a:xfrm>
          <a:prstGeom prst="rect">
            <a:avLst/>
          </a:prstGeom>
        </p:spPr>
      </p:pic>
      <p:sp>
        <p:nvSpPr>
          <p:cNvPr id="25" name="TextBox 24"/>
          <p:cNvSpPr txBox="1"/>
          <p:nvPr/>
        </p:nvSpPr>
        <p:spPr>
          <a:xfrm>
            <a:off x="7278624" y="1691640"/>
            <a:ext cx="457200" cy="548640"/>
          </a:xfrm>
          <a:prstGeom prst="rect">
            <a:avLst/>
          </a:prstGeom>
          <a:noFill/>
        </p:spPr>
        <p:txBody>
          <a:bodyPr wrap="square">
            <a:spAutoFit/>
          </a:bodyPr>
          <a:lstStyle/>
          <a:p>
            <a:pPr algn="l"/>
            <a:r>
              <a:rPr sz="2800" b="1" i="0">
                <a:solidFill>
                  <a:srgbClr val="C9A84C"/>
                </a:solidFill>
              </a:rPr>
              <a:t>3</a:t>
            </a:r>
          </a:p>
        </p:txBody>
      </p:sp>
      <p:sp>
        <p:nvSpPr>
          <p:cNvPr id="26" name="TextBox 25"/>
          <p:cNvSpPr txBox="1"/>
          <p:nvPr/>
        </p:nvSpPr>
        <p:spPr>
          <a:xfrm>
            <a:off x="6592824" y="2377440"/>
            <a:ext cx="2606040" cy="457200"/>
          </a:xfrm>
          <a:prstGeom prst="rect">
            <a:avLst/>
          </a:prstGeom>
          <a:noFill/>
        </p:spPr>
        <p:txBody>
          <a:bodyPr wrap="square">
            <a:spAutoFit/>
          </a:bodyPr>
          <a:lstStyle/>
          <a:p>
            <a:pPr algn="l"/>
            <a:r>
              <a:rPr sz="1400" b="1" i="0">
                <a:solidFill>
                  <a:srgbClr val="FFFFFF"/>
                </a:solidFill>
              </a:rPr>
              <a:t>Valider (Directeur)</a:t>
            </a:r>
          </a:p>
        </p:txBody>
      </p:sp>
      <p:sp>
        <p:nvSpPr>
          <p:cNvPr id="27" name="TextBox 26"/>
          <p:cNvSpPr txBox="1"/>
          <p:nvPr/>
        </p:nvSpPr>
        <p:spPr>
          <a:xfrm>
            <a:off x="6592824" y="2880360"/>
            <a:ext cx="2606040" cy="822960"/>
          </a:xfrm>
          <a:prstGeom prst="rect">
            <a:avLst/>
          </a:prstGeom>
          <a:noFill/>
        </p:spPr>
        <p:txBody>
          <a:bodyPr wrap="square">
            <a:spAutoFit/>
          </a:bodyPr>
          <a:lstStyle/>
          <a:p>
            <a:pPr algn="l"/>
            <a:r>
              <a:rPr sz="1300" b="0" i="0">
                <a:solidFill>
                  <a:srgbClr val="F4F4F8"/>
                </a:solidFill>
              </a:rPr>
              <a:t>Upload PDF
puis Validation</a:t>
            </a:r>
          </a:p>
        </p:txBody>
      </p:sp>
      <p:sp>
        <p:nvSpPr>
          <p:cNvPr id="30" name="Rectangle 29"/>
          <p:cNvSpPr/>
          <p:nvPr/>
        </p:nvSpPr>
        <p:spPr>
          <a:xfrm>
            <a:off x="9509760" y="1554480"/>
            <a:ext cx="2852928" cy="3703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09760" y="1554480"/>
            <a:ext cx="2852928"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globe.png"/>
          <p:cNvPicPr>
            <a:picLocks noChangeAspect="1"/>
          </p:cNvPicPr>
          <p:nvPr/>
        </p:nvPicPr>
        <p:blipFill>
          <a:blip r:embed="rId6"/>
          <a:stretch>
            <a:fillRect/>
          </a:stretch>
        </p:blipFill>
        <p:spPr>
          <a:xfrm>
            <a:off x="9646920" y="1691640"/>
            <a:ext cx="594360" cy="594360"/>
          </a:xfrm>
          <a:prstGeom prst="rect">
            <a:avLst/>
          </a:prstGeom>
        </p:spPr>
      </p:pic>
      <p:sp>
        <p:nvSpPr>
          <p:cNvPr id="33" name="TextBox 32"/>
          <p:cNvSpPr txBox="1"/>
          <p:nvPr/>
        </p:nvSpPr>
        <p:spPr>
          <a:xfrm>
            <a:off x="10332720" y="1691640"/>
            <a:ext cx="457200" cy="548640"/>
          </a:xfrm>
          <a:prstGeom prst="rect">
            <a:avLst/>
          </a:prstGeom>
          <a:noFill/>
        </p:spPr>
        <p:txBody>
          <a:bodyPr wrap="square">
            <a:spAutoFit/>
          </a:bodyPr>
          <a:lstStyle/>
          <a:p>
            <a:pPr algn="l"/>
            <a:r>
              <a:rPr sz="2800" b="1" i="0">
                <a:solidFill>
                  <a:srgbClr val="C9A84C"/>
                </a:solidFill>
              </a:rPr>
              <a:t>4</a:t>
            </a:r>
          </a:p>
        </p:txBody>
      </p:sp>
      <p:sp>
        <p:nvSpPr>
          <p:cNvPr id="34" name="TextBox 33"/>
          <p:cNvSpPr txBox="1"/>
          <p:nvPr/>
        </p:nvSpPr>
        <p:spPr>
          <a:xfrm>
            <a:off x="9646920" y="2377440"/>
            <a:ext cx="2606040" cy="457200"/>
          </a:xfrm>
          <a:prstGeom prst="rect">
            <a:avLst/>
          </a:prstGeom>
          <a:noFill/>
        </p:spPr>
        <p:txBody>
          <a:bodyPr wrap="square">
            <a:spAutoFit/>
          </a:bodyPr>
          <a:lstStyle/>
          <a:p>
            <a:pPr algn="l"/>
            <a:r>
              <a:rPr sz="1400" b="1" i="0">
                <a:solidFill>
                  <a:srgbClr val="FFFFFF"/>
                </a:solidFill>
              </a:rPr>
              <a:t>Verif. publique</a:t>
            </a:r>
          </a:p>
        </p:txBody>
      </p:sp>
      <p:sp>
        <p:nvSpPr>
          <p:cNvPr id="35" name="TextBox 34"/>
          <p:cNvSpPr txBox="1"/>
          <p:nvPr/>
        </p:nvSpPr>
        <p:spPr>
          <a:xfrm>
            <a:off x="9646920" y="2880360"/>
            <a:ext cx="2606040" cy="822960"/>
          </a:xfrm>
          <a:prstGeom prst="rect">
            <a:avLst/>
          </a:prstGeom>
          <a:noFill/>
        </p:spPr>
        <p:txBody>
          <a:bodyPr wrap="square">
            <a:spAutoFit/>
          </a:bodyPr>
          <a:lstStyle/>
          <a:p>
            <a:pPr algn="l"/>
            <a:r>
              <a:rPr sz="1300" b="0" i="0">
                <a:solidFill>
                  <a:srgbClr val="F4F4F8"/>
                </a:solidFill>
              </a:rPr>
              <a:t>Scanner le QR code
/verify/INUB-...</a:t>
            </a:r>
          </a:p>
        </p:txBody>
      </p:sp>
      <p:sp>
        <p:nvSpPr>
          <p:cNvPr id="38" name="Rectangle 37"/>
          <p:cNvSpPr/>
          <p:nvPr/>
        </p:nvSpPr>
        <p:spPr>
          <a:xfrm>
            <a:off x="347472" y="5440680"/>
            <a:ext cx="11475720" cy="4754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513832"/>
            <a:ext cx="11247120" cy="347472"/>
          </a:xfrm>
          <a:prstGeom prst="rect">
            <a:avLst/>
          </a:prstGeom>
          <a:noFill/>
        </p:spPr>
        <p:txBody>
          <a:bodyPr wrap="square">
            <a:spAutoFit/>
          </a:bodyPr>
          <a:lstStyle/>
          <a:p>
            <a:pPr algn="ctr"/>
            <a:r>
              <a:rPr sz="1200" b="1" i="0">
                <a:solidFill>
                  <a:srgbClr val="1A1A2E"/>
                </a:solidFill>
              </a:rPr>
              <a:t>API : http://localhost:3000   -   Swagger : http://localhost:3000/api/docs   -   App : http://localhost:4200</a:t>
            </a:r>
          </a:p>
        </p:txBody>
      </p:sp>
      <p:sp>
        <p:nvSpPr>
          <p:cNvPr id="40" name="TextBox 39"/>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8 </a:t>
            </a:r>
            <a:r>
              <a:rPr sz="900" b="0" i="0" dirty="0">
                <a:solidFill>
                  <a:srgbClr val="C9A84C"/>
                </a:solidFill>
              </a:rPr>
              <a:t>/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9</a:t>
            </a:r>
            <a:r>
              <a:rPr sz="900" b="1" i="0" dirty="0">
                <a:solidFill>
                  <a:srgbClr val="1A1A2E"/>
                </a:solidFill>
              </a:rPr>
              <a:t> </a:t>
            </a:r>
            <a:r>
              <a:rPr lang="fr-FR" sz="900" b="1" i="0" dirty="0">
                <a:solidFill>
                  <a:srgbClr val="1A1A2E"/>
                </a:solidFill>
              </a:rPr>
              <a:t>-</a:t>
            </a:r>
            <a:r>
              <a:rPr sz="900" b="1" i="0" dirty="0">
                <a:solidFill>
                  <a:srgbClr val="1A1A2E"/>
                </a:solidFill>
              </a:rPr>
              <a:t> BLOCKCHAIN</a:t>
            </a:r>
          </a:p>
        </p:txBody>
      </p:sp>
      <p:sp>
        <p:nvSpPr>
          <p:cNvPr id="6" name="TextBox 5"/>
          <p:cNvSpPr txBox="1"/>
          <p:nvPr/>
        </p:nvSpPr>
        <p:spPr>
          <a:xfrm>
            <a:off x="216767" y="603504"/>
            <a:ext cx="10058400" cy="523220"/>
          </a:xfrm>
          <a:prstGeom prst="rect">
            <a:avLst/>
          </a:prstGeom>
          <a:noFill/>
        </p:spPr>
        <p:txBody>
          <a:bodyPr wrap="square">
            <a:spAutoFit/>
          </a:bodyPr>
          <a:lstStyle/>
          <a:p>
            <a:pPr algn="l"/>
            <a:r>
              <a:rPr sz="2800" b="1" i="0" dirty="0" err="1">
                <a:solidFill>
                  <a:srgbClr val="FFFFFF"/>
                </a:solidFill>
              </a:rPr>
              <a:t>Preuve</a:t>
            </a:r>
            <a:r>
              <a:rPr sz="2800" b="1" i="0" dirty="0">
                <a:solidFill>
                  <a:srgbClr val="FFFFFF"/>
                </a:solidFill>
              </a:rPr>
              <a:t> blockchain </a:t>
            </a:r>
            <a:r>
              <a:rPr lang="fr-FR" sz="2800" b="1" i="0" dirty="0">
                <a:solidFill>
                  <a:srgbClr val="FFFFFF"/>
                </a:solidFill>
              </a:rPr>
              <a:t>-</a:t>
            </a:r>
            <a:r>
              <a:rPr sz="2800" b="1" i="0" dirty="0">
                <a:solidFill>
                  <a:srgbClr val="FFFFFF"/>
                </a:solidFill>
              </a:rPr>
              <a:t> Transaction </a:t>
            </a:r>
            <a:r>
              <a:rPr sz="2800" b="1" i="0" dirty="0" err="1">
                <a:solidFill>
                  <a:srgbClr val="FFFFFF"/>
                </a:solidFill>
              </a:rPr>
              <a:t>reelle</a:t>
            </a:r>
            <a:endParaRPr sz="2800" b="1" i="0" dirty="0">
              <a:solidFill>
                <a:srgbClr val="FFFFFF"/>
              </a:solidFill>
            </a:endParaRPr>
          </a:p>
        </p:txBody>
      </p:sp>
      <p:sp>
        <p:nvSpPr>
          <p:cNvPr id="7" name="Rectangle 6"/>
          <p:cNvSpPr/>
          <p:nvPr/>
        </p:nvSpPr>
        <p:spPr>
          <a:xfrm>
            <a:off x="347472" y="1353312"/>
            <a:ext cx="11475720" cy="132588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353312"/>
            <a:ext cx="54864" cy="13258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link.png"/>
          <p:cNvPicPr>
            <a:picLocks noChangeAspect="1"/>
          </p:cNvPicPr>
          <p:nvPr/>
        </p:nvPicPr>
        <p:blipFill>
          <a:blip r:embed="rId3"/>
          <a:stretch>
            <a:fillRect/>
          </a:stretch>
        </p:blipFill>
        <p:spPr>
          <a:xfrm>
            <a:off x="457200" y="1444752"/>
            <a:ext cx="457200" cy="457200"/>
          </a:xfrm>
          <a:prstGeom prst="rect">
            <a:avLst/>
          </a:prstGeom>
        </p:spPr>
      </p:pic>
      <p:sp>
        <p:nvSpPr>
          <p:cNvPr id="10" name="TextBox 9"/>
          <p:cNvSpPr txBox="1"/>
          <p:nvPr/>
        </p:nvSpPr>
        <p:spPr>
          <a:xfrm>
            <a:off x="1024128" y="1444752"/>
            <a:ext cx="2743200" cy="347472"/>
          </a:xfrm>
          <a:prstGeom prst="rect">
            <a:avLst/>
          </a:prstGeom>
          <a:noFill/>
        </p:spPr>
        <p:txBody>
          <a:bodyPr wrap="square">
            <a:spAutoFit/>
          </a:bodyPr>
          <a:lstStyle/>
          <a:p>
            <a:pPr algn="l"/>
            <a:r>
              <a:rPr sz="1200" b="1" i="0">
                <a:solidFill>
                  <a:srgbClr val="1A1A2E"/>
                </a:solidFill>
              </a:rPr>
              <a:t>Contrat deploye</a:t>
            </a:r>
          </a:p>
        </p:txBody>
      </p:sp>
      <p:sp>
        <p:nvSpPr>
          <p:cNvPr id="11" name="TextBox 10"/>
          <p:cNvSpPr txBox="1"/>
          <p:nvPr/>
        </p:nvSpPr>
        <p:spPr>
          <a:xfrm>
            <a:off x="1024128" y="1792224"/>
            <a:ext cx="7315200" cy="347472"/>
          </a:xfrm>
          <a:prstGeom prst="rect">
            <a:avLst/>
          </a:prstGeom>
          <a:noFill/>
        </p:spPr>
        <p:txBody>
          <a:bodyPr wrap="square">
            <a:spAutoFit/>
          </a:bodyPr>
          <a:lstStyle/>
          <a:p>
            <a:pPr algn="l"/>
            <a:r>
              <a:rPr sz="1300" b="1" i="0" dirty="0">
                <a:solidFill>
                  <a:srgbClr val="444455"/>
                </a:solidFill>
              </a:rPr>
              <a:t>0x75a23a30753548e08fD4b47e6664a941C6C1315E</a:t>
            </a:r>
          </a:p>
        </p:txBody>
      </p:sp>
      <p:sp>
        <p:nvSpPr>
          <p:cNvPr id="12" name="TextBox 11"/>
          <p:cNvSpPr txBox="1"/>
          <p:nvPr/>
        </p:nvSpPr>
        <p:spPr>
          <a:xfrm>
            <a:off x="1024128" y="2148840"/>
            <a:ext cx="7315200" cy="347472"/>
          </a:xfrm>
          <a:prstGeom prst="rect">
            <a:avLst/>
          </a:prstGeom>
          <a:noFill/>
        </p:spPr>
        <p:txBody>
          <a:bodyPr wrap="square">
            <a:spAutoFit/>
          </a:bodyPr>
          <a:lstStyle/>
          <a:p>
            <a:pPr algn="l"/>
            <a:r>
              <a:rPr sz="1100" b="0" i="1">
                <a:solidFill>
                  <a:srgbClr val="444455"/>
                </a:solidFill>
              </a:rPr>
              <a:t>Polygon Amoy Testnet  -  amoy.polygonscan.com</a:t>
            </a:r>
          </a:p>
        </p:txBody>
      </p:sp>
      <p:sp>
        <p:nvSpPr>
          <p:cNvPr id="13" name="Rectangle 12"/>
          <p:cNvSpPr/>
          <p:nvPr/>
        </p:nvSpPr>
        <p:spPr>
          <a:xfrm>
            <a:off x="347472" y="2834640"/>
            <a:ext cx="11475720" cy="210312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7472" y="2834640"/>
            <a:ext cx="54864" cy="210312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check-circle.png"/>
          <p:cNvPicPr>
            <a:picLocks noChangeAspect="1"/>
          </p:cNvPicPr>
          <p:nvPr/>
        </p:nvPicPr>
        <p:blipFill>
          <a:blip r:embed="rId4"/>
          <a:stretch>
            <a:fillRect/>
          </a:stretch>
        </p:blipFill>
        <p:spPr>
          <a:xfrm>
            <a:off x="457200" y="2926080"/>
            <a:ext cx="457200" cy="457200"/>
          </a:xfrm>
          <a:prstGeom prst="rect">
            <a:avLst/>
          </a:prstGeom>
        </p:spPr>
      </p:pic>
      <p:sp>
        <p:nvSpPr>
          <p:cNvPr id="16" name="TextBox 15"/>
          <p:cNvSpPr txBox="1"/>
          <p:nvPr/>
        </p:nvSpPr>
        <p:spPr>
          <a:xfrm>
            <a:off x="1024128" y="2926080"/>
            <a:ext cx="10058400" cy="347472"/>
          </a:xfrm>
          <a:prstGeom prst="rect">
            <a:avLst/>
          </a:prstGeom>
          <a:noFill/>
        </p:spPr>
        <p:txBody>
          <a:bodyPr wrap="square">
            <a:spAutoFit/>
          </a:bodyPr>
          <a:lstStyle/>
          <a:p>
            <a:pPr algn="l"/>
            <a:r>
              <a:rPr sz="1400" b="1" i="0">
                <a:solidFill>
                  <a:srgbClr val="1A1A2E"/>
                </a:solidFill>
              </a:rPr>
              <a:t>Transaction d'enregistrement diplome</a:t>
            </a:r>
          </a:p>
        </p:txBody>
      </p:sp>
      <p:sp>
        <p:nvSpPr>
          <p:cNvPr id="17" name="TextBox 16"/>
          <p:cNvSpPr txBox="1"/>
          <p:nvPr/>
        </p:nvSpPr>
        <p:spPr>
          <a:xfrm>
            <a:off x="1024128" y="3310128"/>
            <a:ext cx="10058400" cy="347472"/>
          </a:xfrm>
          <a:prstGeom prst="rect">
            <a:avLst/>
          </a:prstGeom>
          <a:noFill/>
        </p:spPr>
        <p:txBody>
          <a:bodyPr wrap="square">
            <a:spAutoFit/>
          </a:bodyPr>
          <a:lstStyle/>
          <a:p>
            <a:pPr algn="l"/>
            <a:r>
              <a:rPr sz="1200" b="0" i="0">
                <a:solidFill>
                  <a:srgbClr val="444455"/>
                </a:solidFill>
              </a:rPr>
              <a:t>Hash tx : 0xd33eb14ef6e765...</a:t>
            </a:r>
          </a:p>
        </p:txBody>
      </p:sp>
      <p:sp>
        <p:nvSpPr>
          <p:cNvPr id="18" name="TextBox 17"/>
          <p:cNvSpPr txBox="1"/>
          <p:nvPr/>
        </p:nvSpPr>
        <p:spPr>
          <a:xfrm>
            <a:off x="1024128" y="3657600"/>
            <a:ext cx="10058400" cy="347472"/>
          </a:xfrm>
          <a:prstGeom prst="rect">
            <a:avLst/>
          </a:prstGeom>
          <a:noFill/>
        </p:spPr>
        <p:txBody>
          <a:bodyPr wrap="square">
            <a:spAutoFit/>
          </a:bodyPr>
          <a:lstStyle/>
          <a:p>
            <a:pPr algn="l"/>
            <a:r>
              <a:rPr sz="1200" b="1" i="0">
                <a:solidFill>
                  <a:srgbClr val="2D7A3A"/>
                </a:solidFill>
              </a:rPr>
              <a:t>Statut : Succes   -   Reseau : Polygon Amoy   -   Bloc confirme</a:t>
            </a:r>
          </a:p>
        </p:txBody>
      </p:sp>
      <p:sp>
        <p:nvSpPr>
          <p:cNvPr id="19" name="TextBox 18"/>
          <p:cNvSpPr txBox="1"/>
          <p:nvPr/>
        </p:nvSpPr>
        <p:spPr>
          <a:xfrm>
            <a:off x="1024128" y="4005072"/>
            <a:ext cx="10058400" cy="347472"/>
          </a:xfrm>
          <a:prstGeom prst="rect">
            <a:avLst/>
          </a:prstGeom>
          <a:noFill/>
        </p:spPr>
        <p:txBody>
          <a:bodyPr wrap="square">
            <a:spAutoFit/>
          </a:bodyPr>
          <a:lstStyle/>
          <a:p>
            <a:pPr algn="l"/>
            <a:r>
              <a:rPr sz="1100" b="0" i="1">
                <a:solidFill>
                  <a:srgbClr val="444455"/>
                </a:solidFill>
              </a:rPr>
              <a:t>Contenu : enregistrerDiplome(bytes32 hashSHA256, bytes32 universiteId, string numeroUnique)</a:t>
            </a:r>
          </a:p>
        </p:txBody>
      </p:sp>
      <p:sp>
        <p:nvSpPr>
          <p:cNvPr id="20" name="Rectangle 19"/>
          <p:cNvSpPr/>
          <p:nvPr/>
        </p:nvSpPr>
        <p:spPr>
          <a:xfrm>
            <a:off x="347472" y="5102352"/>
            <a:ext cx="11475720" cy="132588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47472" y="5102352"/>
            <a:ext cx="1147572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0352" y="5212080"/>
            <a:ext cx="2743200" cy="347472"/>
          </a:xfrm>
          <a:prstGeom prst="rect">
            <a:avLst/>
          </a:prstGeom>
          <a:noFill/>
        </p:spPr>
        <p:txBody>
          <a:bodyPr wrap="square">
            <a:spAutoFit/>
          </a:bodyPr>
          <a:lstStyle/>
          <a:p>
            <a:pPr algn="l"/>
            <a:r>
              <a:rPr sz="1300" b="1" i="0">
                <a:solidFill>
                  <a:srgbClr val="C9A84C"/>
                </a:solidFill>
              </a:rPr>
              <a:t>Ce que ca prouve :</a:t>
            </a:r>
          </a:p>
        </p:txBody>
      </p:sp>
      <p:pic>
        <p:nvPicPr>
          <p:cNvPr id="23" name="Picture 22" descr="award.png"/>
          <p:cNvPicPr>
            <a:picLocks noChangeAspect="1"/>
          </p:cNvPicPr>
          <p:nvPr/>
        </p:nvPicPr>
        <p:blipFill>
          <a:blip r:embed="rId5"/>
          <a:stretch>
            <a:fillRect/>
          </a:stretch>
        </p:blipFill>
        <p:spPr>
          <a:xfrm>
            <a:off x="3657600" y="5230368"/>
            <a:ext cx="347472" cy="347472"/>
          </a:xfrm>
          <a:prstGeom prst="rect">
            <a:avLst/>
          </a:prstGeom>
        </p:spPr>
      </p:pic>
      <p:sp>
        <p:nvSpPr>
          <p:cNvPr id="24" name="TextBox 23"/>
          <p:cNvSpPr txBox="1"/>
          <p:nvPr/>
        </p:nvSpPr>
        <p:spPr>
          <a:xfrm>
            <a:off x="4096512" y="5257800"/>
            <a:ext cx="2331720" cy="594360"/>
          </a:xfrm>
          <a:prstGeom prst="rect">
            <a:avLst/>
          </a:prstGeom>
          <a:noFill/>
        </p:spPr>
        <p:txBody>
          <a:bodyPr wrap="square">
            <a:spAutoFit/>
          </a:bodyPr>
          <a:lstStyle/>
          <a:p>
            <a:pPr algn="l"/>
            <a:r>
              <a:rPr sz="1200" b="0" i="0">
                <a:solidFill>
                  <a:srgbClr val="FFFFFF"/>
                </a:solidFill>
              </a:rPr>
              <a:t>Le diplome existait a la date de la transaction</a:t>
            </a:r>
          </a:p>
        </p:txBody>
      </p:sp>
      <p:pic>
        <p:nvPicPr>
          <p:cNvPr id="25" name="Picture 24" descr="lock.png"/>
          <p:cNvPicPr>
            <a:picLocks noChangeAspect="1"/>
          </p:cNvPicPr>
          <p:nvPr/>
        </p:nvPicPr>
        <p:blipFill>
          <a:blip r:embed="rId6"/>
          <a:stretch>
            <a:fillRect/>
          </a:stretch>
        </p:blipFill>
        <p:spPr>
          <a:xfrm>
            <a:off x="6492240" y="5230368"/>
            <a:ext cx="347472" cy="347472"/>
          </a:xfrm>
          <a:prstGeom prst="rect">
            <a:avLst/>
          </a:prstGeom>
        </p:spPr>
      </p:pic>
      <p:sp>
        <p:nvSpPr>
          <p:cNvPr id="26" name="TextBox 25"/>
          <p:cNvSpPr txBox="1"/>
          <p:nvPr/>
        </p:nvSpPr>
        <p:spPr>
          <a:xfrm>
            <a:off x="6931152" y="5257800"/>
            <a:ext cx="2331720" cy="594360"/>
          </a:xfrm>
          <a:prstGeom prst="rect">
            <a:avLst/>
          </a:prstGeom>
          <a:noFill/>
        </p:spPr>
        <p:txBody>
          <a:bodyPr wrap="square">
            <a:spAutoFit/>
          </a:bodyPr>
          <a:lstStyle/>
          <a:p>
            <a:pPr algn="l"/>
            <a:r>
              <a:rPr sz="1200" b="0" i="0">
                <a:solidFill>
                  <a:srgbClr val="FFFFFF"/>
                </a:solidFill>
              </a:rPr>
              <a:t>Son hash SHA-256 est immuable sur la blockchain</a:t>
            </a:r>
          </a:p>
        </p:txBody>
      </p:sp>
      <p:pic>
        <p:nvPicPr>
          <p:cNvPr id="27" name="Picture 26" descr="globe.png"/>
          <p:cNvPicPr>
            <a:picLocks noChangeAspect="1"/>
          </p:cNvPicPr>
          <p:nvPr/>
        </p:nvPicPr>
        <p:blipFill>
          <a:blip r:embed="rId7"/>
          <a:stretch>
            <a:fillRect/>
          </a:stretch>
        </p:blipFill>
        <p:spPr>
          <a:xfrm>
            <a:off x="9326880" y="5230368"/>
            <a:ext cx="347472" cy="347472"/>
          </a:xfrm>
          <a:prstGeom prst="rect">
            <a:avLst/>
          </a:prstGeom>
        </p:spPr>
      </p:pic>
      <p:sp>
        <p:nvSpPr>
          <p:cNvPr id="28" name="TextBox 27"/>
          <p:cNvSpPr txBox="1"/>
          <p:nvPr/>
        </p:nvSpPr>
        <p:spPr>
          <a:xfrm>
            <a:off x="9765792" y="5257800"/>
            <a:ext cx="2331720" cy="594360"/>
          </a:xfrm>
          <a:prstGeom prst="rect">
            <a:avLst/>
          </a:prstGeom>
          <a:noFill/>
        </p:spPr>
        <p:txBody>
          <a:bodyPr wrap="square">
            <a:spAutoFit/>
          </a:bodyPr>
          <a:lstStyle/>
          <a:p>
            <a:pPr algn="l"/>
            <a:r>
              <a:rPr sz="1200" b="0" i="0">
                <a:solidFill>
                  <a:srgbClr val="FFFFFF"/>
                </a:solidFill>
              </a:rPr>
              <a:t>N'importe qui peut verifier sur PolygonScan sans compte</a:t>
            </a:r>
          </a:p>
        </p:txBody>
      </p:sp>
      <p:sp>
        <p:nvSpPr>
          <p:cNvPr id="29" name="TextBox 28"/>
          <p:cNvSpPr txBox="1"/>
          <p:nvPr/>
        </p:nvSpPr>
        <p:spPr>
          <a:xfrm>
            <a:off x="11000232" y="6492240"/>
            <a:ext cx="1005840" cy="230832"/>
          </a:xfrm>
          <a:prstGeom prst="rect">
            <a:avLst/>
          </a:prstGeom>
          <a:noFill/>
        </p:spPr>
        <p:txBody>
          <a:bodyPr wrap="square">
            <a:spAutoFit/>
          </a:bodyPr>
          <a:lstStyle/>
          <a:p>
            <a:pPr algn="r"/>
            <a:r>
              <a:rPr sz="900" b="0" i="0" dirty="0">
                <a:solidFill>
                  <a:srgbClr val="C9A84C"/>
                </a:solidFill>
              </a:rPr>
              <a:t>1</a:t>
            </a:r>
            <a:r>
              <a:rPr lang="fr-FR" sz="900" b="0" i="0" dirty="0">
                <a:solidFill>
                  <a:srgbClr val="C9A84C"/>
                </a:solidFill>
              </a:rPr>
              <a:t>9</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4F8"/>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lang="fr-FR" sz="900" b="1" dirty="0">
                <a:solidFill>
                  <a:srgbClr val="1A1A2E"/>
                </a:solidFill>
              </a:rPr>
              <a:t>09</a:t>
            </a:r>
            <a:r>
              <a:rPr sz="900" b="1" i="0" dirty="0">
                <a:solidFill>
                  <a:srgbClr val="1A1A2E"/>
                </a:solidFill>
              </a:rPr>
              <a:t> </a:t>
            </a:r>
            <a:r>
              <a:rPr lang="fr-FR" sz="900" b="1" i="0" dirty="0">
                <a:solidFill>
                  <a:srgbClr val="1A1A2E"/>
                </a:solidFill>
              </a:rPr>
              <a:t>-</a:t>
            </a:r>
            <a:r>
              <a:rPr sz="900" b="1" i="0" dirty="0">
                <a:solidFill>
                  <a:srgbClr val="1A1A2E"/>
                </a:solidFill>
              </a:rPr>
              <a:t> DEFIS</a:t>
            </a:r>
          </a:p>
        </p:txBody>
      </p:sp>
      <p:sp>
        <p:nvSpPr>
          <p:cNvPr id="6" name="TextBox 5"/>
          <p:cNvSpPr txBox="1"/>
          <p:nvPr/>
        </p:nvSpPr>
        <p:spPr>
          <a:xfrm>
            <a:off x="201168" y="576072"/>
            <a:ext cx="10058400" cy="685800"/>
          </a:xfrm>
          <a:prstGeom prst="rect">
            <a:avLst/>
          </a:prstGeom>
          <a:noFill/>
        </p:spPr>
        <p:txBody>
          <a:bodyPr wrap="square">
            <a:spAutoFit/>
          </a:bodyPr>
          <a:lstStyle/>
          <a:p>
            <a:pPr algn="l"/>
            <a:r>
              <a:rPr sz="2800" b="1" i="0" dirty="0">
                <a:solidFill>
                  <a:srgbClr val="FFFFFF"/>
                </a:solidFill>
              </a:rPr>
              <a:t>Defis rencontres &amp; solutions </a:t>
            </a:r>
            <a:r>
              <a:rPr sz="2800" b="1" i="0" dirty="0" err="1">
                <a:solidFill>
                  <a:srgbClr val="FFFFFF"/>
                </a:solidFill>
              </a:rPr>
              <a:t>apportees</a:t>
            </a:r>
            <a:endParaRPr sz="2800" b="1" i="0" dirty="0">
              <a:solidFill>
                <a:srgbClr val="FFFFFF"/>
              </a:solidFill>
            </a:endParaRPr>
          </a:p>
        </p:txBody>
      </p:sp>
      <p:sp>
        <p:nvSpPr>
          <p:cNvPr id="7" name="Rectangle 6"/>
          <p:cNvSpPr/>
          <p:nvPr/>
        </p:nvSpPr>
        <p:spPr>
          <a:xfrm>
            <a:off x="347472" y="1371600"/>
            <a:ext cx="57150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lert.png"/>
          <p:cNvPicPr>
            <a:picLocks noChangeAspect="1"/>
          </p:cNvPicPr>
          <p:nvPr/>
        </p:nvPicPr>
        <p:blipFill>
          <a:blip r:embed="rId3"/>
          <a:stretch>
            <a:fillRect/>
          </a:stretch>
        </p:blipFill>
        <p:spPr>
          <a:xfrm>
            <a:off x="484632" y="1481328"/>
            <a:ext cx="384048" cy="384048"/>
          </a:xfrm>
          <a:prstGeom prst="rect">
            <a:avLst/>
          </a:prstGeom>
        </p:spPr>
      </p:pic>
      <p:pic>
        <p:nvPicPr>
          <p:cNvPr id="9" name="Picture 8" descr="check-circle.png"/>
          <p:cNvPicPr>
            <a:picLocks noChangeAspect="1"/>
          </p:cNvPicPr>
          <p:nvPr/>
        </p:nvPicPr>
        <p:blipFill>
          <a:blip r:embed="rId4"/>
          <a:stretch>
            <a:fillRect/>
          </a:stretch>
        </p:blipFill>
        <p:spPr>
          <a:xfrm>
            <a:off x="484632" y="2212848"/>
            <a:ext cx="347472" cy="347472"/>
          </a:xfrm>
          <a:prstGeom prst="rect">
            <a:avLst/>
          </a:prstGeom>
        </p:spPr>
      </p:pic>
      <p:sp>
        <p:nvSpPr>
          <p:cNvPr id="10" name="Rectangle 9"/>
          <p:cNvSpPr/>
          <p:nvPr/>
        </p:nvSpPr>
        <p:spPr>
          <a:xfrm>
            <a:off x="347472" y="1371600"/>
            <a:ext cx="54864"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7472" y="2148840"/>
            <a:ext cx="54864" cy="77724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1463040"/>
            <a:ext cx="4956048" cy="594360"/>
          </a:xfrm>
          <a:prstGeom prst="rect">
            <a:avLst/>
          </a:prstGeom>
          <a:noFill/>
        </p:spPr>
        <p:txBody>
          <a:bodyPr wrap="square">
            <a:spAutoFit/>
          </a:bodyPr>
          <a:lstStyle/>
          <a:p>
            <a:pPr algn="l"/>
            <a:r>
              <a:rPr sz="1200" b="1" i="0">
                <a:solidFill>
                  <a:srgbClr val="1A1A2E"/>
                </a:solidFill>
              </a:rPr>
              <a:t>Module ethers.js introuvable</a:t>
            </a:r>
          </a:p>
        </p:txBody>
      </p:sp>
      <p:sp>
        <p:nvSpPr>
          <p:cNvPr id="13" name="TextBox 12"/>
          <p:cNvSpPr txBox="1"/>
          <p:nvPr/>
        </p:nvSpPr>
        <p:spPr>
          <a:xfrm>
            <a:off x="987552" y="2148840"/>
            <a:ext cx="4956048" cy="685800"/>
          </a:xfrm>
          <a:prstGeom prst="rect">
            <a:avLst/>
          </a:prstGeom>
          <a:noFill/>
        </p:spPr>
        <p:txBody>
          <a:bodyPr wrap="square">
            <a:spAutoFit/>
          </a:bodyPr>
          <a:lstStyle/>
          <a:p>
            <a:pPr algn="l"/>
            <a:r>
              <a:rPr sz="1100" b="0" i="0">
                <a:solidFill>
                  <a:srgbClr val="444455"/>
                </a:solidFill>
              </a:rPr>
              <a:t>Les node_modules Docker etaient mis en cache.
Solution : --renew-anon-volumes force la recreation du volume.</a:t>
            </a:r>
          </a:p>
        </p:txBody>
      </p:sp>
      <p:sp>
        <p:nvSpPr>
          <p:cNvPr id="14" name="Rectangle 13"/>
          <p:cNvSpPr/>
          <p:nvPr/>
        </p:nvSpPr>
        <p:spPr>
          <a:xfrm>
            <a:off x="6336792" y="1371600"/>
            <a:ext cx="57150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alert.png"/>
          <p:cNvPicPr>
            <a:picLocks noChangeAspect="1"/>
          </p:cNvPicPr>
          <p:nvPr/>
        </p:nvPicPr>
        <p:blipFill>
          <a:blip r:embed="rId3"/>
          <a:stretch>
            <a:fillRect/>
          </a:stretch>
        </p:blipFill>
        <p:spPr>
          <a:xfrm>
            <a:off x="6473952" y="1481328"/>
            <a:ext cx="384048" cy="384048"/>
          </a:xfrm>
          <a:prstGeom prst="rect">
            <a:avLst/>
          </a:prstGeom>
        </p:spPr>
      </p:pic>
      <p:pic>
        <p:nvPicPr>
          <p:cNvPr id="16" name="Picture 15" descr="check-circle.png"/>
          <p:cNvPicPr>
            <a:picLocks noChangeAspect="1"/>
          </p:cNvPicPr>
          <p:nvPr/>
        </p:nvPicPr>
        <p:blipFill>
          <a:blip r:embed="rId4"/>
          <a:stretch>
            <a:fillRect/>
          </a:stretch>
        </p:blipFill>
        <p:spPr>
          <a:xfrm>
            <a:off x="6473952" y="2212848"/>
            <a:ext cx="347472" cy="347472"/>
          </a:xfrm>
          <a:prstGeom prst="rect">
            <a:avLst/>
          </a:prstGeom>
        </p:spPr>
      </p:pic>
      <p:sp>
        <p:nvSpPr>
          <p:cNvPr id="17" name="Rectangle 16"/>
          <p:cNvSpPr/>
          <p:nvPr/>
        </p:nvSpPr>
        <p:spPr>
          <a:xfrm>
            <a:off x="6336792" y="1371600"/>
            <a:ext cx="54864"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36792" y="2148840"/>
            <a:ext cx="54864" cy="77724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76872" y="1463040"/>
            <a:ext cx="4956048" cy="594360"/>
          </a:xfrm>
          <a:prstGeom prst="rect">
            <a:avLst/>
          </a:prstGeom>
          <a:noFill/>
        </p:spPr>
        <p:txBody>
          <a:bodyPr wrap="square">
            <a:spAutoFit/>
          </a:bodyPr>
          <a:lstStyle/>
          <a:p>
            <a:pPr algn="l"/>
            <a:r>
              <a:rPr sz="1200" b="1" i="0">
                <a:solidFill>
                  <a:srgbClr val="1A1A2E"/>
                </a:solidFill>
              </a:rPr>
              <a:t>Transaction hash absent dans la verification</a:t>
            </a:r>
          </a:p>
        </p:txBody>
      </p:sp>
      <p:sp>
        <p:nvSpPr>
          <p:cNvPr id="20" name="TextBox 19"/>
          <p:cNvSpPr txBox="1"/>
          <p:nvPr/>
        </p:nvSpPr>
        <p:spPr>
          <a:xfrm>
            <a:off x="6976872" y="2148840"/>
            <a:ext cx="4956048" cy="685800"/>
          </a:xfrm>
          <a:prstGeom prst="rect">
            <a:avLst/>
          </a:prstGeom>
          <a:noFill/>
        </p:spPr>
        <p:txBody>
          <a:bodyPr wrap="square">
            <a:spAutoFit/>
          </a:bodyPr>
          <a:lstStyle/>
          <a:p>
            <a:pPr algn="l"/>
            <a:r>
              <a:rPr sz="1100" b="0" i="0">
                <a:solidFill>
                  <a:srgbClr val="444455"/>
                </a:solidFill>
              </a:rPr>
              <a:t>lireBlockchain() ne retourne pas le hash.
Solution : merger doc.transaction_hash depuis la base de donnees.</a:t>
            </a:r>
          </a:p>
        </p:txBody>
      </p:sp>
      <p:sp>
        <p:nvSpPr>
          <p:cNvPr id="21" name="Rectangle 20"/>
          <p:cNvSpPr/>
          <p:nvPr/>
        </p:nvSpPr>
        <p:spPr>
          <a:xfrm>
            <a:off x="347472" y="3063240"/>
            <a:ext cx="57150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alert.png"/>
          <p:cNvPicPr>
            <a:picLocks noChangeAspect="1"/>
          </p:cNvPicPr>
          <p:nvPr/>
        </p:nvPicPr>
        <p:blipFill>
          <a:blip r:embed="rId3"/>
          <a:stretch>
            <a:fillRect/>
          </a:stretch>
        </p:blipFill>
        <p:spPr>
          <a:xfrm>
            <a:off x="484632" y="3172968"/>
            <a:ext cx="384048" cy="384048"/>
          </a:xfrm>
          <a:prstGeom prst="rect">
            <a:avLst/>
          </a:prstGeom>
        </p:spPr>
      </p:pic>
      <p:pic>
        <p:nvPicPr>
          <p:cNvPr id="23" name="Picture 22" descr="check-circle.png"/>
          <p:cNvPicPr>
            <a:picLocks noChangeAspect="1"/>
          </p:cNvPicPr>
          <p:nvPr/>
        </p:nvPicPr>
        <p:blipFill>
          <a:blip r:embed="rId4"/>
          <a:stretch>
            <a:fillRect/>
          </a:stretch>
        </p:blipFill>
        <p:spPr>
          <a:xfrm>
            <a:off x="484632" y="3904488"/>
            <a:ext cx="347472" cy="347472"/>
          </a:xfrm>
          <a:prstGeom prst="rect">
            <a:avLst/>
          </a:prstGeom>
        </p:spPr>
      </p:pic>
      <p:sp>
        <p:nvSpPr>
          <p:cNvPr id="24" name="Rectangle 23"/>
          <p:cNvSpPr/>
          <p:nvPr/>
        </p:nvSpPr>
        <p:spPr>
          <a:xfrm>
            <a:off x="347472" y="3063240"/>
            <a:ext cx="54864"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47472" y="3840480"/>
            <a:ext cx="54864" cy="77724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7552" y="3154680"/>
            <a:ext cx="4956048" cy="594360"/>
          </a:xfrm>
          <a:prstGeom prst="rect">
            <a:avLst/>
          </a:prstGeom>
          <a:noFill/>
        </p:spPr>
        <p:txBody>
          <a:bodyPr wrap="square">
            <a:spAutoFit/>
          </a:bodyPr>
          <a:lstStyle/>
          <a:p>
            <a:pPr algn="l"/>
            <a:r>
              <a:rPr sz="1200" b="1" i="0">
                <a:solidFill>
                  <a:srgbClr val="1A1A2E"/>
                </a:solidFill>
              </a:rPr>
              <a:t>Faucet POL testnet inaccessible</a:t>
            </a:r>
          </a:p>
        </p:txBody>
      </p:sp>
      <p:sp>
        <p:nvSpPr>
          <p:cNvPr id="27" name="TextBox 26"/>
          <p:cNvSpPr txBox="1"/>
          <p:nvPr/>
        </p:nvSpPr>
        <p:spPr>
          <a:xfrm>
            <a:off x="987552" y="3840480"/>
            <a:ext cx="4956048" cy="685800"/>
          </a:xfrm>
          <a:prstGeom prst="rect">
            <a:avLst/>
          </a:prstGeom>
          <a:noFill/>
        </p:spPr>
        <p:txBody>
          <a:bodyPr wrap="square">
            <a:spAutoFit/>
          </a:bodyPr>
          <a:lstStyle/>
          <a:p>
            <a:pPr algn="l"/>
            <a:r>
              <a:rPr sz="1100" b="0" i="0">
                <a:solidFill>
                  <a:srgbClr val="444455"/>
                </a:solidFill>
              </a:rPr>
              <a:t>4 faucets essayes sans succes.
Solution : Triangle Platform — sans compte, sans prerequis.</a:t>
            </a:r>
          </a:p>
        </p:txBody>
      </p:sp>
      <p:sp>
        <p:nvSpPr>
          <p:cNvPr id="28" name="Rectangle 27"/>
          <p:cNvSpPr/>
          <p:nvPr/>
        </p:nvSpPr>
        <p:spPr>
          <a:xfrm>
            <a:off x="6336792" y="3063240"/>
            <a:ext cx="57150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alert.png"/>
          <p:cNvPicPr>
            <a:picLocks noChangeAspect="1"/>
          </p:cNvPicPr>
          <p:nvPr/>
        </p:nvPicPr>
        <p:blipFill>
          <a:blip r:embed="rId3"/>
          <a:stretch>
            <a:fillRect/>
          </a:stretch>
        </p:blipFill>
        <p:spPr>
          <a:xfrm>
            <a:off x="6473952" y="3172968"/>
            <a:ext cx="384048" cy="384048"/>
          </a:xfrm>
          <a:prstGeom prst="rect">
            <a:avLst/>
          </a:prstGeom>
        </p:spPr>
      </p:pic>
      <p:pic>
        <p:nvPicPr>
          <p:cNvPr id="30" name="Picture 29" descr="check-circle.png"/>
          <p:cNvPicPr>
            <a:picLocks noChangeAspect="1"/>
          </p:cNvPicPr>
          <p:nvPr/>
        </p:nvPicPr>
        <p:blipFill>
          <a:blip r:embed="rId4"/>
          <a:stretch>
            <a:fillRect/>
          </a:stretch>
        </p:blipFill>
        <p:spPr>
          <a:xfrm>
            <a:off x="6473952" y="3904488"/>
            <a:ext cx="347472" cy="347472"/>
          </a:xfrm>
          <a:prstGeom prst="rect">
            <a:avLst/>
          </a:prstGeom>
        </p:spPr>
      </p:pic>
      <p:sp>
        <p:nvSpPr>
          <p:cNvPr id="31" name="Rectangle 30"/>
          <p:cNvSpPr/>
          <p:nvPr/>
        </p:nvSpPr>
        <p:spPr>
          <a:xfrm>
            <a:off x="6336792" y="3063240"/>
            <a:ext cx="54864"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336792" y="3840480"/>
            <a:ext cx="54864" cy="77724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976872" y="3154680"/>
            <a:ext cx="4956048" cy="594360"/>
          </a:xfrm>
          <a:prstGeom prst="rect">
            <a:avLst/>
          </a:prstGeom>
          <a:noFill/>
        </p:spPr>
        <p:txBody>
          <a:bodyPr wrap="square">
            <a:spAutoFit/>
          </a:bodyPr>
          <a:lstStyle/>
          <a:p>
            <a:pPr algn="l"/>
            <a:r>
              <a:rPr sz="1200" b="1" i="0">
                <a:solidFill>
                  <a:srgbClr val="1A1A2E"/>
                </a:solidFill>
              </a:rPr>
              <a:t>Separation upload/validation</a:t>
            </a:r>
          </a:p>
        </p:txBody>
      </p:sp>
      <p:sp>
        <p:nvSpPr>
          <p:cNvPr id="34" name="TextBox 33"/>
          <p:cNvSpPr txBox="1"/>
          <p:nvPr/>
        </p:nvSpPr>
        <p:spPr>
          <a:xfrm>
            <a:off x="6976872" y="3840480"/>
            <a:ext cx="4956048" cy="685800"/>
          </a:xfrm>
          <a:prstGeom prst="rect">
            <a:avLst/>
          </a:prstGeom>
          <a:noFill/>
        </p:spPr>
        <p:txBody>
          <a:bodyPr wrap="square">
            <a:spAutoFit/>
          </a:bodyPr>
          <a:lstStyle/>
          <a:p>
            <a:pPr algn="l"/>
            <a:r>
              <a:rPr sz="1100" b="0" i="0">
                <a:solidFill>
                  <a:srgbClr val="444455"/>
                </a:solidFill>
              </a:rPr>
              <a:t>Le directeur uploadait et validait en meme temps.
Solution : 2 endpoints separes agent/directeur.</a:t>
            </a:r>
          </a:p>
        </p:txBody>
      </p:sp>
      <p:sp>
        <p:nvSpPr>
          <p:cNvPr id="35" name="Rectangle 34"/>
          <p:cNvSpPr/>
          <p:nvPr/>
        </p:nvSpPr>
        <p:spPr>
          <a:xfrm>
            <a:off x="347472" y="4754880"/>
            <a:ext cx="57150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alert.png"/>
          <p:cNvPicPr>
            <a:picLocks noChangeAspect="1"/>
          </p:cNvPicPr>
          <p:nvPr/>
        </p:nvPicPr>
        <p:blipFill>
          <a:blip r:embed="rId3"/>
          <a:stretch>
            <a:fillRect/>
          </a:stretch>
        </p:blipFill>
        <p:spPr>
          <a:xfrm>
            <a:off x="484632" y="4864608"/>
            <a:ext cx="384048" cy="384048"/>
          </a:xfrm>
          <a:prstGeom prst="rect">
            <a:avLst/>
          </a:prstGeom>
        </p:spPr>
      </p:pic>
      <p:pic>
        <p:nvPicPr>
          <p:cNvPr id="37" name="Picture 36" descr="check-circle.png"/>
          <p:cNvPicPr>
            <a:picLocks noChangeAspect="1"/>
          </p:cNvPicPr>
          <p:nvPr/>
        </p:nvPicPr>
        <p:blipFill>
          <a:blip r:embed="rId4"/>
          <a:stretch>
            <a:fillRect/>
          </a:stretch>
        </p:blipFill>
        <p:spPr>
          <a:xfrm>
            <a:off x="484632" y="5596128"/>
            <a:ext cx="347472" cy="347472"/>
          </a:xfrm>
          <a:prstGeom prst="rect">
            <a:avLst/>
          </a:prstGeom>
        </p:spPr>
      </p:pic>
      <p:sp>
        <p:nvSpPr>
          <p:cNvPr id="38" name="Rectangle 37"/>
          <p:cNvSpPr/>
          <p:nvPr/>
        </p:nvSpPr>
        <p:spPr>
          <a:xfrm>
            <a:off x="347472" y="4754880"/>
            <a:ext cx="54864"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47472" y="5532120"/>
            <a:ext cx="54864" cy="77724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87552" y="4846320"/>
            <a:ext cx="4956048" cy="594360"/>
          </a:xfrm>
          <a:prstGeom prst="rect">
            <a:avLst/>
          </a:prstGeom>
          <a:noFill/>
        </p:spPr>
        <p:txBody>
          <a:bodyPr wrap="square">
            <a:spAutoFit/>
          </a:bodyPr>
          <a:lstStyle/>
          <a:p>
            <a:pPr algn="l"/>
            <a:r>
              <a:rPr sz="1200" b="1" i="0">
                <a:solidFill>
                  <a:srgbClr val="1A1A2E"/>
                </a:solidFill>
              </a:rPr>
              <a:t>Cle privee sans prefixe 0x</a:t>
            </a:r>
          </a:p>
        </p:txBody>
      </p:sp>
      <p:sp>
        <p:nvSpPr>
          <p:cNvPr id="41" name="TextBox 40"/>
          <p:cNvSpPr txBox="1"/>
          <p:nvPr/>
        </p:nvSpPr>
        <p:spPr>
          <a:xfrm>
            <a:off x="987552" y="5532120"/>
            <a:ext cx="4956048" cy="685800"/>
          </a:xfrm>
          <a:prstGeom prst="rect">
            <a:avLst/>
          </a:prstGeom>
          <a:noFill/>
        </p:spPr>
        <p:txBody>
          <a:bodyPr wrap="square">
            <a:spAutoFit/>
          </a:bodyPr>
          <a:lstStyle/>
          <a:p>
            <a:pPr algn="l"/>
            <a:r>
              <a:rPr sz="1100" b="0" i="0">
                <a:solidFill>
                  <a:srgbClr val="444455"/>
                </a:solidFill>
              </a:rPr>
              <a:t>Hardhat rejetait la cle silencieusement.
Solution : ajout du prefixe 0x dans le fichier .env.</a:t>
            </a:r>
          </a:p>
        </p:txBody>
      </p:sp>
      <p:sp>
        <p:nvSpPr>
          <p:cNvPr id="42" name="Rectangle 41"/>
          <p:cNvSpPr/>
          <p:nvPr/>
        </p:nvSpPr>
        <p:spPr>
          <a:xfrm>
            <a:off x="6336792" y="4754880"/>
            <a:ext cx="57150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alert.png"/>
          <p:cNvPicPr>
            <a:picLocks noChangeAspect="1"/>
          </p:cNvPicPr>
          <p:nvPr/>
        </p:nvPicPr>
        <p:blipFill>
          <a:blip r:embed="rId3"/>
          <a:stretch>
            <a:fillRect/>
          </a:stretch>
        </p:blipFill>
        <p:spPr>
          <a:xfrm>
            <a:off x="6473952" y="4864608"/>
            <a:ext cx="384048" cy="384048"/>
          </a:xfrm>
          <a:prstGeom prst="rect">
            <a:avLst/>
          </a:prstGeom>
        </p:spPr>
      </p:pic>
      <p:pic>
        <p:nvPicPr>
          <p:cNvPr id="44" name="Picture 43" descr="check-circle.png"/>
          <p:cNvPicPr>
            <a:picLocks noChangeAspect="1"/>
          </p:cNvPicPr>
          <p:nvPr/>
        </p:nvPicPr>
        <p:blipFill>
          <a:blip r:embed="rId4"/>
          <a:stretch>
            <a:fillRect/>
          </a:stretch>
        </p:blipFill>
        <p:spPr>
          <a:xfrm>
            <a:off x="6473952" y="5596128"/>
            <a:ext cx="347472" cy="347472"/>
          </a:xfrm>
          <a:prstGeom prst="rect">
            <a:avLst/>
          </a:prstGeom>
        </p:spPr>
      </p:pic>
      <p:sp>
        <p:nvSpPr>
          <p:cNvPr id="45" name="Rectangle 44"/>
          <p:cNvSpPr/>
          <p:nvPr/>
        </p:nvSpPr>
        <p:spPr>
          <a:xfrm>
            <a:off x="6336792" y="4754880"/>
            <a:ext cx="54864" cy="77724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336792" y="5532120"/>
            <a:ext cx="54864" cy="77724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976872" y="4846320"/>
            <a:ext cx="4956048" cy="594360"/>
          </a:xfrm>
          <a:prstGeom prst="rect">
            <a:avLst/>
          </a:prstGeom>
          <a:noFill/>
        </p:spPr>
        <p:txBody>
          <a:bodyPr wrap="square">
            <a:spAutoFit/>
          </a:bodyPr>
          <a:lstStyle/>
          <a:p>
            <a:pPr algn="l"/>
            <a:r>
              <a:rPr sz="1200" b="1" i="0">
                <a:solidFill>
                  <a:srgbClr val="1A1A2E"/>
                </a:solidFill>
              </a:rPr>
              <a:t>PDF accessible apres revocation</a:t>
            </a:r>
          </a:p>
        </p:txBody>
      </p:sp>
      <p:sp>
        <p:nvSpPr>
          <p:cNvPr id="48" name="TextBox 47"/>
          <p:cNvSpPr txBox="1"/>
          <p:nvPr/>
        </p:nvSpPr>
        <p:spPr>
          <a:xfrm>
            <a:off x="6976872" y="5532120"/>
            <a:ext cx="4956048" cy="685800"/>
          </a:xfrm>
          <a:prstGeom prst="rect">
            <a:avLst/>
          </a:prstGeom>
          <a:noFill/>
        </p:spPr>
        <p:txBody>
          <a:bodyPr wrap="square">
            <a:spAutoFit/>
          </a:bodyPr>
          <a:lstStyle/>
          <a:p>
            <a:pPr algn="l"/>
            <a:r>
              <a:rPr sz="1100" b="0" i="0">
                <a:solidFill>
                  <a:srgbClr val="444455"/>
                </a:solidFill>
              </a:rPr>
              <a:t>getPdfUrl() ne verifiait pas le statut.
Solution : ForbiddenException si statut === 'revoque'.</a:t>
            </a:r>
          </a:p>
        </p:txBody>
      </p:sp>
      <p:sp>
        <p:nvSpPr>
          <p:cNvPr id="49" name="TextBox 48"/>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20 </a:t>
            </a:r>
            <a:r>
              <a:rPr sz="900" b="0" i="0" dirty="0">
                <a:solidFill>
                  <a:srgbClr val="C9A84C"/>
                </a:solidFill>
              </a:rPr>
              <a:t>/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dirty="0">
                <a:solidFill>
                  <a:srgbClr val="1A1A2E"/>
                </a:solidFill>
              </a:rPr>
              <a:t>9</a:t>
            </a:r>
            <a:r>
              <a:rPr sz="900" b="1" i="0" dirty="0">
                <a:solidFill>
                  <a:srgbClr val="1A1A2E"/>
                </a:solidFill>
              </a:rPr>
              <a:t> </a:t>
            </a:r>
            <a:r>
              <a:rPr lang="fr-FR" sz="900" b="1" i="0" dirty="0">
                <a:solidFill>
                  <a:srgbClr val="1A1A2E"/>
                </a:solidFill>
              </a:rPr>
              <a:t>-</a:t>
            </a:r>
            <a:r>
              <a:rPr sz="900" b="1" i="0" dirty="0">
                <a:solidFill>
                  <a:srgbClr val="1A1A2E"/>
                </a:solidFill>
              </a:rPr>
              <a:t> BILAN</a:t>
            </a:r>
          </a:p>
        </p:txBody>
      </p:sp>
      <p:sp>
        <p:nvSpPr>
          <p:cNvPr id="5" name="TextBox 4"/>
          <p:cNvSpPr txBox="1"/>
          <p:nvPr/>
        </p:nvSpPr>
        <p:spPr>
          <a:xfrm>
            <a:off x="457200" y="640080"/>
            <a:ext cx="9144000" cy="685800"/>
          </a:xfrm>
          <a:prstGeom prst="rect">
            <a:avLst/>
          </a:prstGeom>
          <a:noFill/>
        </p:spPr>
        <p:txBody>
          <a:bodyPr wrap="square">
            <a:spAutoFit/>
          </a:bodyPr>
          <a:lstStyle/>
          <a:p>
            <a:pPr algn="l"/>
            <a:r>
              <a:rPr sz="2800" b="1" i="0">
                <a:solidFill>
                  <a:srgbClr val="FFFFFF"/>
                </a:solidFill>
              </a:rPr>
              <a:t>Ce qui a ete livre</a:t>
            </a:r>
          </a:p>
        </p:txBody>
      </p:sp>
      <p:sp>
        <p:nvSpPr>
          <p:cNvPr id="6" name="Rectangle 5"/>
          <p:cNvSpPr/>
          <p:nvPr/>
        </p:nvSpPr>
        <p:spPr>
          <a:xfrm>
            <a:off x="34747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554480"/>
            <a:ext cx="2606040" cy="685800"/>
          </a:xfrm>
          <a:prstGeom prst="rect">
            <a:avLst/>
          </a:prstGeom>
          <a:noFill/>
        </p:spPr>
        <p:txBody>
          <a:bodyPr wrap="square">
            <a:spAutoFit/>
          </a:bodyPr>
          <a:lstStyle/>
          <a:p>
            <a:pPr algn="ctr"/>
            <a:r>
              <a:rPr sz="3800" b="1" i="0">
                <a:solidFill>
                  <a:srgbClr val="C9A84C"/>
                </a:solidFill>
              </a:rPr>
              <a:t>50+</a:t>
            </a:r>
          </a:p>
        </p:txBody>
      </p:sp>
      <p:sp>
        <p:nvSpPr>
          <p:cNvPr id="9" name="TextBox 8"/>
          <p:cNvSpPr txBox="1"/>
          <p:nvPr/>
        </p:nvSpPr>
        <p:spPr>
          <a:xfrm>
            <a:off x="347472" y="2176272"/>
            <a:ext cx="2606040" cy="320040"/>
          </a:xfrm>
          <a:prstGeom prst="rect">
            <a:avLst/>
          </a:prstGeom>
          <a:noFill/>
        </p:spPr>
        <p:txBody>
          <a:bodyPr wrap="square">
            <a:spAutoFit/>
          </a:bodyPr>
          <a:lstStyle/>
          <a:p>
            <a:pPr algn="ctr"/>
            <a:endParaRPr/>
          </a:p>
        </p:txBody>
      </p:sp>
      <p:sp>
        <p:nvSpPr>
          <p:cNvPr id="10" name="TextBox 9"/>
          <p:cNvSpPr txBox="1"/>
          <p:nvPr/>
        </p:nvSpPr>
        <p:spPr>
          <a:xfrm>
            <a:off x="347472" y="2468880"/>
            <a:ext cx="2606040" cy="292608"/>
          </a:xfrm>
          <a:prstGeom prst="rect">
            <a:avLst/>
          </a:prstGeom>
          <a:noFill/>
        </p:spPr>
        <p:txBody>
          <a:bodyPr wrap="square">
            <a:spAutoFit/>
          </a:bodyPr>
          <a:lstStyle/>
          <a:p>
            <a:pPr algn="ctr"/>
            <a:r>
              <a:rPr sz="1100" b="0" i="0">
                <a:solidFill>
                  <a:srgbClr val="F4F4F8"/>
                </a:solidFill>
              </a:rPr>
              <a:t>endpoints REST
documentes</a:t>
            </a:r>
          </a:p>
        </p:txBody>
      </p:sp>
      <p:sp>
        <p:nvSpPr>
          <p:cNvPr id="11" name="Rectangle 10"/>
          <p:cNvSpPr/>
          <p:nvPr/>
        </p:nvSpPr>
        <p:spPr>
          <a:xfrm>
            <a:off x="322783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2783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27832" y="1554480"/>
            <a:ext cx="2606040" cy="685800"/>
          </a:xfrm>
          <a:prstGeom prst="rect">
            <a:avLst/>
          </a:prstGeom>
          <a:noFill/>
        </p:spPr>
        <p:txBody>
          <a:bodyPr wrap="square">
            <a:spAutoFit/>
          </a:bodyPr>
          <a:lstStyle/>
          <a:p>
            <a:pPr algn="ctr"/>
            <a:r>
              <a:rPr sz="3800" b="1" i="0">
                <a:solidFill>
                  <a:srgbClr val="C9A84C"/>
                </a:solidFill>
              </a:rPr>
              <a:t>25</a:t>
            </a:r>
          </a:p>
        </p:txBody>
      </p:sp>
      <p:sp>
        <p:nvSpPr>
          <p:cNvPr id="14" name="TextBox 13"/>
          <p:cNvSpPr txBox="1"/>
          <p:nvPr/>
        </p:nvSpPr>
        <p:spPr>
          <a:xfrm>
            <a:off x="3227832" y="2176272"/>
            <a:ext cx="2606040" cy="320040"/>
          </a:xfrm>
          <a:prstGeom prst="rect">
            <a:avLst/>
          </a:prstGeom>
          <a:noFill/>
        </p:spPr>
        <p:txBody>
          <a:bodyPr wrap="square">
            <a:spAutoFit/>
          </a:bodyPr>
          <a:lstStyle/>
          <a:p>
            <a:pPr algn="ctr"/>
            <a:endParaRPr/>
          </a:p>
        </p:txBody>
      </p:sp>
      <p:sp>
        <p:nvSpPr>
          <p:cNvPr id="15" name="TextBox 14"/>
          <p:cNvSpPr txBox="1"/>
          <p:nvPr/>
        </p:nvSpPr>
        <p:spPr>
          <a:xfrm>
            <a:off x="3227832" y="2468880"/>
            <a:ext cx="2606040" cy="292608"/>
          </a:xfrm>
          <a:prstGeom prst="rect">
            <a:avLst/>
          </a:prstGeom>
          <a:noFill/>
        </p:spPr>
        <p:txBody>
          <a:bodyPr wrap="square">
            <a:spAutoFit/>
          </a:bodyPr>
          <a:lstStyle/>
          <a:p>
            <a:pPr algn="ctr"/>
            <a:r>
              <a:rPr sz="1100" b="0" i="0">
                <a:solidFill>
                  <a:srgbClr val="F4F4F8"/>
                </a:solidFill>
              </a:rPr>
              <a:t>permissions
RBAC</a:t>
            </a:r>
          </a:p>
        </p:txBody>
      </p:sp>
      <p:sp>
        <p:nvSpPr>
          <p:cNvPr id="16" name="Rectangle 15"/>
          <p:cNvSpPr/>
          <p:nvPr/>
        </p:nvSpPr>
        <p:spPr>
          <a:xfrm>
            <a:off x="610819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0819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08192" y="1554480"/>
            <a:ext cx="2606040" cy="685800"/>
          </a:xfrm>
          <a:prstGeom prst="rect">
            <a:avLst/>
          </a:prstGeom>
          <a:noFill/>
        </p:spPr>
        <p:txBody>
          <a:bodyPr wrap="square">
            <a:spAutoFit/>
          </a:bodyPr>
          <a:lstStyle/>
          <a:p>
            <a:pPr algn="ctr"/>
            <a:r>
              <a:rPr sz="3800" b="1" i="0">
                <a:solidFill>
                  <a:srgbClr val="C9A84C"/>
                </a:solidFill>
              </a:rPr>
              <a:t>60+</a:t>
            </a:r>
          </a:p>
        </p:txBody>
      </p:sp>
      <p:sp>
        <p:nvSpPr>
          <p:cNvPr id="19" name="TextBox 18"/>
          <p:cNvSpPr txBox="1"/>
          <p:nvPr/>
        </p:nvSpPr>
        <p:spPr>
          <a:xfrm>
            <a:off x="6108192" y="2176272"/>
            <a:ext cx="2606040" cy="320040"/>
          </a:xfrm>
          <a:prstGeom prst="rect">
            <a:avLst/>
          </a:prstGeom>
          <a:noFill/>
        </p:spPr>
        <p:txBody>
          <a:bodyPr wrap="square">
            <a:spAutoFit/>
          </a:bodyPr>
          <a:lstStyle/>
          <a:p>
            <a:pPr algn="ctr"/>
            <a:endParaRPr/>
          </a:p>
        </p:txBody>
      </p:sp>
      <p:sp>
        <p:nvSpPr>
          <p:cNvPr id="20" name="TextBox 19"/>
          <p:cNvSpPr txBox="1"/>
          <p:nvPr/>
        </p:nvSpPr>
        <p:spPr>
          <a:xfrm>
            <a:off x="6108192" y="2468880"/>
            <a:ext cx="2606040" cy="292608"/>
          </a:xfrm>
          <a:prstGeom prst="rect">
            <a:avLst/>
          </a:prstGeom>
          <a:noFill/>
        </p:spPr>
        <p:txBody>
          <a:bodyPr wrap="square">
            <a:spAutoFit/>
          </a:bodyPr>
          <a:lstStyle/>
          <a:p>
            <a:pPr algn="ctr"/>
            <a:r>
              <a:rPr sz="1100" b="0" i="0">
                <a:solidFill>
                  <a:srgbClr val="F4F4F8"/>
                </a:solidFill>
              </a:rPr>
              <a:t>tests unitaires
Jest</a:t>
            </a:r>
          </a:p>
        </p:txBody>
      </p:sp>
      <p:sp>
        <p:nvSpPr>
          <p:cNvPr id="21" name="Rectangle 20"/>
          <p:cNvSpPr/>
          <p:nvPr/>
        </p:nvSpPr>
        <p:spPr>
          <a:xfrm>
            <a:off x="8988552" y="1481328"/>
            <a:ext cx="2606040" cy="14173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88552" y="2715768"/>
            <a:ext cx="26060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88552" y="1554480"/>
            <a:ext cx="2606040" cy="685800"/>
          </a:xfrm>
          <a:prstGeom prst="rect">
            <a:avLst/>
          </a:prstGeom>
          <a:noFill/>
        </p:spPr>
        <p:txBody>
          <a:bodyPr wrap="square">
            <a:spAutoFit/>
          </a:bodyPr>
          <a:lstStyle/>
          <a:p>
            <a:pPr algn="ctr"/>
            <a:r>
              <a:rPr sz="3800" b="1" i="0">
                <a:solidFill>
                  <a:srgbClr val="C9A84C"/>
                </a:solidFill>
              </a:rPr>
              <a:t>3</a:t>
            </a:r>
          </a:p>
        </p:txBody>
      </p:sp>
      <p:sp>
        <p:nvSpPr>
          <p:cNvPr id="24" name="TextBox 23"/>
          <p:cNvSpPr txBox="1"/>
          <p:nvPr/>
        </p:nvSpPr>
        <p:spPr>
          <a:xfrm>
            <a:off x="8988552" y="2176272"/>
            <a:ext cx="2606040" cy="320040"/>
          </a:xfrm>
          <a:prstGeom prst="rect">
            <a:avLst/>
          </a:prstGeom>
          <a:noFill/>
        </p:spPr>
        <p:txBody>
          <a:bodyPr wrap="square">
            <a:spAutoFit/>
          </a:bodyPr>
          <a:lstStyle/>
          <a:p>
            <a:pPr algn="ctr"/>
            <a:endParaRPr/>
          </a:p>
        </p:txBody>
      </p:sp>
      <p:sp>
        <p:nvSpPr>
          <p:cNvPr id="25" name="TextBox 24"/>
          <p:cNvSpPr txBox="1"/>
          <p:nvPr/>
        </p:nvSpPr>
        <p:spPr>
          <a:xfrm>
            <a:off x="8988552" y="2468880"/>
            <a:ext cx="2606040" cy="292608"/>
          </a:xfrm>
          <a:prstGeom prst="rect">
            <a:avLst/>
          </a:prstGeom>
          <a:noFill/>
        </p:spPr>
        <p:txBody>
          <a:bodyPr wrap="square">
            <a:spAutoFit/>
          </a:bodyPr>
          <a:lstStyle/>
          <a:p>
            <a:pPr algn="ctr"/>
            <a:r>
              <a:rPr sz="1100" b="0" i="0">
                <a:solidFill>
                  <a:srgbClr val="F4F4F8"/>
                </a:solidFill>
              </a:rPr>
              <a:t>methodes de
verification</a:t>
            </a:r>
          </a:p>
        </p:txBody>
      </p:sp>
      <p:sp>
        <p:nvSpPr>
          <p:cNvPr id="26" name="Rectangle 25"/>
          <p:cNvSpPr/>
          <p:nvPr/>
        </p:nvSpPr>
        <p:spPr>
          <a:xfrm>
            <a:off x="347472" y="3127248"/>
            <a:ext cx="5623560" cy="29718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47472" y="3127248"/>
            <a:ext cx="562356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 y="3200400"/>
            <a:ext cx="5303520" cy="347472"/>
          </a:xfrm>
          <a:prstGeom prst="rect">
            <a:avLst/>
          </a:prstGeom>
          <a:noFill/>
        </p:spPr>
        <p:txBody>
          <a:bodyPr wrap="square">
            <a:spAutoFit/>
          </a:bodyPr>
          <a:lstStyle/>
          <a:p>
            <a:pPr algn="l"/>
            <a:r>
              <a:rPr sz="1400" b="1" i="0">
                <a:solidFill>
                  <a:srgbClr val="C9A84C"/>
                </a:solidFill>
              </a:rPr>
              <a:t>Fonctionnalites implementees</a:t>
            </a:r>
          </a:p>
        </p:txBody>
      </p:sp>
      <p:pic>
        <p:nvPicPr>
          <p:cNvPr id="29" name="Picture 28" descr="check.png"/>
          <p:cNvPicPr>
            <a:picLocks noChangeAspect="1"/>
          </p:cNvPicPr>
          <p:nvPr/>
        </p:nvPicPr>
        <p:blipFill>
          <a:blip r:embed="rId3"/>
          <a:stretch>
            <a:fillRect/>
          </a:stretch>
        </p:blipFill>
        <p:spPr>
          <a:xfrm>
            <a:off x="438912" y="3675887"/>
            <a:ext cx="219456" cy="219456"/>
          </a:xfrm>
          <a:prstGeom prst="rect">
            <a:avLst/>
          </a:prstGeom>
        </p:spPr>
      </p:pic>
      <p:sp>
        <p:nvSpPr>
          <p:cNvPr id="30" name="TextBox 29"/>
          <p:cNvSpPr txBox="1"/>
          <p:nvPr/>
        </p:nvSpPr>
        <p:spPr>
          <a:xfrm>
            <a:off x="749808" y="3694176"/>
            <a:ext cx="5120640" cy="256032"/>
          </a:xfrm>
          <a:prstGeom prst="rect">
            <a:avLst/>
          </a:prstGeom>
          <a:noFill/>
        </p:spPr>
        <p:txBody>
          <a:bodyPr wrap="square">
            <a:spAutoFit/>
          </a:bodyPr>
          <a:lstStyle/>
          <a:p>
            <a:pPr algn="l"/>
            <a:r>
              <a:rPr sz="1100" b="0" i="0">
                <a:solidFill>
                  <a:srgbClr val="F4F4F8"/>
                </a:solidFill>
              </a:rPr>
              <a:t>Authentification complete (JWT, refresh, sessions, 2FA email)</a:t>
            </a:r>
          </a:p>
        </p:txBody>
      </p:sp>
      <p:pic>
        <p:nvPicPr>
          <p:cNvPr id="31" name="Picture 30" descr="check.png"/>
          <p:cNvPicPr>
            <a:picLocks noChangeAspect="1"/>
          </p:cNvPicPr>
          <p:nvPr/>
        </p:nvPicPr>
        <p:blipFill>
          <a:blip r:embed="rId3"/>
          <a:stretch>
            <a:fillRect/>
          </a:stretch>
        </p:blipFill>
        <p:spPr>
          <a:xfrm>
            <a:off x="438912" y="3959351"/>
            <a:ext cx="219456" cy="219456"/>
          </a:xfrm>
          <a:prstGeom prst="rect">
            <a:avLst/>
          </a:prstGeom>
        </p:spPr>
      </p:pic>
      <p:sp>
        <p:nvSpPr>
          <p:cNvPr id="32" name="TextBox 31"/>
          <p:cNvSpPr txBox="1"/>
          <p:nvPr/>
        </p:nvSpPr>
        <p:spPr>
          <a:xfrm>
            <a:off x="749808" y="3977639"/>
            <a:ext cx="5120640" cy="256032"/>
          </a:xfrm>
          <a:prstGeom prst="rect">
            <a:avLst/>
          </a:prstGeom>
          <a:noFill/>
        </p:spPr>
        <p:txBody>
          <a:bodyPr wrap="square">
            <a:spAutoFit/>
          </a:bodyPr>
          <a:lstStyle/>
          <a:p>
            <a:pPr algn="l"/>
            <a:r>
              <a:rPr sz="1100" b="0" i="0">
                <a:solidFill>
                  <a:srgbClr val="F4F4F8"/>
                </a:solidFill>
              </a:rPr>
              <a:t>Workflow diplome 5 etapes avec ancrage blockchain</a:t>
            </a:r>
          </a:p>
        </p:txBody>
      </p:sp>
      <p:pic>
        <p:nvPicPr>
          <p:cNvPr id="33" name="Picture 32" descr="check.png"/>
          <p:cNvPicPr>
            <a:picLocks noChangeAspect="1"/>
          </p:cNvPicPr>
          <p:nvPr/>
        </p:nvPicPr>
        <p:blipFill>
          <a:blip r:embed="rId3"/>
          <a:stretch>
            <a:fillRect/>
          </a:stretch>
        </p:blipFill>
        <p:spPr>
          <a:xfrm>
            <a:off x="438912" y="4242816"/>
            <a:ext cx="219456" cy="219456"/>
          </a:xfrm>
          <a:prstGeom prst="rect">
            <a:avLst/>
          </a:prstGeom>
        </p:spPr>
      </p:pic>
      <p:sp>
        <p:nvSpPr>
          <p:cNvPr id="34" name="TextBox 33"/>
          <p:cNvSpPr txBox="1"/>
          <p:nvPr/>
        </p:nvSpPr>
        <p:spPr>
          <a:xfrm>
            <a:off x="749808" y="4261104"/>
            <a:ext cx="5120640" cy="256032"/>
          </a:xfrm>
          <a:prstGeom prst="rect">
            <a:avLst/>
          </a:prstGeom>
          <a:noFill/>
        </p:spPr>
        <p:txBody>
          <a:bodyPr wrap="square">
            <a:spAutoFit/>
          </a:bodyPr>
          <a:lstStyle/>
          <a:p>
            <a:pPr algn="l"/>
            <a:r>
              <a:rPr sz="1100" b="0" i="0">
                <a:solidFill>
                  <a:srgbClr val="F4F4F8"/>
                </a:solidFill>
              </a:rPr>
              <a:t>Verification publique (QR - hash - upload PDF)</a:t>
            </a:r>
          </a:p>
        </p:txBody>
      </p:sp>
      <p:pic>
        <p:nvPicPr>
          <p:cNvPr id="35" name="Picture 34" descr="check.png"/>
          <p:cNvPicPr>
            <a:picLocks noChangeAspect="1"/>
          </p:cNvPicPr>
          <p:nvPr/>
        </p:nvPicPr>
        <p:blipFill>
          <a:blip r:embed="rId3"/>
          <a:stretch>
            <a:fillRect/>
          </a:stretch>
        </p:blipFill>
        <p:spPr>
          <a:xfrm>
            <a:off x="438912" y="4526279"/>
            <a:ext cx="219456" cy="219456"/>
          </a:xfrm>
          <a:prstGeom prst="rect">
            <a:avLst/>
          </a:prstGeom>
        </p:spPr>
      </p:pic>
      <p:sp>
        <p:nvSpPr>
          <p:cNvPr id="36" name="TextBox 35"/>
          <p:cNvSpPr txBox="1"/>
          <p:nvPr/>
        </p:nvSpPr>
        <p:spPr>
          <a:xfrm>
            <a:off x="749808" y="4544568"/>
            <a:ext cx="5120640" cy="256032"/>
          </a:xfrm>
          <a:prstGeom prst="rect">
            <a:avLst/>
          </a:prstGeom>
          <a:noFill/>
        </p:spPr>
        <p:txBody>
          <a:bodyPr wrap="square">
            <a:spAutoFit/>
          </a:bodyPr>
          <a:lstStyle/>
          <a:p>
            <a:pPr algn="l"/>
            <a:r>
              <a:rPr sz="1100" b="0" i="0">
                <a:solidFill>
                  <a:srgbClr val="F4F4F8"/>
                </a:solidFill>
              </a:rPr>
              <a:t>Rapport PDF horodate avec logo INUBIL</a:t>
            </a:r>
          </a:p>
        </p:txBody>
      </p:sp>
      <p:pic>
        <p:nvPicPr>
          <p:cNvPr id="37" name="Picture 36" descr="check.png"/>
          <p:cNvPicPr>
            <a:picLocks noChangeAspect="1"/>
          </p:cNvPicPr>
          <p:nvPr/>
        </p:nvPicPr>
        <p:blipFill>
          <a:blip r:embed="rId3"/>
          <a:stretch>
            <a:fillRect/>
          </a:stretch>
        </p:blipFill>
        <p:spPr>
          <a:xfrm>
            <a:off x="438912" y="4809744"/>
            <a:ext cx="219456" cy="219456"/>
          </a:xfrm>
          <a:prstGeom prst="rect">
            <a:avLst/>
          </a:prstGeom>
        </p:spPr>
      </p:pic>
      <p:sp>
        <p:nvSpPr>
          <p:cNvPr id="38" name="TextBox 37"/>
          <p:cNvSpPr txBox="1"/>
          <p:nvPr/>
        </p:nvSpPr>
        <p:spPr>
          <a:xfrm>
            <a:off x="749808" y="4828032"/>
            <a:ext cx="5120640" cy="256032"/>
          </a:xfrm>
          <a:prstGeom prst="rect">
            <a:avLst/>
          </a:prstGeom>
          <a:noFill/>
        </p:spPr>
        <p:txBody>
          <a:bodyPr wrap="square">
            <a:spAutoFit/>
          </a:bodyPr>
          <a:lstStyle/>
          <a:p>
            <a:pPr algn="l"/>
            <a:r>
              <a:rPr sz="1100" b="0" i="0">
                <a:solidFill>
                  <a:srgbClr val="F4F4F8"/>
                </a:solidFill>
              </a:rPr>
              <a:t>Partage securise par token (espace etudiant)</a:t>
            </a:r>
          </a:p>
        </p:txBody>
      </p:sp>
      <p:pic>
        <p:nvPicPr>
          <p:cNvPr id="39" name="Picture 38" descr="check.png"/>
          <p:cNvPicPr>
            <a:picLocks noChangeAspect="1"/>
          </p:cNvPicPr>
          <p:nvPr/>
        </p:nvPicPr>
        <p:blipFill>
          <a:blip r:embed="rId3"/>
          <a:stretch>
            <a:fillRect/>
          </a:stretch>
        </p:blipFill>
        <p:spPr>
          <a:xfrm>
            <a:off x="438912" y="5093207"/>
            <a:ext cx="219456" cy="219456"/>
          </a:xfrm>
          <a:prstGeom prst="rect">
            <a:avLst/>
          </a:prstGeom>
        </p:spPr>
      </p:pic>
      <p:sp>
        <p:nvSpPr>
          <p:cNvPr id="40" name="TextBox 39"/>
          <p:cNvSpPr txBox="1"/>
          <p:nvPr/>
        </p:nvSpPr>
        <p:spPr>
          <a:xfrm>
            <a:off x="749808" y="5111496"/>
            <a:ext cx="5120640" cy="256032"/>
          </a:xfrm>
          <a:prstGeom prst="rect">
            <a:avLst/>
          </a:prstGeom>
          <a:noFill/>
        </p:spPr>
        <p:txBody>
          <a:bodyPr wrap="square">
            <a:spAutoFit/>
          </a:bodyPr>
          <a:lstStyle/>
          <a:p>
            <a:pPr algn="l"/>
            <a:r>
              <a:rPr sz="1100" b="0" i="0">
                <a:solidFill>
                  <a:srgbClr val="F4F4F8"/>
                </a:solidFill>
              </a:rPr>
              <a:t>Journal d'audit complet</a:t>
            </a:r>
          </a:p>
        </p:txBody>
      </p:sp>
      <p:pic>
        <p:nvPicPr>
          <p:cNvPr id="41" name="Picture 40" descr="check.png"/>
          <p:cNvPicPr>
            <a:picLocks noChangeAspect="1"/>
          </p:cNvPicPr>
          <p:nvPr/>
        </p:nvPicPr>
        <p:blipFill>
          <a:blip r:embed="rId3"/>
          <a:stretch>
            <a:fillRect/>
          </a:stretch>
        </p:blipFill>
        <p:spPr>
          <a:xfrm>
            <a:off x="438912" y="5376671"/>
            <a:ext cx="219456" cy="219456"/>
          </a:xfrm>
          <a:prstGeom prst="rect">
            <a:avLst/>
          </a:prstGeom>
        </p:spPr>
      </p:pic>
      <p:sp>
        <p:nvSpPr>
          <p:cNvPr id="42" name="TextBox 41"/>
          <p:cNvSpPr txBox="1"/>
          <p:nvPr/>
        </p:nvSpPr>
        <p:spPr>
          <a:xfrm>
            <a:off x="749808" y="5394960"/>
            <a:ext cx="5120640" cy="256032"/>
          </a:xfrm>
          <a:prstGeom prst="rect">
            <a:avLst/>
          </a:prstGeom>
          <a:noFill/>
        </p:spPr>
        <p:txBody>
          <a:bodyPr wrap="square">
            <a:spAutoFit/>
          </a:bodyPr>
          <a:lstStyle/>
          <a:p>
            <a:pPr algn="l"/>
            <a:r>
              <a:rPr sz="1100" b="0" i="0">
                <a:solidFill>
                  <a:srgbClr val="F4F4F8"/>
                </a:solidFill>
              </a:rPr>
              <a:t>Isolation multi-tenant par universite</a:t>
            </a:r>
          </a:p>
        </p:txBody>
      </p:sp>
      <p:pic>
        <p:nvPicPr>
          <p:cNvPr id="43" name="Picture 42" descr="check.png"/>
          <p:cNvPicPr>
            <a:picLocks noChangeAspect="1"/>
          </p:cNvPicPr>
          <p:nvPr/>
        </p:nvPicPr>
        <p:blipFill>
          <a:blip r:embed="rId3"/>
          <a:stretch>
            <a:fillRect/>
          </a:stretch>
        </p:blipFill>
        <p:spPr>
          <a:xfrm>
            <a:off x="438912" y="5660136"/>
            <a:ext cx="219456" cy="219456"/>
          </a:xfrm>
          <a:prstGeom prst="rect">
            <a:avLst/>
          </a:prstGeom>
        </p:spPr>
      </p:pic>
      <p:sp>
        <p:nvSpPr>
          <p:cNvPr id="44" name="TextBox 43"/>
          <p:cNvSpPr txBox="1"/>
          <p:nvPr/>
        </p:nvSpPr>
        <p:spPr>
          <a:xfrm>
            <a:off x="749808" y="5678424"/>
            <a:ext cx="5120640" cy="256032"/>
          </a:xfrm>
          <a:prstGeom prst="rect">
            <a:avLst/>
          </a:prstGeom>
          <a:noFill/>
        </p:spPr>
        <p:txBody>
          <a:bodyPr wrap="square">
            <a:spAutoFit/>
          </a:bodyPr>
          <a:lstStyle/>
          <a:p>
            <a:pPr algn="l"/>
            <a:r>
              <a:rPr sz="1100" b="0" i="0">
                <a:solidFill>
                  <a:srgbClr val="F4F4F8"/>
                </a:solidFill>
              </a:rPr>
              <a:t>Stockage securise Cloudflare R2</a:t>
            </a:r>
          </a:p>
        </p:txBody>
      </p:sp>
      <p:sp>
        <p:nvSpPr>
          <p:cNvPr id="45" name="Rectangle 44"/>
          <p:cNvSpPr/>
          <p:nvPr/>
        </p:nvSpPr>
        <p:spPr>
          <a:xfrm>
            <a:off x="6172200" y="3127248"/>
            <a:ext cx="5669280" cy="29718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6172200" y="3127248"/>
            <a:ext cx="566928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27648" y="3200400"/>
            <a:ext cx="5303520" cy="307777"/>
          </a:xfrm>
          <a:prstGeom prst="rect">
            <a:avLst/>
          </a:prstGeom>
          <a:noFill/>
        </p:spPr>
        <p:txBody>
          <a:bodyPr wrap="square">
            <a:spAutoFit/>
          </a:bodyPr>
          <a:lstStyle/>
          <a:p>
            <a:pPr algn="l"/>
            <a:r>
              <a:rPr sz="1400" b="1" i="0" dirty="0">
                <a:solidFill>
                  <a:srgbClr val="C9A84C"/>
                </a:solidFill>
              </a:rPr>
              <a:t>Frontend </a:t>
            </a:r>
            <a:r>
              <a:rPr lang="fr-FR" sz="1400" b="1" i="0" dirty="0">
                <a:solidFill>
                  <a:srgbClr val="C9A84C"/>
                </a:solidFill>
              </a:rPr>
              <a:t>React + vite</a:t>
            </a:r>
            <a:r>
              <a:rPr sz="1400" b="1" i="0" dirty="0">
                <a:solidFill>
                  <a:srgbClr val="C9A84C"/>
                </a:solidFill>
              </a:rPr>
              <a:t> (</a:t>
            </a:r>
            <a:r>
              <a:rPr lang="fr-FR" sz="1400" b="1" i="0" dirty="0">
                <a:solidFill>
                  <a:srgbClr val="C9A84C"/>
                </a:solidFill>
              </a:rPr>
              <a:t>En cours</a:t>
            </a:r>
            <a:r>
              <a:rPr sz="1400" b="1" i="0" dirty="0">
                <a:solidFill>
                  <a:srgbClr val="C9A84C"/>
                </a:solidFill>
              </a:rPr>
              <a:t>)</a:t>
            </a:r>
          </a:p>
        </p:txBody>
      </p:sp>
      <p:pic>
        <p:nvPicPr>
          <p:cNvPr id="48" name="Picture 47" descr="trending-up.png"/>
          <p:cNvPicPr>
            <a:picLocks noChangeAspect="1"/>
          </p:cNvPicPr>
          <p:nvPr/>
        </p:nvPicPr>
        <p:blipFill>
          <a:blip r:embed="rId4"/>
          <a:stretch>
            <a:fillRect/>
          </a:stretch>
        </p:blipFill>
        <p:spPr>
          <a:xfrm>
            <a:off x="6291072" y="3675887"/>
            <a:ext cx="219456" cy="219456"/>
          </a:xfrm>
          <a:prstGeom prst="rect">
            <a:avLst/>
          </a:prstGeom>
        </p:spPr>
      </p:pic>
      <p:sp>
        <p:nvSpPr>
          <p:cNvPr id="49" name="TextBox 48"/>
          <p:cNvSpPr txBox="1"/>
          <p:nvPr/>
        </p:nvSpPr>
        <p:spPr>
          <a:xfrm>
            <a:off x="6601968" y="3694176"/>
            <a:ext cx="5120640" cy="256032"/>
          </a:xfrm>
          <a:prstGeom prst="rect">
            <a:avLst/>
          </a:prstGeom>
          <a:noFill/>
        </p:spPr>
        <p:txBody>
          <a:bodyPr wrap="square">
            <a:spAutoFit/>
          </a:bodyPr>
          <a:lstStyle/>
          <a:p>
            <a:pPr algn="l"/>
            <a:r>
              <a:rPr sz="1100" b="0" i="0" dirty="0">
                <a:solidFill>
                  <a:srgbClr val="F4F4F8"/>
                </a:solidFill>
              </a:rPr>
              <a:t>39 pages </a:t>
            </a:r>
            <a:r>
              <a:rPr sz="1100" b="0" i="0" dirty="0" err="1">
                <a:solidFill>
                  <a:srgbClr val="F4F4F8"/>
                </a:solidFill>
              </a:rPr>
              <a:t>identifiees</a:t>
            </a:r>
            <a:r>
              <a:rPr sz="1100" b="0" i="0" dirty="0">
                <a:solidFill>
                  <a:srgbClr val="F4F4F8"/>
                </a:solidFill>
              </a:rPr>
              <a:t> dans la documentation</a:t>
            </a:r>
          </a:p>
        </p:txBody>
      </p:sp>
      <p:pic>
        <p:nvPicPr>
          <p:cNvPr id="50" name="Picture 49" descr="server.png"/>
          <p:cNvPicPr>
            <a:picLocks noChangeAspect="1"/>
          </p:cNvPicPr>
          <p:nvPr/>
        </p:nvPicPr>
        <p:blipFill>
          <a:blip r:embed="rId5"/>
          <a:stretch>
            <a:fillRect/>
          </a:stretch>
        </p:blipFill>
        <p:spPr>
          <a:xfrm>
            <a:off x="6291072" y="3959351"/>
            <a:ext cx="219456" cy="219456"/>
          </a:xfrm>
          <a:prstGeom prst="rect">
            <a:avLst/>
          </a:prstGeom>
        </p:spPr>
      </p:pic>
      <p:sp>
        <p:nvSpPr>
          <p:cNvPr id="51" name="TextBox 50"/>
          <p:cNvSpPr txBox="1"/>
          <p:nvPr/>
        </p:nvSpPr>
        <p:spPr>
          <a:xfrm>
            <a:off x="6601968" y="3977639"/>
            <a:ext cx="5120640" cy="256032"/>
          </a:xfrm>
          <a:prstGeom prst="rect">
            <a:avLst/>
          </a:prstGeom>
          <a:noFill/>
        </p:spPr>
        <p:txBody>
          <a:bodyPr wrap="square">
            <a:spAutoFit/>
          </a:bodyPr>
          <a:lstStyle/>
          <a:p>
            <a:pPr algn="l"/>
            <a:r>
              <a:rPr sz="1100" b="0" i="0" dirty="0">
                <a:solidFill>
                  <a:srgbClr val="F4F4F8"/>
                </a:solidFill>
              </a:rPr>
              <a:t>Dashboard admin + </a:t>
            </a:r>
            <a:r>
              <a:rPr sz="1100" b="0" i="0" dirty="0" err="1">
                <a:solidFill>
                  <a:srgbClr val="F4F4F8"/>
                </a:solidFill>
              </a:rPr>
              <a:t>espace</a:t>
            </a:r>
            <a:r>
              <a:rPr sz="1100" b="0" i="0" dirty="0">
                <a:solidFill>
                  <a:srgbClr val="F4F4F8"/>
                </a:solidFill>
              </a:rPr>
              <a:t> </a:t>
            </a:r>
            <a:r>
              <a:rPr sz="1100" b="0" i="0" dirty="0" err="1">
                <a:solidFill>
                  <a:srgbClr val="F4F4F8"/>
                </a:solidFill>
              </a:rPr>
              <a:t>universite</a:t>
            </a:r>
            <a:endParaRPr sz="1100" b="0" i="0" dirty="0">
              <a:solidFill>
                <a:srgbClr val="F4F4F8"/>
              </a:solidFill>
            </a:endParaRPr>
          </a:p>
        </p:txBody>
      </p:sp>
      <p:pic>
        <p:nvPicPr>
          <p:cNvPr id="52" name="Picture 51" descr="users.png"/>
          <p:cNvPicPr>
            <a:picLocks noChangeAspect="1"/>
          </p:cNvPicPr>
          <p:nvPr/>
        </p:nvPicPr>
        <p:blipFill>
          <a:blip r:embed="rId6"/>
          <a:stretch>
            <a:fillRect/>
          </a:stretch>
        </p:blipFill>
        <p:spPr>
          <a:xfrm>
            <a:off x="6291072" y="4242816"/>
            <a:ext cx="219456" cy="219456"/>
          </a:xfrm>
          <a:prstGeom prst="rect">
            <a:avLst/>
          </a:prstGeom>
        </p:spPr>
      </p:pic>
      <p:sp>
        <p:nvSpPr>
          <p:cNvPr id="53" name="TextBox 52"/>
          <p:cNvSpPr txBox="1"/>
          <p:nvPr/>
        </p:nvSpPr>
        <p:spPr>
          <a:xfrm>
            <a:off x="6601968" y="4261104"/>
            <a:ext cx="5120640" cy="256032"/>
          </a:xfrm>
          <a:prstGeom prst="rect">
            <a:avLst/>
          </a:prstGeom>
          <a:noFill/>
        </p:spPr>
        <p:txBody>
          <a:bodyPr wrap="square">
            <a:spAutoFit/>
          </a:bodyPr>
          <a:lstStyle/>
          <a:p>
            <a:pPr algn="l"/>
            <a:r>
              <a:rPr sz="1100" b="0" i="0">
                <a:solidFill>
                  <a:srgbClr val="F4F4F8"/>
                </a:solidFill>
              </a:rPr>
              <a:t>Portail etudiant + partage diplomes</a:t>
            </a:r>
          </a:p>
        </p:txBody>
      </p:sp>
      <p:pic>
        <p:nvPicPr>
          <p:cNvPr id="54" name="Picture 53" descr="globe.png"/>
          <p:cNvPicPr>
            <a:picLocks noChangeAspect="1"/>
          </p:cNvPicPr>
          <p:nvPr/>
        </p:nvPicPr>
        <p:blipFill>
          <a:blip r:embed="rId7"/>
          <a:stretch>
            <a:fillRect/>
          </a:stretch>
        </p:blipFill>
        <p:spPr>
          <a:xfrm>
            <a:off x="6291072" y="4526279"/>
            <a:ext cx="219456" cy="219456"/>
          </a:xfrm>
          <a:prstGeom prst="rect">
            <a:avLst/>
          </a:prstGeom>
        </p:spPr>
      </p:pic>
      <p:sp>
        <p:nvSpPr>
          <p:cNvPr id="55" name="TextBox 54"/>
          <p:cNvSpPr txBox="1"/>
          <p:nvPr/>
        </p:nvSpPr>
        <p:spPr>
          <a:xfrm>
            <a:off x="6601968" y="4544568"/>
            <a:ext cx="5120640" cy="256032"/>
          </a:xfrm>
          <a:prstGeom prst="rect">
            <a:avLst/>
          </a:prstGeom>
          <a:noFill/>
        </p:spPr>
        <p:txBody>
          <a:bodyPr wrap="square">
            <a:spAutoFit/>
          </a:bodyPr>
          <a:lstStyle/>
          <a:p>
            <a:pPr algn="l"/>
            <a:r>
              <a:rPr sz="1100" b="0" i="0">
                <a:solidFill>
                  <a:srgbClr val="F4F4F8"/>
                </a:solidFill>
              </a:rPr>
              <a:t>Page verification publique (mobile-first)</a:t>
            </a:r>
          </a:p>
        </p:txBody>
      </p:sp>
      <p:pic>
        <p:nvPicPr>
          <p:cNvPr id="56" name="Picture 55" descr="zap.png"/>
          <p:cNvPicPr>
            <a:picLocks noChangeAspect="1"/>
          </p:cNvPicPr>
          <p:nvPr/>
        </p:nvPicPr>
        <p:blipFill>
          <a:blip r:embed="rId8"/>
          <a:stretch>
            <a:fillRect/>
          </a:stretch>
        </p:blipFill>
        <p:spPr>
          <a:xfrm>
            <a:off x="6291072" y="4809744"/>
            <a:ext cx="219456" cy="219456"/>
          </a:xfrm>
          <a:prstGeom prst="rect">
            <a:avLst/>
          </a:prstGeom>
        </p:spPr>
      </p:pic>
      <p:sp>
        <p:nvSpPr>
          <p:cNvPr id="57" name="TextBox 56"/>
          <p:cNvSpPr txBox="1"/>
          <p:nvPr/>
        </p:nvSpPr>
        <p:spPr>
          <a:xfrm>
            <a:off x="6601968" y="4828032"/>
            <a:ext cx="5120640" cy="256032"/>
          </a:xfrm>
          <a:prstGeom prst="rect">
            <a:avLst/>
          </a:prstGeom>
          <a:noFill/>
        </p:spPr>
        <p:txBody>
          <a:bodyPr wrap="square">
            <a:spAutoFit/>
          </a:bodyPr>
          <a:lstStyle/>
          <a:p>
            <a:pPr algn="l"/>
            <a:r>
              <a:rPr sz="1100" b="0" i="0">
                <a:solidFill>
                  <a:srgbClr val="F4F4F8"/>
                </a:solidFill>
              </a:rPr>
              <a:t>Notifications email (config SMTP en place)</a:t>
            </a:r>
          </a:p>
        </p:txBody>
      </p:sp>
      <p:pic>
        <p:nvPicPr>
          <p:cNvPr id="58" name="Picture 57" descr="cloud.png"/>
          <p:cNvPicPr>
            <a:picLocks noChangeAspect="1"/>
          </p:cNvPicPr>
          <p:nvPr/>
        </p:nvPicPr>
        <p:blipFill>
          <a:blip r:embed="rId9"/>
          <a:stretch>
            <a:fillRect/>
          </a:stretch>
        </p:blipFill>
        <p:spPr>
          <a:xfrm>
            <a:off x="6291072" y="5093207"/>
            <a:ext cx="219456" cy="219456"/>
          </a:xfrm>
          <a:prstGeom prst="rect">
            <a:avLst/>
          </a:prstGeom>
        </p:spPr>
      </p:pic>
      <p:sp>
        <p:nvSpPr>
          <p:cNvPr id="59" name="TextBox 58"/>
          <p:cNvSpPr txBox="1"/>
          <p:nvPr/>
        </p:nvSpPr>
        <p:spPr>
          <a:xfrm>
            <a:off x="6601968" y="5111496"/>
            <a:ext cx="5120640" cy="256032"/>
          </a:xfrm>
          <a:prstGeom prst="rect">
            <a:avLst/>
          </a:prstGeom>
          <a:noFill/>
        </p:spPr>
        <p:txBody>
          <a:bodyPr wrap="square">
            <a:spAutoFit/>
          </a:bodyPr>
          <a:lstStyle/>
          <a:p>
            <a:pPr algn="l"/>
            <a:r>
              <a:rPr sz="1100" b="0" i="0">
                <a:solidFill>
                  <a:srgbClr val="F4F4F8"/>
                </a:solidFill>
              </a:rPr>
              <a:t>Deploiement VPS production</a:t>
            </a:r>
          </a:p>
        </p:txBody>
      </p:sp>
      <p:pic>
        <p:nvPicPr>
          <p:cNvPr id="60" name="Picture 59" descr="link.png"/>
          <p:cNvPicPr>
            <a:picLocks noChangeAspect="1"/>
          </p:cNvPicPr>
          <p:nvPr/>
        </p:nvPicPr>
        <p:blipFill>
          <a:blip r:embed="rId10"/>
          <a:stretch>
            <a:fillRect/>
          </a:stretch>
        </p:blipFill>
        <p:spPr>
          <a:xfrm>
            <a:off x="6291072" y="5376671"/>
            <a:ext cx="219456" cy="219456"/>
          </a:xfrm>
          <a:prstGeom prst="rect">
            <a:avLst/>
          </a:prstGeom>
        </p:spPr>
      </p:pic>
      <p:sp>
        <p:nvSpPr>
          <p:cNvPr id="61" name="TextBox 60"/>
          <p:cNvSpPr txBox="1"/>
          <p:nvPr/>
        </p:nvSpPr>
        <p:spPr>
          <a:xfrm>
            <a:off x="6601968" y="5394960"/>
            <a:ext cx="5120640" cy="256032"/>
          </a:xfrm>
          <a:prstGeom prst="rect">
            <a:avLst/>
          </a:prstGeom>
          <a:noFill/>
        </p:spPr>
        <p:txBody>
          <a:bodyPr wrap="square">
            <a:spAutoFit/>
          </a:bodyPr>
          <a:lstStyle/>
          <a:p>
            <a:pPr algn="l"/>
            <a:r>
              <a:rPr sz="1100" b="0" i="0">
                <a:solidFill>
                  <a:srgbClr val="F4F4F8"/>
                </a:solidFill>
              </a:rPr>
              <a:t>Migration Polygon Mainnet</a:t>
            </a:r>
          </a:p>
        </p:txBody>
      </p:sp>
      <p:sp>
        <p:nvSpPr>
          <p:cNvPr id="62" name="TextBox 61"/>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21</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201168"/>
            <a:ext cx="2377440" cy="31089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210312"/>
            <a:ext cx="2286000" cy="230832"/>
          </a:xfrm>
          <a:prstGeom prst="rect">
            <a:avLst/>
          </a:prstGeom>
          <a:noFill/>
        </p:spPr>
        <p:txBody>
          <a:bodyPr wrap="square">
            <a:spAutoFit/>
          </a:bodyPr>
          <a:lstStyle/>
          <a:p>
            <a:pPr algn="l"/>
            <a:r>
              <a:rPr sz="900" b="1" i="0" dirty="0">
                <a:solidFill>
                  <a:srgbClr val="1A1A2E"/>
                </a:solidFill>
              </a:rPr>
              <a:t>0</a:t>
            </a:r>
            <a:r>
              <a:rPr lang="fr-FR" sz="900" b="1" i="0" dirty="0">
                <a:solidFill>
                  <a:srgbClr val="1A1A2E"/>
                </a:solidFill>
              </a:rPr>
              <a:t>9</a:t>
            </a:r>
            <a:r>
              <a:rPr sz="900" b="1" i="0" dirty="0">
                <a:solidFill>
                  <a:srgbClr val="1A1A2E"/>
                </a:solidFill>
              </a:rPr>
              <a:t> </a:t>
            </a:r>
            <a:r>
              <a:rPr lang="fr-FR" sz="900" b="1" i="0" dirty="0">
                <a:solidFill>
                  <a:srgbClr val="1A1A2E"/>
                </a:solidFill>
              </a:rPr>
              <a:t>-</a:t>
            </a:r>
            <a:r>
              <a:rPr sz="900" b="1" i="0" dirty="0">
                <a:solidFill>
                  <a:srgbClr val="1A1A2E"/>
                </a:solidFill>
              </a:rPr>
              <a:t> ROADMAP</a:t>
            </a:r>
          </a:p>
        </p:txBody>
      </p:sp>
      <p:sp>
        <p:nvSpPr>
          <p:cNvPr id="6" name="TextBox 5"/>
          <p:cNvSpPr txBox="1"/>
          <p:nvPr/>
        </p:nvSpPr>
        <p:spPr>
          <a:xfrm>
            <a:off x="201168" y="616213"/>
            <a:ext cx="10058400" cy="523220"/>
          </a:xfrm>
          <a:prstGeom prst="rect">
            <a:avLst/>
          </a:prstGeom>
          <a:noFill/>
        </p:spPr>
        <p:txBody>
          <a:bodyPr wrap="square">
            <a:spAutoFit/>
          </a:bodyPr>
          <a:lstStyle/>
          <a:p>
            <a:pPr algn="l"/>
            <a:r>
              <a:rPr sz="2800" b="1" i="0" dirty="0">
                <a:solidFill>
                  <a:srgbClr val="FFFFFF"/>
                </a:solidFill>
              </a:rPr>
              <a:t>Roadmap </a:t>
            </a:r>
            <a:r>
              <a:rPr lang="fr-FR" sz="2800" b="1" i="0" dirty="0">
                <a:solidFill>
                  <a:srgbClr val="FFFFFF"/>
                </a:solidFill>
              </a:rPr>
              <a:t>-</a:t>
            </a:r>
            <a:r>
              <a:rPr sz="2800" b="1" i="0" dirty="0">
                <a:solidFill>
                  <a:srgbClr val="FFFFFF"/>
                </a:solidFill>
              </a:rPr>
              <a:t> Ce qui </a:t>
            </a:r>
            <a:r>
              <a:rPr sz="2800" b="1" i="0" dirty="0" err="1">
                <a:solidFill>
                  <a:srgbClr val="FFFFFF"/>
                </a:solidFill>
              </a:rPr>
              <a:t>vient</a:t>
            </a:r>
            <a:r>
              <a:rPr sz="2800" b="1" i="0" dirty="0">
                <a:solidFill>
                  <a:srgbClr val="FFFFFF"/>
                </a:solidFill>
              </a:rPr>
              <a:t> ensuite</a:t>
            </a:r>
          </a:p>
        </p:txBody>
      </p:sp>
      <p:sp>
        <p:nvSpPr>
          <p:cNvPr id="7" name="Rectangle 6"/>
          <p:cNvSpPr/>
          <p:nvPr/>
        </p:nvSpPr>
        <p:spPr>
          <a:xfrm>
            <a:off x="347472" y="1371600"/>
            <a:ext cx="3749039" cy="50292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1371600"/>
            <a:ext cx="3749039"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47472" y="1371600"/>
            <a:ext cx="3749039"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erver.png"/>
          <p:cNvPicPr>
            <a:picLocks noChangeAspect="1"/>
          </p:cNvPicPr>
          <p:nvPr/>
        </p:nvPicPr>
        <p:blipFill>
          <a:blip r:embed="rId3"/>
          <a:stretch>
            <a:fillRect/>
          </a:stretch>
        </p:blipFill>
        <p:spPr>
          <a:xfrm>
            <a:off x="484632" y="1481328"/>
            <a:ext cx="566928" cy="566928"/>
          </a:xfrm>
          <a:prstGeom prst="rect">
            <a:avLst/>
          </a:prstGeom>
        </p:spPr>
      </p:pic>
      <p:sp>
        <p:nvSpPr>
          <p:cNvPr id="11" name="TextBox 10"/>
          <p:cNvSpPr txBox="1"/>
          <p:nvPr/>
        </p:nvSpPr>
        <p:spPr>
          <a:xfrm>
            <a:off x="1188720" y="1463040"/>
            <a:ext cx="1371600" cy="347472"/>
          </a:xfrm>
          <a:prstGeom prst="rect">
            <a:avLst/>
          </a:prstGeom>
          <a:noFill/>
        </p:spPr>
        <p:txBody>
          <a:bodyPr wrap="square">
            <a:spAutoFit/>
          </a:bodyPr>
          <a:lstStyle/>
          <a:p>
            <a:pPr algn="l"/>
            <a:r>
              <a:rPr sz="1200" b="0" i="0">
                <a:solidFill>
                  <a:srgbClr val="F4F4F8"/>
                </a:solidFill>
              </a:rPr>
              <a:t>Phase 1</a:t>
            </a:r>
          </a:p>
        </p:txBody>
      </p:sp>
      <p:sp>
        <p:nvSpPr>
          <p:cNvPr id="12" name="TextBox 11"/>
          <p:cNvSpPr txBox="1"/>
          <p:nvPr/>
        </p:nvSpPr>
        <p:spPr>
          <a:xfrm>
            <a:off x="736092" y="2048256"/>
            <a:ext cx="3474720" cy="338554"/>
          </a:xfrm>
          <a:prstGeom prst="rect">
            <a:avLst/>
          </a:prstGeom>
          <a:noFill/>
        </p:spPr>
        <p:txBody>
          <a:bodyPr wrap="square">
            <a:spAutoFit/>
          </a:bodyPr>
          <a:lstStyle/>
          <a:p>
            <a:pPr algn="l"/>
            <a:r>
              <a:rPr sz="1600" b="1" i="0" dirty="0">
                <a:solidFill>
                  <a:srgbClr val="FFFFFF"/>
                </a:solidFill>
              </a:rPr>
              <a:t>Frontend </a:t>
            </a:r>
            <a:r>
              <a:rPr lang="fr-FR" sz="1600" b="1" i="0" dirty="0">
                <a:solidFill>
                  <a:srgbClr val="FFFFFF"/>
                </a:solidFill>
              </a:rPr>
              <a:t>React</a:t>
            </a:r>
            <a:endParaRPr sz="1600" b="1" i="0" dirty="0">
              <a:solidFill>
                <a:srgbClr val="FFFFFF"/>
              </a:solidFill>
            </a:endParaRPr>
          </a:p>
        </p:txBody>
      </p:sp>
      <p:sp>
        <p:nvSpPr>
          <p:cNvPr id="13" name="Rectangle 12"/>
          <p:cNvSpPr/>
          <p:nvPr/>
        </p:nvSpPr>
        <p:spPr>
          <a:xfrm>
            <a:off x="2633472" y="1508760"/>
            <a:ext cx="1325880" cy="2743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79192" y="1527048"/>
            <a:ext cx="1234440" cy="256032"/>
          </a:xfrm>
          <a:prstGeom prst="rect">
            <a:avLst/>
          </a:prstGeom>
          <a:noFill/>
        </p:spPr>
        <p:txBody>
          <a:bodyPr wrap="square">
            <a:spAutoFit/>
          </a:bodyPr>
          <a:lstStyle/>
          <a:p>
            <a:pPr algn="ctr"/>
            <a:r>
              <a:rPr sz="1000" b="1" i="0">
                <a:solidFill>
                  <a:srgbClr val="FFFFFF"/>
                </a:solidFill>
              </a:rPr>
              <a:t>2-3 mois</a:t>
            </a:r>
          </a:p>
        </p:txBody>
      </p:sp>
      <p:pic>
        <p:nvPicPr>
          <p:cNvPr id="15" name="Picture 14" descr="check.png"/>
          <p:cNvPicPr>
            <a:picLocks noChangeAspect="1"/>
          </p:cNvPicPr>
          <p:nvPr/>
        </p:nvPicPr>
        <p:blipFill>
          <a:blip r:embed="rId4"/>
          <a:stretch>
            <a:fillRect/>
          </a:stretch>
        </p:blipFill>
        <p:spPr>
          <a:xfrm>
            <a:off x="484632" y="2606040"/>
            <a:ext cx="274320" cy="274320"/>
          </a:xfrm>
          <a:prstGeom prst="rect">
            <a:avLst/>
          </a:prstGeom>
        </p:spPr>
      </p:pic>
      <p:sp>
        <p:nvSpPr>
          <p:cNvPr id="16" name="TextBox 15"/>
          <p:cNvSpPr txBox="1"/>
          <p:nvPr/>
        </p:nvSpPr>
        <p:spPr>
          <a:xfrm>
            <a:off x="850392" y="2651760"/>
            <a:ext cx="3108960" cy="502920"/>
          </a:xfrm>
          <a:prstGeom prst="rect">
            <a:avLst/>
          </a:prstGeom>
          <a:noFill/>
        </p:spPr>
        <p:txBody>
          <a:bodyPr wrap="square">
            <a:spAutoFit/>
          </a:bodyPr>
          <a:lstStyle/>
          <a:p>
            <a:pPr algn="l"/>
            <a:r>
              <a:rPr sz="1300" b="0" i="0">
                <a:solidFill>
                  <a:srgbClr val="444455"/>
                </a:solidFill>
              </a:rPr>
              <a:t>Dashboard admin complet</a:t>
            </a:r>
          </a:p>
        </p:txBody>
      </p:sp>
      <p:pic>
        <p:nvPicPr>
          <p:cNvPr id="17" name="Picture 16" descr="check.png"/>
          <p:cNvPicPr>
            <a:picLocks noChangeAspect="1"/>
          </p:cNvPicPr>
          <p:nvPr/>
        </p:nvPicPr>
        <p:blipFill>
          <a:blip r:embed="rId4"/>
          <a:stretch>
            <a:fillRect/>
          </a:stretch>
        </p:blipFill>
        <p:spPr>
          <a:xfrm>
            <a:off x="484632" y="3246120"/>
            <a:ext cx="274320" cy="274320"/>
          </a:xfrm>
          <a:prstGeom prst="rect">
            <a:avLst/>
          </a:prstGeom>
        </p:spPr>
      </p:pic>
      <p:sp>
        <p:nvSpPr>
          <p:cNvPr id="18" name="TextBox 17"/>
          <p:cNvSpPr txBox="1"/>
          <p:nvPr/>
        </p:nvSpPr>
        <p:spPr>
          <a:xfrm>
            <a:off x="850392" y="3291839"/>
            <a:ext cx="3108960" cy="502920"/>
          </a:xfrm>
          <a:prstGeom prst="rect">
            <a:avLst/>
          </a:prstGeom>
          <a:noFill/>
        </p:spPr>
        <p:txBody>
          <a:bodyPr wrap="square">
            <a:spAutoFit/>
          </a:bodyPr>
          <a:lstStyle/>
          <a:p>
            <a:pPr algn="l"/>
            <a:r>
              <a:rPr sz="1300" b="0" i="0">
                <a:solidFill>
                  <a:srgbClr val="444455"/>
                </a:solidFill>
              </a:rPr>
              <a:t>Portail etudiant</a:t>
            </a:r>
          </a:p>
        </p:txBody>
      </p:sp>
      <p:pic>
        <p:nvPicPr>
          <p:cNvPr id="19" name="Picture 18" descr="check.png"/>
          <p:cNvPicPr>
            <a:picLocks noChangeAspect="1"/>
          </p:cNvPicPr>
          <p:nvPr/>
        </p:nvPicPr>
        <p:blipFill>
          <a:blip r:embed="rId4"/>
          <a:stretch>
            <a:fillRect/>
          </a:stretch>
        </p:blipFill>
        <p:spPr>
          <a:xfrm>
            <a:off x="484632" y="3886200"/>
            <a:ext cx="274320" cy="274320"/>
          </a:xfrm>
          <a:prstGeom prst="rect">
            <a:avLst/>
          </a:prstGeom>
        </p:spPr>
      </p:pic>
      <p:sp>
        <p:nvSpPr>
          <p:cNvPr id="20" name="TextBox 19"/>
          <p:cNvSpPr txBox="1"/>
          <p:nvPr/>
        </p:nvSpPr>
        <p:spPr>
          <a:xfrm>
            <a:off x="850392" y="3931920"/>
            <a:ext cx="3108960" cy="502920"/>
          </a:xfrm>
          <a:prstGeom prst="rect">
            <a:avLst/>
          </a:prstGeom>
          <a:noFill/>
        </p:spPr>
        <p:txBody>
          <a:bodyPr wrap="square">
            <a:spAutoFit/>
          </a:bodyPr>
          <a:lstStyle/>
          <a:p>
            <a:pPr algn="l"/>
            <a:r>
              <a:rPr sz="1300" b="0" i="0">
                <a:solidFill>
                  <a:srgbClr val="444455"/>
                </a:solidFill>
              </a:rPr>
              <a:t>Page verification publique</a:t>
            </a:r>
          </a:p>
        </p:txBody>
      </p:sp>
      <p:pic>
        <p:nvPicPr>
          <p:cNvPr id="21" name="Picture 20" descr="check.png"/>
          <p:cNvPicPr>
            <a:picLocks noChangeAspect="1"/>
          </p:cNvPicPr>
          <p:nvPr/>
        </p:nvPicPr>
        <p:blipFill>
          <a:blip r:embed="rId4"/>
          <a:stretch>
            <a:fillRect/>
          </a:stretch>
        </p:blipFill>
        <p:spPr>
          <a:xfrm>
            <a:off x="484632" y="4526279"/>
            <a:ext cx="274320" cy="274320"/>
          </a:xfrm>
          <a:prstGeom prst="rect">
            <a:avLst/>
          </a:prstGeom>
        </p:spPr>
      </p:pic>
      <p:sp>
        <p:nvSpPr>
          <p:cNvPr id="22" name="TextBox 21"/>
          <p:cNvSpPr txBox="1"/>
          <p:nvPr/>
        </p:nvSpPr>
        <p:spPr>
          <a:xfrm>
            <a:off x="850392" y="4572000"/>
            <a:ext cx="3108960" cy="502920"/>
          </a:xfrm>
          <a:prstGeom prst="rect">
            <a:avLst/>
          </a:prstGeom>
          <a:noFill/>
        </p:spPr>
        <p:txBody>
          <a:bodyPr wrap="square">
            <a:spAutoFit/>
          </a:bodyPr>
          <a:lstStyle/>
          <a:p>
            <a:pPr algn="l"/>
            <a:r>
              <a:rPr sz="1300" b="0" i="0">
                <a:solidFill>
                  <a:srgbClr val="444455"/>
                </a:solidFill>
              </a:rPr>
              <a:t>PWA mobile-first</a:t>
            </a:r>
          </a:p>
        </p:txBody>
      </p:sp>
      <p:sp>
        <p:nvSpPr>
          <p:cNvPr id="23" name="Rectangle 22"/>
          <p:cNvSpPr/>
          <p:nvPr/>
        </p:nvSpPr>
        <p:spPr>
          <a:xfrm>
            <a:off x="4325112" y="1371600"/>
            <a:ext cx="3749039" cy="50292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325112" y="1371600"/>
            <a:ext cx="3749039" cy="54864"/>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325112" y="1371600"/>
            <a:ext cx="3749039"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cloud.png"/>
          <p:cNvPicPr>
            <a:picLocks noChangeAspect="1"/>
          </p:cNvPicPr>
          <p:nvPr/>
        </p:nvPicPr>
        <p:blipFill>
          <a:blip r:embed="rId5"/>
          <a:stretch>
            <a:fillRect/>
          </a:stretch>
        </p:blipFill>
        <p:spPr>
          <a:xfrm>
            <a:off x="4462272" y="1481328"/>
            <a:ext cx="566928" cy="566928"/>
          </a:xfrm>
          <a:prstGeom prst="rect">
            <a:avLst/>
          </a:prstGeom>
        </p:spPr>
      </p:pic>
      <p:sp>
        <p:nvSpPr>
          <p:cNvPr id="27" name="TextBox 26"/>
          <p:cNvSpPr txBox="1"/>
          <p:nvPr/>
        </p:nvSpPr>
        <p:spPr>
          <a:xfrm>
            <a:off x="5166360" y="1463040"/>
            <a:ext cx="1371600" cy="347472"/>
          </a:xfrm>
          <a:prstGeom prst="rect">
            <a:avLst/>
          </a:prstGeom>
          <a:noFill/>
        </p:spPr>
        <p:txBody>
          <a:bodyPr wrap="square">
            <a:spAutoFit/>
          </a:bodyPr>
          <a:lstStyle/>
          <a:p>
            <a:pPr algn="l"/>
            <a:r>
              <a:rPr sz="1200" b="0" i="0">
                <a:solidFill>
                  <a:srgbClr val="F4F4F8"/>
                </a:solidFill>
              </a:rPr>
              <a:t>Phase 2</a:t>
            </a:r>
          </a:p>
        </p:txBody>
      </p:sp>
      <p:sp>
        <p:nvSpPr>
          <p:cNvPr id="28" name="TextBox 27"/>
          <p:cNvSpPr txBox="1"/>
          <p:nvPr/>
        </p:nvSpPr>
        <p:spPr>
          <a:xfrm>
            <a:off x="4462272" y="2011679"/>
            <a:ext cx="3474720" cy="457200"/>
          </a:xfrm>
          <a:prstGeom prst="rect">
            <a:avLst/>
          </a:prstGeom>
          <a:noFill/>
        </p:spPr>
        <p:txBody>
          <a:bodyPr wrap="square">
            <a:spAutoFit/>
          </a:bodyPr>
          <a:lstStyle/>
          <a:p>
            <a:pPr algn="l"/>
            <a:r>
              <a:rPr sz="1600" b="1" i="0" dirty="0">
                <a:solidFill>
                  <a:srgbClr val="FFFFFF"/>
                </a:solidFill>
              </a:rPr>
              <a:t>Production</a:t>
            </a:r>
          </a:p>
        </p:txBody>
      </p:sp>
      <p:sp>
        <p:nvSpPr>
          <p:cNvPr id="29" name="Rectangle 28"/>
          <p:cNvSpPr/>
          <p:nvPr/>
        </p:nvSpPr>
        <p:spPr>
          <a:xfrm>
            <a:off x="6611112" y="1508760"/>
            <a:ext cx="1325880" cy="274320"/>
          </a:xfrm>
          <a:prstGeom prst="rect">
            <a:avLst/>
          </a:prstGeom>
          <a:solidFill>
            <a:srgbClr val="2D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56832" y="1527048"/>
            <a:ext cx="1234440" cy="256032"/>
          </a:xfrm>
          <a:prstGeom prst="rect">
            <a:avLst/>
          </a:prstGeom>
          <a:noFill/>
        </p:spPr>
        <p:txBody>
          <a:bodyPr wrap="square">
            <a:spAutoFit/>
          </a:bodyPr>
          <a:lstStyle/>
          <a:p>
            <a:pPr algn="ctr"/>
            <a:r>
              <a:rPr sz="1000" b="1" i="0">
                <a:solidFill>
                  <a:srgbClr val="FFFFFF"/>
                </a:solidFill>
              </a:rPr>
              <a:t>1 mois</a:t>
            </a:r>
          </a:p>
        </p:txBody>
      </p:sp>
      <p:pic>
        <p:nvPicPr>
          <p:cNvPr id="31" name="Picture 30" descr="check.png"/>
          <p:cNvPicPr>
            <a:picLocks noChangeAspect="1"/>
          </p:cNvPicPr>
          <p:nvPr/>
        </p:nvPicPr>
        <p:blipFill>
          <a:blip r:embed="rId4"/>
          <a:stretch>
            <a:fillRect/>
          </a:stretch>
        </p:blipFill>
        <p:spPr>
          <a:xfrm>
            <a:off x="4462272" y="2606040"/>
            <a:ext cx="274320" cy="274320"/>
          </a:xfrm>
          <a:prstGeom prst="rect">
            <a:avLst/>
          </a:prstGeom>
        </p:spPr>
      </p:pic>
      <p:sp>
        <p:nvSpPr>
          <p:cNvPr id="32" name="TextBox 31"/>
          <p:cNvSpPr txBox="1"/>
          <p:nvPr/>
        </p:nvSpPr>
        <p:spPr>
          <a:xfrm>
            <a:off x="4828032" y="2651760"/>
            <a:ext cx="3108960" cy="502920"/>
          </a:xfrm>
          <a:prstGeom prst="rect">
            <a:avLst/>
          </a:prstGeom>
          <a:noFill/>
        </p:spPr>
        <p:txBody>
          <a:bodyPr wrap="square">
            <a:spAutoFit/>
          </a:bodyPr>
          <a:lstStyle/>
          <a:p>
            <a:pPr algn="l"/>
            <a:r>
              <a:rPr sz="1300" b="0" i="0" dirty="0">
                <a:solidFill>
                  <a:srgbClr val="444455"/>
                </a:solidFill>
              </a:rPr>
              <a:t>VPS Ubuntu + Nginx + SSL</a:t>
            </a:r>
          </a:p>
        </p:txBody>
      </p:sp>
      <p:pic>
        <p:nvPicPr>
          <p:cNvPr id="33" name="Picture 32" descr="check.png"/>
          <p:cNvPicPr>
            <a:picLocks noChangeAspect="1"/>
          </p:cNvPicPr>
          <p:nvPr/>
        </p:nvPicPr>
        <p:blipFill>
          <a:blip r:embed="rId4"/>
          <a:stretch>
            <a:fillRect/>
          </a:stretch>
        </p:blipFill>
        <p:spPr>
          <a:xfrm>
            <a:off x="4462272" y="3246120"/>
            <a:ext cx="274320" cy="274320"/>
          </a:xfrm>
          <a:prstGeom prst="rect">
            <a:avLst/>
          </a:prstGeom>
        </p:spPr>
      </p:pic>
      <p:sp>
        <p:nvSpPr>
          <p:cNvPr id="34" name="TextBox 33"/>
          <p:cNvSpPr txBox="1"/>
          <p:nvPr/>
        </p:nvSpPr>
        <p:spPr>
          <a:xfrm>
            <a:off x="4828032" y="3291839"/>
            <a:ext cx="3108960" cy="502920"/>
          </a:xfrm>
          <a:prstGeom prst="rect">
            <a:avLst/>
          </a:prstGeom>
          <a:noFill/>
        </p:spPr>
        <p:txBody>
          <a:bodyPr wrap="square">
            <a:spAutoFit/>
          </a:bodyPr>
          <a:lstStyle/>
          <a:p>
            <a:pPr algn="l"/>
            <a:r>
              <a:rPr sz="1300" b="0" i="0">
                <a:solidFill>
                  <a:srgbClr val="444455"/>
                </a:solidFill>
              </a:rPr>
              <a:t>Polygon Mainnet</a:t>
            </a:r>
          </a:p>
        </p:txBody>
      </p:sp>
      <p:pic>
        <p:nvPicPr>
          <p:cNvPr id="35" name="Picture 34" descr="check.png"/>
          <p:cNvPicPr>
            <a:picLocks noChangeAspect="1"/>
          </p:cNvPicPr>
          <p:nvPr/>
        </p:nvPicPr>
        <p:blipFill>
          <a:blip r:embed="rId4"/>
          <a:stretch>
            <a:fillRect/>
          </a:stretch>
        </p:blipFill>
        <p:spPr>
          <a:xfrm>
            <a:off x="4462272" y="3886200"/>
            <a:ext cx="274320" cy="274320"/>
          </a:xfrm>
          <a:prstGeom prst="rect">
            <a:avLst/>
          </a:prstGeom>
        </p:spPr>
      </p:pic>
      <p:sp>
        <p:nvSpPr>
          <p:cNvPr id="36" name="TextBox 35"/>
          <p:cNvSpPr txBox="1"/>
          <p:nvPr/>
        </p:nvSpPr>
        <p:spPr>
          <a:xfrm>
            <a:off x="4828032" y="3931920"/>
            <a:ext cx="3108960" cy="502920"/>
          </a:xfrm>
          <a:prstGeom prst="rect">
            <a:avLst/>
          </a:prstGeom>
          <a:noFill/>
        </p:spPr>
        <p:txBody>
          <a:bodyPr wrap="square">
            <a:spAutoFit/>
          </a:bodyPr>
          <a:lstStyle/>
          <a:p>
            <a:pPr algn="l"/>
            <a:r>
              <a:rPr sz="1300" b="0" i="0">
                <a:solidFill>
                  <a:srgbClr val="444455"/>
                </a:solidFill>
              </a:rPr>
              <a:t>Domaine verify.inubil.com</a:t>
            </a:r>
          </a:p>
        </p:txBody>
      </p:sp>
      <p:pic>
        <p:nvPicPr>
          <p:cNvPr id="37" name="Picture 36" descr="check.png"/>
          <p:cNvPicPr>
            <a:picLocks noChangeAspect="1"/>
          </p:cNvPicPr>
          <p:nvPr/>
        </p:nvPicPr>
        <p:blipFill>
          <a:blip r:embed="rId4"/>
          <a:stretch>
            <a:fillRect/>
          </a:stretch>
        </p:blipFill>
        <p:spPr>
          <a:xfrm>
            <a:off x="4462272" y="4526279"/>
            <a:ext cx="274320" cy="274320"/>
          </a:xfrm>
          <a:prstGeom prst="rect">
            <a:avLst/>
          </a:prstGeom>
        </p:spPr>
      </p:pic>
      <p:sp>
        <p:nvSpPr>
          <p:cNvPr id="38" name="TextBox 37"/>
          <p:cNvSpPr txBox="1"/>
          <p:nvPr/>
        </p:nvSpPr>
        <p:spPr>
          <a:xfrm>
            <a:off x="4828032" y="4572000"/>
            <a:ext cx="3108960" cy="502920"/>
          </a:xfrm>
          <a:prstGeom prst="rect">
            <a:avLst/>
          </a:prstGeom>
          <a:noFill/>
        </p:spPr>
        <p:txBody>
          <a:bodyPr wrap="square">
            <a:spAutoFit/>
          </a:bodyPr>
          <a:lstStyle/>
          <a:p>
            <a:pPr algn="l"/>
            <a:r>
              <a:rPr sz="1300" b="0" i="0">
                <a:solidFill>
                  <a:srgbClr val="444455"/>
                </a:solidFill>
              </a:rPr>
              <a:t>Backups automatiques PostgreSQL</a:t>
            </a:r>
          </a:p>
        </p:txBody>
      </p:sp>
      <p:sp>
        <p:nvSpPr>
          <p:cNvPr id="39" name="Rectangle 38"/>
          <p:cNvSpPr/>
          <p:nvPr/>
        </p:nvSpPr>
        <p:spPr>
          <a:xfrm>
            <a:off x="8302752" y="1371600"/>
            <a:ext cx="3749039" cy="5029200"/>
          </a:xfrm>
          <a:prstGeom prst="rect">
            <a:avLst/>
          </a:prstGeom>
          <a:solidFill>
            <a:srgbClr val="F4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302752" y="1371600"/>
            <a:ext cx="3749039" cy="54864"/>
          </a:xfrm>
          <a:prstGeom prst="rect">
            <a:avLst/>
          </a:prstGeom>
          <a:solidFill>
            <a:srgbClr val="22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302752" y="1371600"/>
            <a:ext cx="3749039" cy="105156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trending-up.png"/>
          <p:cNvPicPr>
            <a:picLocks noChangeAspect="1"/>
          </p:cNvPicPr>
          <p:nvPr/>
        </p:nvPicPr>
        <p:blipFill>
          <a:blip r:embed="rId6"/>
          <a:stretch>
            <a:fillRect/>
          </a:stretch>
        </p:blipFill>
        <p:spPr>
          <a:xfrm>
            <a:off x="8439912" y="1481328"/>
            <a:ext cx="566928" cy="566928"/>
          </a:xfrm>
          <a:prstGeom prst="rect">
            <a:avLst/>
          </a:prstGeom>
        </p:spPr>
      </p:pic>
      <p:sp>
        <p:nvSpPr>
          <p:cNvPr id="43" name="TextBox 42"/>
          <p:cNvSpPr txBox="1"/>
          <p:nvPr/>
        </p:nvSpPr>
        <p:spPr>
          <a:xfrm>
            <a:off x="9144000" y="1463040"/>
            <a:ext cx="1371600" cy="347472"/>
          </a:xfrm>
          <a:prstGeom prst="rect">
            <a:avLst/>
          </a:prstGeom>
          <a:noFill/>
        </p:spPr>
        <p:txBody>
          <a:bodyPr wrap="square">
            <a:spAutoFit/>
          </a:bodyPr>
          <a:lstStyle/>
          <a:p>
            <a:pPr algn="l"/>
            <a:r>
              <a:rPr sz="1200" b="0" i="0">
                <a:solidFill>
                  <a:srgbClr val="F4F4F8"/>
                </a:solidFill>
              </a:rPr>
              <a:t>Phase 3</a:t>
            </a:r>
          </a:p>
        </p:txBody>
      </p:sp>
      <p:sp>
        <p:nvSpPr>
          <p:cNvPr id="44" name="TextBox 43"/>
          <p:cNvSpPr txBox="1"/>
          <p:nvPr/>
        </p:nvSpPr>
        <p:spPr>
          <a:xfrm>
            <a:off x="8439912" y="2011679"/>
            <a:ext cx="3474720" cy="457200"/>
          </a:xfrm>
          <a:prstGeom prst="rect">
            <a:avLst/>
          </a:prstGeom>
          <a:noFill/>
        </p:spPr>
        <p:txBody>
          <a:bodyPr wrap="square">
            <a:spAutoFit/>
          </a:bodyPr>
          <a:lstStyle/>
          <a:p>
            <a:pPr algn="l"/>
            <a:r>
              <a:rPr sz="1600" b="1" i="0" dirty="0">
                <a:solidFill>
                  <a:srgbClr val="FFFFFF"/>
                </a:solidFill>
              </a:rPr>
              <a:t>Ameliorations</a:t>
            </a:r>
          </a:p>
        </p:txBody>
      </p:sp>
      <p:sp>
        <p:nvSpPr>
          <p:cNvPr id="45" name="Rectangle 44"/>
          <p:cNvSpPr/>
          <p:nvPr/>
        </p:nvSpPr>
        <p:spPr>
          <a:xfrm>
            <a:off x="10588752" y="1508760"/>
            <a:ext cx="1325880" cy="274320"/>
          </a:xfrm>
          <a:prstGeom prst="rect">
            <a:avLst/>
          </a:prstGeom>
          <a:solidFill>
            <a:srgbClr val="22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634472" y="1527048"/>
            <a:ext cx="1234440" cy="256032"/>
          </a:xfrm>
          <a:prstGeom prst="rect">
            <a:avLst/>
          </a:prstGeom>
          <a:noFill/>
        </p:spPr>
        <p:txBody>
          <a:bodyPr wrap="square">
            <a:spAutoFit/>
          </a:bodyPr>
          <a:lstStyle/>
          <a:p>
            <a:pPr algn="ctr"/>
            <a:r>
              <a:rPr sz="1000" b="1" i="0">
                <a:solidFill>
                  <a:srgbClr val="FFFFFF"/>
                </a:solidFill>
              </a:rPr>
              <a:t>Continu</a:t>
            </a:r>
          </a:p>
        </p:txBody>
      </p:sp>
      <p:pic>
        <p:nvPicPr>
          <p:cNvPr id="47" name="Picture 46" descr="check.png"/>
          <p:cNvPicPr>
            <a:picLocks noChangeAspect="1"/>
          </p:cNvPicPr>
          <p:nvPr/>
        </p:nvPicPr>
        <p:blipFill>
          <a:blip r:embed="rId4"/>
          <a:stretch>
            <a:fillRect/>
          </a:stretch>
        </p:blipFill>
        <p:spPr>
          <a:xfrm>
            <a:off x="8439912" y="2606040"/>
            <a:ext cx="274320" cy="274320"/>
          </a:xfrm>
          <a:prstGeom prst="rect">
            <a:avLst/>
          </a:prstGeom>
        </p:spPr>
      </p:pic>
      <p:sp>
        <p:nvSpPr>
          <p:cNvPr id="48" name="TextBox 47"/>
          <p:cNvSpPr txBox="1"/>
          <p:nvPr/>
        </p:nvSpPr>
        <p:spPr>
          <a:xfrm>
            <a:off x="8805672" y="2651760"/>
            <a:ext cx="3108960" cy="502920"/>
          </a:xfrm>
          <a:prstGeom prst="rect">
            <a:avLst/>
          </a:prstGeom>
          <a:noFill/>
        </p:spPr>
        <p:txBody>
          <a:bodyPr wrap="square">
            <a:spAutoFit/>
          </a:bodyPr>
          <a:lstStyle/>
          <a:p>
            <a:pPr algn="l"/>
            <a:r>
              <a:rPr sz="1300" b="0" i="0">
                <a:solidFill>
                  <a:srgbClr val="444455"/>
                </a:solidFill>
              </a:rPr>
              <a:t>Notifications email (config prete)</a:t>
            </a:r>
          </a:p>
        </p:txBody>
      </p:sp>
      <p:pic>
        <p:nvPicPr>
          <p:cNvPr id="49" name="Picture 48" descr="check.png"/>
          <p:cNvPicPr>
            <a:picLocks noChangeAspect="1"/>
          </p:cNvPicPr>
          <p:nvPr/>
        </p:nvPicPr>
        <p:blipFill>
          <a:blip r:embed="rId4"/>
          <a:stretch>
            <a:fillRect/>
          </a:stretch>
        </p:blipFill>
        <p:spPr>
          <a:xfrm>
            <a:off x="8439912" y="3246120"/>
            <a:ext cx="274320" cy="274320"/>
          </a:xfrm>
          <a:prstGeom prst="rect">
            <a:avLst/>
          </a:prstGeom>
        </p:spPr>
      </p:pic>
      <p:sp>
        <p:nvSpPr>
          <p:cNvPr id="50" name="TextBox 49"/>
          <p:cNvSpPr txBox="1"/>
          <p:nvPr/>
        </p:nvSpPr>
        <p:spPr>
          <a:xfrm>
            <a:off x="8805672" y="3291839"/>
            <a:ext cx="3108960" cy="502920"/>
          </a:xfrm>
          <a:prstGeom prst="rect">
            <a:avLst/>
          </a:prstGeom>
          <a:noFill/>
        </p:spPr>
        <p:txBody>
          <a:bodyPr wrap="square">
            <a:spAutoFit/>
          </a:bodyPr>
          <a:lstStyle/>
          <a:p>
            <a:pPr algn="l"/>
            <a:r>
              <a:rPr sz="1300" b="0" i="0">
                <a:solidFill>
                  <a:srgbClr val="444455"/>
                </a:solidFill>
              </a:rPr>
              <a:t>Export CSV journaux audit</a:t>
            </a:r>
          </a:p>
        </p:txBody>
      </p:sp>
      <p:pic>
        <p:nvPicPr>
          <p:cNvPr id="51" name="Picture 50" descr="check.png"/>
          <p:cNvPicPr>
            <a:picLocks noChangeAspect="1"/>
          </p:cNvPicPr>
          <p:nvPr/>
        </p:nvPicPr>
        <p:blipFill>
          <a:blip r:embed="rId4"/>
          <a:stretch>
            <a:fillRect/>
          </a:stretch>
        </p:blipFill>
        <p:spPr>
          <a:xfrm>
            <a:off x="8439912" y="3886200"/>
            <a:ext cx="274320" cy="274320"/>
          </a:xfrm>
          <a:prstGeom prst="rect">
            <a:avLst/>
          </a:prstGeom>
        </p:spPr>
      </p:pic>
      <p:sp>
        <p:nvSpPr>
          <p:cNvPr id="52" name="TextBox 51"/>
          <p:cNvSpPr txBox="1"/>
          <p:nvPr/>
        </p:nvSpPr>
        <p:spPr>
          <a:xfrm>
            <a:off x="8805672" y="3931920"/>
            <a:ext cx="3108960" cy="502920"/>
          </a:xfrm>
          <a:prstGeom prst="rect">
            <a:avLst/>
          </a:prstGeom>
          <a:noFill/>
        </p:spPr>
        <p:txBody>
          <a:bodyPr wrap="square">
            <a:spAutoFit/>
          </a:bodyPr>
          <a:lstStyle/>
          <a:p>
            <a:pPr algn="l"/>
            <a:r>
              <a:rPr sz="1300" b="0" i="0">
                <a:solidFill>
                  <a:srgbClr val="444455"/>
                </a:solidFill>
              </a:rPr>
              <a:t>Import CSV etudiants en masse</a:t>
            </a:r>
          </a:p>
        </p:txBody>
      </p:sp>
      <p:pic>
        <p:nvPicPr>
          <p:cNvPr id="53" name="Picture 52" descr="check.png"/>
          <p:cNvPicPr>
            <a:picLocks noChangeAspect="1"/>
          </p:cNvPicPr>
          <p:nvPr/>
        </p:nvPicPr>
        <p:blipFill>
          <a:blip r:embed="rId4"/>
          <a:stretch>
            <a:fillRect/>
          </a:stretch>
        </p:blipFill>
        <p:spPr>
          <a:xfrm>
            <a:off x="8439912" y="4526279"/>
            <a:ext cx="274320" cy="274320"/>
          </a:xfrm>
          <a:prstGeom prst="rect">
            <a:avLst/>
          </a:prstGeom>
        </p:spPr>
      </p:pic>
      <p:sp>
        <p:nvSpPr>
          <p:cNvPr id="54" name="TextBox 53"/>
          <p:cNvSpPr txBox="1"/>
          <p:nvPr/>
        </p:nvSpPr>
        <p:spPr>
          <a:xfrm>
            <a:off x="8805672" y="4572000"/>
            <a:ext cx="3108960" cy="502920"/>
          </a:xfrm>
          <a:prstGeom prst="rect">
            <a:avLst/>
          </a:prstGeom>
          <a:noFill/>
        </p:spPr>
        <p:txBody>
          <a:bodyPr wrap="square">
            <a:spAutoFit/>
          </a:bodyPr>
          <a:lstStyle/>
          <a:p>
            <a:pPr algn="l"/>
            <a:r>
              <a:rPr sz="1300" b="0" i="0">
                <a:solidFill>
                  <a:srgbClr val="444455"/>
                </a:solidFill>
              </a:rPr>
              <a:t>Extension a d'autres universites</a:t>
            </a:r>
          </a:p>
        </p:txBody>
      </p:sp>
      <p:sp>
        <p:nvSpPr>
          <p:cNvPr id="55" name="TextBox 54"/>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22</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058400" cy="502920"/>
          </a:xfrm>
          <a:prstGeom prst="rect">
            <a:avLst/>
          </a:prstGeom>
          <a:noFill/>
        </p:spPr>
        <p:txBody>
          <a:bodyPr wrap="square">
            <a:spAutoFit/>
          </a:bodyPr>
          <a:lstStyle/>
          <a:p>
            <a:pPr algn="l"/>
            <a:r>
              <a:rPr sz="1300" b="1" i="0">
                <a:solidFill>
                  <a:srgbClr val="C9A84C"/>
                </a:solidFill>
              </a:rPr>
              <a:t>En resume</a:t>
            </a:r>
          </a:p>
        </p:txBody>
      </p:sp>
      <p:sp>
        <p:nvSpPr>
          <p:cNvPr id="4" name="TextBox 3"/>
          <p:cNvSpPr txBox="1"/>
          <p:nvPr/>
        </p:nvSpPr>
        <p:spPr>
          <a:xfrm>
            <a:off x="548640" y="1005840"/>
            <a:ext cx="10058400" cy="640080"/>
          </a:xfrm>
          <a:prstGeom prst="rect">
            <a:avLst/>
          </a:prstGeom>
          <a:noFill/>
        </p:spPr>
        <p:txBody>
          <a:bodyPr wrap="square">
            <a:spAutoFit/>
          </a:bodyPr>
          <a:lstStyle/>
          <a:p>
            <a:pPr algn="l"/>
            <a:r>
              <a:rPr sz="3400" b="1" i="0">
                <a:solidFill>
                  <a:srgbClr val="FFFFFF"/>
                </a:solidFill>
              </a:rPr>
              <a:t>INUBIL Verify :</a:t>
            </a:r>
          </a:p>
        </p:txBody>
      </p:sp>
      <p:pic>
        <p:nvPicPr>
          <p:cNvPr id="5" name="Picture 4" descr="lock.png"/>
          <p:cNvPicPr>
            <a:picLocks noChangeAspect="1"/>
          </p:cNvPicPr>
          <p:nvPr/>
        </p:nvPicPr>
        <p:blipFill>
          <a:blip r:embed="rId3"/>
          <a:stretch>
            <a:fillRect/>
          </a:stretch>
        </p:blipFill>
        <p:spPr>
          <a:xfrm>
            <a:off x="548640" y="1947671"/>
            <a:ext cx="566928" cy="566928"/>
          </a:xfrm>
          <a:prstGeom prst="rect">
            <a:avLst/>
          </a:prstGeom>
        </p:spPr>
      </p:pic>
      <p:sp>
        <p:nvSpPr>
          <p:cNvPr id="6" name="Rectangle 5"/>
          <p:cNvSpPr/>
          <p:nvPr/>
        </p:nvSpPr>
        <p:spPr>
          <a:xfrm>
            <a:off x="1280160" y="1984247"/>
            <a:ext cx="36576" cy="5303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44752" y="1947671"/>
            <a:ext cx="3200400" cy="347472"/>
          </a:xfrm>
          <a:prstGeom prst="rect">
            <a:avLst/>
          </a:prstGeom>
          <a:noFill/>
        </p:spPr>
        <p:txBody>
          <a:bodyPr wrap="square">
            <a:spAutoFit/>
          </a:bodyPr>
          <a:lstStyle/>
          <a:p>
            <a:pPr algn="l"/>
            <a:r>
              <a:rPr sz="1500" b="1" i="0">
                <a:solidFill>
                  <a:srgbClr val="C9A84C"/>
                </a:solidFill>
              </a:rPr>
              <a:t>Une API REST robuste</a:t>
            </a:r>
          </a:p>
        </p:txBody>
      </p:sp>
      <p:sp>
        <p:nvSpPr>
          <p:cNvPr id="8" name="TextBox 7"/>
          <p:cNvSpPr txBox="1"/>
          <p:nvPr/>
        </p:nvSpPr>
        <p:spPr>
          <a:xfrm>
            <a:off x="1444752" y="2276855"/>
            <a:ext cx="10149840" cy="347472"/>
          </a:xfrm>
          <a:prstGeom prst="rect">
            <a:avLst/>
          </a:prstGeom>
          <a:noFill/>
        </p:spPr>
        <p:txBody>
          <a:bodyPr wrap="square">
            <a:spAutoFit/>
          </a:bodyPr>
          <a:lstStyle/>
          <a:p>
            <a:pPr algn="l"/>
            <a:r>
              <a:rPr sz="1300" b="0" i="0">
                <a:solidFill>
                  <a:srgbClr val="F4F4F8"/>
                </a:solidFill>
              </a:rPr>
              <a:t>12 modules, 50+ endpoints, securisee par JWT + RBAC + isolation multi-tenant</a:t>
            </a:r>
          </a:p>
        </p:txBody>
      </p:sp>
      <p:pic>
        <p:nvPicPr>
          <p:cNvPr id="9" name="Picture 8" descr="link.png"/>
          <p:cNvPicPr>
            <a:picLocks noChangeAspect="1"/>
          </p:cNvPicPr>
          <p:nvPr/>
        </p:nvPicPr>
        <p:blipFill>
          <a:blip r:embed="rId4"/>
          <a:stretch>
            <a:fillRect/>
          </a:stretch>
        </p:blipFill>
        <p:spPr>
          <a:xfrm>
            <a:off x="548640" y="2843784"/>
            <a:ext cx="566928" cy="566928"/>
          </a:xfrm>
          <a:prstGeom prst="rect">
            <a:avLst/>
          </a:prstGeom>
        </p:spPr>
      </p:pic>
      <p:sp>
        <p:nvSpPr>
          <p:cNvPr id="10" name="Rectangle 9"/>
          <p:cNvSpPr/>
          <p:nvPr/>
        </p:nvSpPr>
        <p:spPr>
          <a:xfrm>
            <a:off x="1280160" y="2880360"/>
            <a:ext cx="36576" cy="5303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44752" y="2843784"/>
            <a:ext cx="3200400" cy="347472"/>
          </a:xfrm>
          <a:prstGeom prst="rect">
            <a:avLst/>
          </a:prstGeom>
          <a:noFill/>
        </p:spPr>
        <p:txBody>
          <a:bodyPr wrap="square">
            <a:spAutoFit/>
          </a:bodyPr>
          <a:lstStyle/>
          <a:p>
            <a:pPr algn="l"/>
            <a:r>
              <a:rPr sz="1500" b="1" i="0">
                <a:solidFill>
                  <a:srgbClr val="C9A84C"/>
                </a:solidFill>
              </a:rPr>
              <a:t>Un ancrage blockchain reel</a:t>
            </a:r>
          </a:p>
        </p:txBody>
      </p:sp>
      <p:sp>
        <p:nvSpPr>
          <p:cNvPr id="12" name="TextBox 11"/>
          <p:cNvSpPr txBox="1"/>
          <p:nvPr/>
        </p:nvSpPr>
        <p:spPr>
          <a:xfrm>
            <a:off x="1444752" y="3172968"/>
            <a:ext cx="10149840" cy="347472"/>
          </a:xfrm>
          <a:prstGeom prst="rect">
            <a:avLst/>
          </a:prstGeom>
          <a:noFill/>
        </p:spPr>
        <p:txBody>
          <a:bodyPr wrap="square">
            <a:spAutoFit/>
          </a:bodyPr>
          <a:lstStyle/>
          <a:p>
            <a:pPr algn="l"/>
            <a:r>
              <a:rPr sz="1300" b="0" i="0">
                <a:solidFill>
                  <a:srgbClr val="F4F4F8"/>
                </a:solidFill>
              </a:rPr>
              <a:t>Contrat deploye sur Polygon Amoy, verifiable publiquement sur PolygonScan</a:t>
            </a:r>
          </a:p>
        </p:txBody>
      </p:sp>
      <p:pic>
        <p:nvPicPr>
          <p:cNvPr id="13" name="Picture 12" descr="cloud.png"/>
          <p:cNvPicPr>
            <a:picLocks noChangeAspect="1"/>
          </p:cNvPicPr>
          <p:nvPr/>
        </p:nvPicPr>
        <p:blipFill>
          <a:blip r:embed="rId5"/>
          <a:stretch>
            <a:fillRect/>
          </a:stretch>
        </p:blipFill>
        <p:spPr>
          <a:xfrm>
            <a:off x="548640" y="3739896"/>
            <a:ext cx="566928" cy="566928"/>
          </a:xfrm>
          <a:prstGeom prst="rect">
            <a:avLst/>
          </a:prstGeom>
        </p:spPr>
      </p:pic>
      <p:sp>
        <p:nvSpPr>
          <p:cNvPr id="14" name="Rectangle 13"/>
          <p:cNvSpPr/>
          <p:nvPr/>
        </p:nvSpPr>
        <p:spPr>
          <a:xfrm>
            <a:off x="1280160" y="3776472"/>
            <a:ext cx="36576" cy="5303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44752" y="3739896"/>
            <a:ext cx="3200400" cy="347472"/>
          </a:xfrm>
          <a:prstGeom prst="rect">
            <a:avLst/>
          </a:prstGeom>
          <a:noFill/>
        </p:spPr>
        <p:txBody>
          <a:bodyPr wrap="square">
            <a:spAutoFit/>
          </a:bodyPr>
          <a:lstStyle/>
          <a:p>
            <a:pPr algn="l"/>
            <a:r>
              <a:rPr sz="1500" b="1" i="0">
                <a:solidFill>
                  <a:srgbClr val="C9A84C"/>
                </a:solidFill>
              </a:rPr>
              <a:t>Un stockage securise</a:t>
            </a:r>
          </a:p>
        </p:txBody>
      </p:sp>
      <p:sp>
        <p:nvSpPr>
          <p:cNvPr id="16" name="TextBox 15"/>
          <p:cNvSpPr txBox="1"/>
          <p:nvPr/>
        </p:nvSpPr>
        <p:spPr>
          <a:xfrm>
            <a:off x="1444752" y="4069080"/>
            <a:ext cx="10149840" cy="347472"/>
          </a:xfrm>
          <a:prstGeom prst="rect">
            <a:avLst/>
          </a:prstGeom>
          <a:noFill/>
        </p:spPr>
        <p:txBody>
          <a:bodyPr wrap="square">
            <a:spAutoFit/>
          </a:bodyPr>
          <a:lstStyle/>
          <a:p>
            <a:pPr algn="l"/>
            <a:r>
              <a:rPr sz="1300" b="0" i="0">
                <a:solidFill>
                  <a:srgbClr val="F4F4F8"/>
                </a:solidFill>
              </a:rPr>
              <a:t>PDFs prives sur Cloudflare R2, accessibles uniquement via presigned URLs 15 min</a:t>
            </a:r>
          </a:p>
        </p:txBody>
      </p:sp>
      <p:pic>
        <p:nvPicPr>
          <p:cNvPr id="17" name="Picture 16" descr="check-circle.png"/>
          <p:cNvPicPr>
            <a:picLocks noChangeAspect="1"/>
          </p:cNvPicPr>
          <p:nvPr/>
        </p:nvPicPr>
        <p:blipFill>
          <a:blip r:embed="rId6"/>
          <a:stretch>
            <a:fillRect/>
          </a:stretch>
        </p:blipFill>
        <p:spPr>
          <a:xfrm>
            <a:off x="548640" y="4636008"/>
            <a:ext cx="566928" cy="566928"/>
          </a:xfrm>
          <a:prstGeom prst="rect">
            <a:avLst/>
          </a:prstGeom>
        </p:spPr>
      </p:pic>
      <p:sp>
        <p:nvSpPr>
          <p:cNvPr id="18" name="Rectangle 17"/>
          <p:cNvSpPr/>
          <p:nvPr/>
        </p:nvSpPr>
        <p:spPr>
          <a:xfrm>
            <a:off x="1280160" y="4672584"/>
            <a:ext cx="36576" cy="5303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44752" y="4636008"/>
            <a:ext cx="3200400" cy="347472"/>
          </a:xfrm>
          <a:prstGeom prst="rect">
            <a:avLst/>
          </a:prstGeom>
          <a:noFill/>
        </p:spPr>
        <p:txBody>
          <a:bodyPr wrap="square">
            <a:spAutoFit/>
          </a:bodyPr>
          <a:lstStyle/>
          <a:p>
            <a:pPr algn="l"/>
            <a:r>
              <a:rPr sz="1500" b="1" i="0">
                <a:solidFill>
                  <a:srgbClr val="C9A84C"/>
                </a:solidFill>
              </a:rPr>
              <a:t>3 modes de verification</a:t>
            </a:r>
          </a:p>
        </p:txBody>
      </p:sp>
      <p:sp>
        <p:nvSpPr>
          <p:cNvPr id="20" name="TextBox 19"/>
          <p:cNvSpPr txBox="1"/>
          <p:nvPr/>
        </p:nvSpPr>
        <p:spPr>
          <a:xfrm>
            <a:off x="1444752" y="4965192"/>
            <a:ext cx="10149840" cy="347472"/>
          </a:xfrm>
          <a:prstGeom prst="rect">
            <a:avLst/>
          </a:prstGeom>
          <a:noFill/>
        </p:spPr>
        <p:txBody>
          <a:bodyPr wrap="square">
            <a:spAutoFit/>
          </a:bodyPr>
          <a:lstStyle/>
          <a:p>
            <a:pPr algn="l"/>
            <a:r>
              <a:rPr sz="1300" b="0" i="0">
                <a:solidFill>
                  <a:srgbClr val="F4F4F8"/>
                </a:solidFill>
              </a:rPr>
              <a:t>QR code  -  Hash SHA-256  -  Upload PDF — sans compte, sans friction</a:t>
            </a:r>
          </a:p>
        </p:txBody>
      </p:sp>
      <p:pic>
        <p:nvPicPr>
          <p:cNvPr id="21" name="Picture 20" descr="server.png"/>
          <p:cNvPicPr>
            <a:picLocks noChangeAspect="1"/>
          </p:cNvPicPr>
          <p:nvPr/>
        </p:nvPicPr>
        <p:blipFill>
          <a:blip r:embed="rId7"/>
          <a:stretch>
            <a:fillRect/>
          </a:stretch>
        </p:blipFill>
        <p:spPr>
          <a:xfrm>
            <a:off x="548640" y="5532120"/>
            <a:ext cx="566928" cy="566928"/>
          </a:xfrm>
          <a:prstGeom prst="rect">
            <a:avLst/>
          </a:prstGeom>
        </p:spPr>
      </p:pic>
      <p:sp>
        <p:nvSpPr>
          <p:cNvPr id="22" name="Rectangle 21"/>
          <p:cNvSpPr/>
          <p:nvPr/>
        </p:nvSpPr>
        <p:spPr>
          <a:xfrm>
            <a:off x="1280160" y="5568696"/>
            <a:ext cx="36576" cy="5303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44752" y="5532120"/>
            <a:ext cx="3200400" cy="347472"/>
          </a:xfrm>
          <a:prstGeom prst="rect">
            <a:avLst/>
          </a:prstGeom>
          <a:noFill/>
        </p:spPr>
        <p:txBody>
          <a:bodyPr wrap="square">
            <a:spAutoFit/>
          </a:bodyPr>
          <a:lstStyle/>
          <a:p>
            <a:pPr algn="l"/>
            <a:r>
              <a:rPr sz="1500" b="1" i="0">
                <a:solidFill>
                  <a:srgbClr val="C9A84C"/>
                </a:solidFill>
              </a:rPr>
              <a:t>Pret pour la production</a:t>
            </a:r>
          </a:p>
        </p:txBody>
      </p:sp>
      <p:sp>
        <p:nvSpPr>
          <p:cNvPr id="24" name="TextBox 23"/>
          <p:cNvSpPr txBox="1"/>
          <p:nvPr/>
        </p:nvSpPr>
        <p:spPr>
          <a:xfrm>
            <a:off x="1444752" y="5861304"/>
            <a:ext cx="10149840" cy="347472"/>
          </a:xfrm>
          <a:prstGeom prst="rect">
            <a:avLst/>
          </a:prstGeom>
          <a:noFill/>
        </p:spPr>
        <p:txBody>
          <a:bodyPr wrap="square">
            <a:spAutoFit/>
          </a:bodyPr>
          <a:lstStyle/>
          <a:p>
            <a:pPr algn="l"/>
            <a:r>
              <a:rPr sz="1300" b="0" i="0">
                <a:solidFill>
                  <a:srgbClr val="F4F4F8"/>
                </a:solidFill>
              </a:rPr>
              <a:t>Docker, variables d'env, migrations Prisma, tests Jest — il reste le frontend</a:t>
            </a:r>
          </a:p>
        </p:txBody>
      </p:sp>
      <p:sp>
        <p:nvSpPr>
          <p:cNvPr id="25" name="Rectangle 24"/>
          <p:cNvSpPr/>
          <p:nvPr/>
        </p:nvSpPr>
        <p:spPr>
          <a:xfrm>
            <a:off x="548640" y="6473952"/>
            <a:ext cx="11155680" cy="3200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6510528"/>
            <a:ext cx="10972800" cy="276999"/>
          </a:xfrm>
          <a:prstGeom prst="rect">
            <a:avLst/>
          </a:prstGeom>
          <a:noFill/>
        </p:spPr>
        <p:txBody>
          <a:bodyPr wrap="square">
            <a:spAutoFit/>
          </a:bodyPr>
          <a:lstStyle/>
          <a:p>
            <a:pPr algn="ctr"/>
            <a:r>
              <a:rPr sz="1200" b="0" i="1" dirty="0">
                <a:solidFill>
                  <a:srgbClr val="C9A84C"/>
                </a:solidFill>
              </a:rPr>
              <a:t>"La blockchain ne </a:t>
            </a:r>
            <a:r>
              <a:rPr sz="1200" b="0" i="1" dirty="0" err="1">
                <a:solidFill>
                  <a:srgbClr val="C9A84C"/>
                </a:solidFill>
              </a:rPr>
              <a:t>remplace</a:t>
            </a:r>
            <a:r>
              <a:rPr sz="1200" b="0" i="1" dirty="0">
                <a:solidFill>
                  <a:srgbClr val="C9A84C"/>
                </a:solidFill>
              </a:rPr>
              <a:t> pas la </a:t>
            </a:r>
            <a:r>
              <a:rPr sz="1200" b="0" i="1" dirty="0" err="1">
                <a:solidFill>
                  <a:srgbClr val="C9A84C"/>
                </a:solidFill>
              </a:rPr>
              <a:t>confiance</a:t>
            </a:r>
            <a:r>
              <a:rPr sz="1200" b="0" i="1" dirty="0">
                <a:solidFill>
                  <a:srgbClr val="C9A84C"/>
                </a:solidFill>
              </a:rPr>
              <a:t> </a:t>
            </a:r>
            <a:r>
              <a:rPr lang="fr-FR" sz="1200" b="0" i="1" dirty="0">
                <a:solidFill>
                  <a:srgbClr val="C9A84C"/>
                </a:solidFill>
              </a:rPr>
              <a:t>-</a:t>
            </a:r>
            <a:r>
              <a:rPr sz="1200" b="0" i="1" dirty="0">
                <a:solidFill>
                  <a:srgbClr val="C9A84C"/>
                </a:solidFill>
              </a:rPr>
              <a:t> </a:t>
            </a:r>
            <a:r>
              <a:rPr sz="1200" b="0" i="1" dirty="0" err="1">
                <a:solidFill>
                  <a:srgbClr val="C9A84C"/>
                </a:solidFill>
              </a:rPr>
              <a:t>elle</a:t>
            </a:r>
            <a:r>
              <a:rPr sz="1200" b="0" i="1" dirty="0">
                <a:solidFill>
                  <a:srgbClr val="C9A84C"/>
                </a:solidFill>
              </a:rPr>
              <a:t> la rend inutile."</a:t>
            </a:r>
          </a:p>
        </p:txBody>
      </p:sp>
      <p:sp>
        <p:nvSpPr>
          <p:cNvPr id="27" name="TextBox 26"/>
          <p:cNvSpPr txBox="1"/>
          <p:nvPr/>
        </p:nvSpPr>
        <p:spPr>
          <a:xfrm>
            <a:off x="11000232" y="6492240"/>
            <a:ext cx="1005840" cy="230832"/>
          </a:xfrm>
          <a:prstGeom prst="rect">
            <a:avLst/>
          </a:prstGeom>
          <a:noFill/>
        </p:spPr>
        <p:txBody>
          <a:bodyPr wrap="square">
            <a:spAutoFit/>
          </a:bodyPr>
          <a:lstStyle/>
          <a:p>
            <a:pPr algn="r"/>
            <a:r>
              <a:rPr lang="fr-FR" sz="900" dirty="0">
                <a:solidFill>
                  <a:srgbClr val="C9A84C"/>
                </a:solidFill>
              </a:rPr>
              <a:t>23</a:t>
            </a:r>
            <a:r>
              <a:rPr sz="900" b="0" i="0" dirty="0">
                <a:solidFill>
                  <a:srgbClr val="C9A84C"/>
                </a:solidFill>
              </a:rPr>
              <a:t> / 2</a:t>
            </a:r>
            <a:r>
              <a:rPr lang="fr-FR" sz="900" b="0" i="0" dirty="0">
                <a:solidFill>
                  <a:srgbClr val="C9A84C"/>
                </a:solidFill>
              </a:rPr>
              <a:t>4</a:t>
            </a:r>
            <a:endParaRPr sz="900" b="0" i="0" dirty="0">
              <a:solidFill>
                <a:srgbClr val="C9A84C"/>
              </a:solidFill>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01168" y="2944368"/>
            <a:ext cx="11987784"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nubil-logo.png"/>
          <p:cNvPicPr>
            <a:picLocks noChangeAspect="1"/>
          </p:cNvPicPr>
          <p:nvPr/>
        </p:nvPicPr>
        <p:blipFill>
          <a:blip r:embed="rId3"/>
          <a:stretch>
            <a:fillRect/>
          </a:stretch>
        </p:blipFill>
        <p:spPr>
          <a:xfrm>
            <a:off x="548640" y="320040"/>
            <a:ext cx="2436587" cy="1280160"/>
          </a:xfrm>
          <a:prstGeom prst="rect">
            <a:avLst/>
          </a:prstGeom>
        </p:spPr>
      </p:pic>
      <p:sp>
        <p:nvSpPr>
          <p:cNvPr id="5" name="Rectangle 4"/>
          <p:cNvSpPr/>
          <p:nvPr/>
        </p:nvSpPr>
        <p:spPr>
          <a:xfrm>
            <a:off x="2331720" y="384048"/>
            <a:ext cx="36576" cy="10058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63040"/>
            <a:ext cx="10515600" cy="1005840"/>
          </a:xfrm>
          <a:prstGeom prst="rect">
            <a:avLst/>
          </a:prstGeom>
          <a:noFill/>
        </p:spPr>
        <p:txBody>
          <a:bodyPr wrap="square">
            <a:spAutoFit/>
          </a:bodyPr>
          <a:lstStyle/>
          <a:p>
            <a:pPr algn="l"/>
            <a:r>
              <a:rPr sz="4000" b="1" i="0">
                <a:solidFill>
                  <a:srgbClr val="FFFFFF"/>
                </a:solidFill>
              </a:rPr>
              <a:t>Merci de votre attention.</a:t>
            </a:r>
          </a:p>
        </p:txBody>
      </p:sp>
      <p:sp>
        <p:nvSpPr>
          <p:cNvPr id="8" name="TextBox 7"/>
          <p:cNvSpPr txBox="1"/>
          <p:nvPr/>
        </p:nvSpPr>
        <p:spPr>
          <a:xfrm>
            <a:off x="548640" y="3246120"/>
            <a:ext cx="10515600" cy="777240"/>
          </a:xfrm>
          <a:prstGeom prst="rect">
            <a:avLst/>
          </a:prstGeom>
          <a:noFill/>
        </p:spPr>
        <p:txBody>
          <a:bodyPr wrap="square">
            <a:spAutoFit/>
          </a:bodyPr>
          <a:lstStyle/>
          <a:p>
            <a:pPr algn="l"/>
            <a:r>
              <a:rPr sz="3000" b="1" i="0">
                <a:solidFill>
                  <a:srgbClr val="C9A84C"/>
                </a:solidFill>
              </a:rPr>
              <a:t>Questions &amp; Discussion</a:t>
            </a:r>
          </a:p>
        </p:txBody>
      </p:sp>
      <p:pic>
        <p:nvPicPr>
          <p:cNvPr id="9" name="Picture 8" descr="server.png"/>
          <p:cNvPicPr>
            <a:picLocks noChangeAspect="1"/>
          </p:cNvPicPr>
          <p:nvPr/>
        </p:nvPicPr>
        <p:blipFill>
          <a:blip r:embed="rId4"/>
          <a:stretch>
            <a:fillRect/>
          </a:stretch>
        </p:blipFill>
        <p:spPr>
          <a:xfrm>
            <a:off x="548640" y="4315968"/>
            <a:ext cx="347472" cy="347472"/>
          </a:xfrm>
          <a:prstGeom prst="rect">
            <a:avLst/>
          </a:prstGeom>
        </p:spPr>
      </p:pic>
      <p:sp>
        <p:nvSpPr>
          <p:cNvPr id="10" name="TextBox 9"/>
          <p:cNvSpPr txBox="1"/>
          <p:nvPr/>
        </p:nvSpPr>
        <p:spPr>
          <a:xfrm>
            <a:off x="1005840" y="4343400"/>
            <a:ext cx="1097280" cy="347472"/>
          </a:xfrm>
          <a:prstGeom prst="rect">
            <a:avLst/>
          </a:prstGeom>
          <a:noFill/>
        </p:spPr>
        <p:txBody>
          <a:bodyPr wrap="square">
            <a:spAutoFit/>
          </a:bodyPr>
          <a:lstStyle/>
          <a:p>
            <a:pPr algn="l"/>
            <a:r>
              <a:rPr sz="1300" b="1" i="0">
                <a:solidFill>
                  <a:srgbClr val="C9A84C"/>
                </a:solidFill>
              </a:rPr>
              <a:t>API :</a:t>
            </a:r>
          </a:p>
        </p:txBody>
      </p:sp>
      <p:sp>
        <p:nvSpPr>
          <p:cNvPr id="11" name="TextBox 10"/>
          <p:cNvSpPr txBox="1"/>
          <p:nvPr/>
        </p:nvSpPr>
        <p:spPr>
          <a:xfrm>
            <a:off x="2148840" y="4343400"/>
            <a:ext cx="9144000" cy="347472"/>
          </a:xfrm>
          <a:prstGeom prst="rect">
            <a:avLst/>
          </a:prstGeom>
          <a:noFill/>
        </p:spPr>
        <p:txBody>
          <a:bodyPr wrap="square">
            <a:spAutoFit/>
          </a:bodyPr>
          <a:lstStyle/>
          <a:p>
            <a:pPr algn="l"/>
            <a:r>
              <a:rPr sz="1300" b="0" i="0">
                <a:solidFill>
                  <a:srgbClr val="F4F4F8"/>
                </a:solidFill>
              </a:rPr>
              <a:t>http://localhost:3000/api/docs</a:t>
            </a:r>
          </a:p>
        </p:txBody>
      </p:sp>
      <p:pic>
        <p:nvPicPr>
          <p:cNvPr id="12" name="Picture 11" descr="link.png"/>
          <p:cNvPicPr>
            <a:picLocks noChangeAspect="1"/>
          </p:cNvPicPr>
          <p:nvPr/>
        </p:nvPicPr>
        <p:blipFill>
          <a:blip r:embed="rId5"/>
          <a:stretch>
            <a:fillRect/>
          </a:stretch>
        </p:blipFill>
        <p:spPr>
          <a:xfrm>
            <a:off x="548640" y="4791456"/>
            <a:ext cx="347472" cy="347472"/>
          </a:xfrm>
          <a:prstGeom prst="rect">
            <a:avLst/>
          </a:prstGeom>
        </p:spPr>
      </p:pic>
      <p:sp>
        <p:nvSpPr>
          <p:cNvPr id="13" name="TextBox 12"/>
          <p:cNvSpPr txBox="1"/>
          <p:nvPr/>
        </p:nvSpPr>
        <p:spPr>
          <a:xfrm>
            <a:off x="1005840" y="4818888"/>
            <a:ext cx="1097280" cy="347472"/>
          </a:xfrm>
          <a:prstGeom prst="rect">
            <a:avLst/>
          </a:prstGeom>
          <a:noFill/>
        </p:spPr>
        <p:txBody>
          <a:bodyPr wrap="square">
            <a:spAutoFit/>
          </a:bodyPr>
          <a:lstStyle/>
          <a:p>
            <a:pPr algn="l"/>
            <a:r>
              <a:rPr sz="1300" b="1" i="0">
                <a:solidFill>
                  <a:srgbClr val="C9A84C"/>
                </a:solidFill>
              </a:rPr>
              <a:t>Contrat :</a:t>
            </a:r>
          </a:p>
        </p:txBody>
      </p:sp>
      <p:sp>
        <p:nvSpPr>
          <p:cNvPr id="14" name="TextBox 13"/>
          <p:cNvSpPr txBox="1"/>
          <p:nvPr/>
        </p:nvSpPr>
        <p:spPr>
          <a:xfrm>
            <a:off x="2148840" y="4818888"/>
            <a:ext cx="9144000" cy="347472"/>
          </a:xfrm>
          <a:prstGeom prst="rect">
            <a:avLst/>
          </a:prstGeom>
          <a:noFill/>
        </p:spPr>
        <p:txBody>
          <a:bodyPr wrap="square">
            <a:spAutoFit/>
          </a:bodyPr>
          <a:lstStyle/>
          <a:p>
            <a:pPr algn="l"/>
            <a:r>
              <a:rPr sz="1300" b="0" i="0">
                <a:solidFill>
                  <a:srgbClr val="F4F4F8"/>
                </a:solidFill>
              </a:rPr>
              <a:t>amoy.polygonscan.com  -  0x75a23a...1315E</a:t>
            </a:r>
          </a:p>
        </p:txBody>
      </p:sp>
      <p:pic>
        <p:nvPicPr>
          <p:cNvPr id="15" name="Picture 14" descr="code.png"/>
          <p:cNvPicPr>
            <a:picLocks noChangeAspect="1"/>
          </p:cNvPicPr>
          <p:nvPr/>
        </p:nvPicPr>
        <p:blipFill>
          <a:blip r:embed="rId6"/>
          <a:stretch>
            <a:fillRect/>
          </a:stretch>
        </p:blipFill>
        <p:spPr>
          <a:xfrm>
            <a:off x="548640" y="5266944"/>
            <a:ext cx="347472" cy="347472"/>
          </a:xfrm>
          <a:prstGeom prst="rect">
            <a:avLst/>
          </a:prstGeom>
        </p:spPr>
      </p:pic>
      <p:sp>
        <p:nvSpPr>
          <p:cNvPr id="16" name="TextBox 15"/>
          <p:cNvSpPr txBox="1"/>
          <p:nvPr/>
        </p:nvSpPr>
        <p:spPr>
          <a:xfrm>
            <a:off x="1005840" y="5294376"/>
            <a:ext cx="1097280" cy="347472"/>
          </a:xfrm>
          <a:prstGeom prst="rect">
            <a:avLst/>
          </a:prstGeom>
          <a:noFill/>
        </p:spPr>
        <p:txBody>
          <a:bodyPr wrap="square">
            <a:spAutoFit/>
          </a:bodyPr>
          <a:lstStyle/>
          <a:p>
            <a:pPr algn="l"/>
            <a:r>
              <a:rPr sz="1300" b="1" i="0">
                <a:solidFill>
                  <a:srgbClr val="C9A84C"/>
                </a:solidFill>
              </a:rPr>
              <a:t>Depot :</a:t>
            </a:r>
          </a:p>
        </p:txBody>
      </p:sp>
      <p:sp>
        <p:nvSpPr>
          <p:cNvPr id="17" name="TextBox 16"/>
          <p:cNvSpPr txBox="1"/>
          <p:nvPr/>
        </p:nvSpPr>
        <p:spPr>
          <a:xfrm>
            <a:off x="2148840" y="5294376"/>
            <a:ext cx="9144000" cy="347472"/>
          </a:xfrm>
          <a:prstGeom prst="rect">
            <a:avLst/>
          </a:prstGeom>
          <a:noFill/>
        </p:spPr>
        <p:txBody>
          <a:bodyPr wrap="square">
            <a:spAutoFit/>
          </a:bodyPr>
          <a:lstStyle/>
          <a:p>
            <a:pPr algn="l"/>
            <a:r>
              <a:rPr sz="1300" b="0" i="0">
                <a:solidFill>
                  <a:srgbClr val="F4F4F8"/>
                </a:solidFill>
              </a:rPr>
              <a:t>github.com/BelCodeur2005/INUBIL-VERIFY</a:t>
            </a:r>
          </a:p>
        </p:txBody>
      </p:sp>
      <p:sp>
        <p:nvSpPr>
          <p:cNvPr id="18" name="Rectangle 17"/>
          <p:cNvSpPr/>
          <p:nvPr/>
        </p:nvSpPr>
        <p:spPr>
          <a:xfrm>
            <a:off x="548640" y="5650992"/>
            <a:ext cx="111556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5742432"/>
            <a:ext cx="5394960" cy="320040"/>
          </a:xfrm>
          <a:prstGeom prst="rect">
            <a:avLst/>
          </a:prstGeom>
          <a:noFill/>
        </p:spPr>
        <p:txBody>
          <a:bodyPr wrap="square">
            <a:spAutoFit/>
          </a:bodyPr>
          <a:lstStyle/>
          <a:p>
            <a:pPr algn="l"/>
            <a:r>
              <a:rPr sz="1100" b="1" i="0">
                <a:solidFill>
                  <a:srgbClr val="FFFFFF"/>
                </a:solidFill>
              </a:rPr>
              <a:t>TCHENTCHEU JIAGAM FLANC BEL  -  Dev Backend</a:t>
            </a:r>
          </a:p>
        </p:txBody>
      </p:sp>
      <p:sp>
        <p:nvSpPr>
          <p:cNvPr id="20" name="TextBox 19"/>
          <p:cNvSpPr txBox="1"/>
          <p:nvPr/>
        </p:nvSpPr>
        <p:spPr>
          <a:xfrm>
            <a:off x="6126480" y="5742432"/>
            <a:ext cx="5669280" cy="320040"/>
          </a:xfrm>
          <a:prstGeom prst="rect">
            <a:avLst/>
          </a:prstGeom>
          <a:noFill/>
        </p:spPr>
        <p:txBody>
          <a:bodyPr wrap="square">
            <a:spAutoFit/>
          </a:bodyPr>
          <a:lstStyle/>
          <a:p>
            <a:pPr algn="l"/>
            <a:r>
              <a:rPr sz="1100" b="1" i="0">
                <a:solidFill>
                  <a:srgbClr val="FFFFFF"/>
                </a:solidFill>
              </a:rPr>
              <a:t>NGANGUE TSAFACK BELVIE SCINDIE  -  Dev Frontend &amp; Maquettes</a:t>
            </a:r>
          </a:p>
        </p:txBody>
      </p:sp>
      <p:sp>
        <p:nvSpPr>
          <p:cNvPr id="23" name="TextBox 22"/>
          <p:cNvSpPr txBox="1"/>
          <p:nvPr/>
        </p:nvSpPr>
        <p:spPr>
          <a:xfrm>
            <a:off x="4114800" y="6263640"/>
            <a:ext cx="8046720" cy="261610"/>
          </a:xfrm>
          <a:prstGeom prst="rect">
            <a:avLst/>
          </a:prstGeom>
          <a:noFill/>
        </p:spPr>
        <p:txBody>
          <a:bodyPr wrap="square">
            <a:spAutoFit/>
          </a:bodyPr>
          <a:lstStyle/>
          <a:p>
            <a:pPr algn="r"/>
            <a:r>
              <a:rPr sz="1100" b="0" i="0" dirty="0">
                <a:solidFill>
                  <a:srgbClr val="444455"/>
                </a:solidFill>
              </a:rPr>
              <a:t>Douala, Cameroun  -  2026</a:t>
            </a:r>
          </a:p>
        </p:txBody>
      </p:sp>
      <p:pic>
        <p:nvPicPr>
          <p:cNvPr id="24" name="Image 23">
            <a:extLst>
              <a:ext uri="{FF2B5EF4-FFF2-40B4-BE49-F238E27FC236}">
                <a16:creationId xmlns:a16="http://schemas.microsoft.com/office/drawing/2014/main" id="{7760C25A-46D0-EE5D-94DA-135553EAD979}"/>
              </a:ext>
            </a:extLst>
          </p:cNvPr>
          <p:cNvPicPr>
            <a:picLocks noChangeAspect="1"/>
          </p:cNvPicPr>
          <p:nvPr/>
        </p:nvPicPr>
        <p:blipFill>
          <a:blip r:embed="rId7"/>
          <a:stretch>
            <a:fillRect/>
          </a:stretch>
        </p:blipFill>
        <p:spPr>
          <a:xfrm>
            <a:off x="9150581" y="0"/>
            <a:ext cx="3115266" cy="2101659"/>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588</TotalTime>
  <Words>4460</Words>
  <Application>Microsoft Office PowerPoint</Application>
  <PresentationFormat>Personnalisé</PresentationFormat>
  <Paragraphs>436</Paragraphs>
  <Slides>24</Slides>
  <Notes>24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24</vt:i4>
      </vt:variant>
    </vt:vector>
  </HeadingPairs>
  <TitlesOfParts>
    <vt:vector size="28"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FLANC BEL</cp:lastModifiedBy>
  <cp:revision>15</cp:revision>
  <dcterms:created xsi:type="dcterms:W3CDTF">2013-01-27T09:14:16Z</dcterms:created>
  <dcterms:modified xsi:type="dcterms:W3CDTF">2026-06-26T13:07:27Z</dcterms:modified>
  <cp:category/>
</cp:coreProperties>
</file>